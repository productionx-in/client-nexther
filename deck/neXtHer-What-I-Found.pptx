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B2E"/>
        </a:solidFill>
      </p:bgPr>
    </p:bg>
    <p:spTree>
      <p:nvGrpSpPr>
        <p:cNvPr id="1" name=""/>
        <p:cNvGrpSpPr/>
        <p:nvPr/>
      </p:nvGrpSpPr>
      <p:grpSpPr>
        <a:xfrm>
          <a:off x="0" y="0"/>
          <a:ext cx="0" cy="0"/>
          <a:chOff x="0" y="0"/>
          <a:chExt cx="0" cy="0"/>
        </a:xfrm>
      </p:grpSpPr>
      <p:sp>
        <p:nvSpPr>
          <p:cNvPr id="2" name="Shape 0"/>
          <p:cNvSpPr/>
          <p:nvPr/>
        </p:nvSpPr>
        <p:spPr>
          <a:xfrm>
            <a:off x="8778240" y="-1645920"/>
            <a:ext cx="5486400" cy="5486400"/>
          </a:xfrm>
          <a:prstGeom prst="ellipse">
            <a:avLst/>
          </a:prstGeom>
          <a:solidFill>
            <a:srgbClr val="6D2E46"/>
          </a:solidFill>
          <a:ln/>
        </p:spPr>
      </p:sp>
      <p:sp>
        <p:nvSpPr>
          <p:cNvPr id="3" name="Shape 1"/>
          <p:cNvSpPr/>
          <p:nvPr/>
        </p:nvSpPr>
        <p:spPr>
          <a:xfrm>
            <a:off x="10607040" y="4297680"/>
            <a:ext cx="2926080" cy="2926080"/>
          </a:xfrm>
          <a:prstGeom prst="ellipse">
            <a:avLst/>
          </a:prstGeom>
          <a:solidFill>
            <a:srgbClr val="A26769"/>
          </a:solidFill>
          <a:ln/>
        </p:spPr>
      </p:sp>
      <p:pic>
        <p:nvPicPr>
          <p:cNvPr id="4" name="Image 0" descr="/home/user/Assets/clients/juhi-agarwal-nexther/logo/logo-on-dark.png">    </p:cNvPr>
          <p:cNvPicPr>
            <a:picLocks noChangeAspect="1"/>
          </p:cNvPicPr>
          <p:nvPr/>
        </p:nvPicPr>
        <p:blipFill>
          <a:blip r:embed="rId1"/>
          <a:stretch>
            <a:fillRect/>
          </a:stretch>
        </p:blipFill>
        <p:spPr>
          <a:xfrm>
            <a:off x="713232" y="548640"/>
            <a:ext cx="3017520" cy="713232"/>
          </a:xfrm>
          <a:prstGeom prst="rect">
            <a:avLst/>
          </a:prstGeom>
        </p:spPr>
      </p:pic>
      <p:sp>
        <p:nvSpPr>
          <p:cNvPr id="5" name="Text 2"/>
          <p:cNvSpPr/>
          <p:nvPr/>
        </p:nvSpPr>
        <p:spPr>
          <a:xfrm>
            <a:off x="713232" y="2331720"/>
            <a:ext cx="7315200" cy="274320"/>
          </a:xfrm>
          <a:prstGeom prst="rect">
            <a:avLst/>
          </a:prstGeom>
          <a:noFill/>
          <a:ln/>
        </p:spPr>
        <p:txBody>
          <a:bodyPr wrap="square" lIns="0" tIns="0" rIns="0" bIns="0" rtlCol="0" anchor="ctr"/>
          <a:lstStyle/>
          <a:p>
            <a:pPr indent="0" marL="0">
              <a:buNone/>
            </a:pPr>
            <a:r>
              <a:rPr lang="en-US" sz="1200" b="1" spc="220" kern="0" dirty="0">
                <a:solidFill>
                  <a:srgbClr val="D9A441"/>
                </a:solidFill>
                <a:latin typeface="Calibri" pitchFamily="34" charset="0"/>
                <a:ea typeface="Calibri" pitchFamily="34" charset="-122"/>
                <a:cs typeface="Calibri" pitchFamily="34" charset="-120"/>
              </a:rPr>
              <a:t>FOR JUHI AGARWAL  ·  AUGUST 2026</a:t>
            </a:r>
            <a:endParaRPr lang="en-US" sz="1200" dirty="0"/>
          </a:p>
        </p:txBody>
      </p:sp>
      <p:sp>
        <p:nvSpPr>
          <p:cNvPr id="6" name="Text 3"/>
          <p:cNvSpPr/>
          <p:nvPr/>
        </p:nvSpPr>
        <p:spPr>
          <a:xfrm>
            <a:off x="713232" y="2670048"/>
            <a:ext cx="7315200" cy="822960"/>
          </a:xfrm>
          <a:prstGeom prst="rect">
            <a:avLst/>
          </a:prstGeom>
          <a:noFill/>
          <a:ln/>
        </p:spPr>
        <p:txBody>
          <a:bodyPr wrap="square" lIns="0" tIns="0" rIns="0" bIns="0" rtlCol="0" anchor="ctr"/>
          <a:lstStyle/>
          <a:p>
            <a:pPr indent="0" marL="0">
              <a:buNone/>
            </a:pPr>
            <a:r>
              <a:rPr lang="en-US" sz="6400" b="1" dirty="0">
                <a:solidFill>
                  <a:srgbClr val="FFFFFF"/>
                </a:solidFill>
                <a:latin typeface="Cambria" pitchFamily="34" charset="0"/>
                <a:ea typeface="Cambria" pitchFamily="34" charset="-122"/>
                <a:cs typeface="Cambria" pitchFamily="34" charset="-120"/>
              </a:rPr>
              <a:t>neXtHer</a:t>
            </a:r>
            <a:endParaRPr lang="en-US" sz="6400" dirty="0"/>
          </a:p>
        </p:txBody>
      </p:sp>
      <p:sp>
        <p:nvSpPr>
          <p:cNvPr id="7" name="Text 4"/>
          <p:cNvSpPr/>
          <p:nvPr/>
        </p:nvSpPr>
        <p:spPr>
          <a:xfrm>
            <a:off x="713232" y="3529584"/>
            <a:ext cx="7315200" cy="548640"/>
          </a:xfrm>
          <a:prstGeom prst="rect">
            <a:avLst/>
          </a:prstGeom>
          <a:noFill/>
          <a:ln/>
        </p:spPr>
        <p:txBody>
          <a:bodyPr wrap="square" lIns="0" tIns="0" rIns="0" bIns="0" rtlCol="0" anchor="ctr"/>
          <a:lstStyle/>
          <a:p>
            <a:pPr indent="0" marL="0">
              <a:buNone/>
            </a:pPr>
            <a:r>
              <a:rPr lang="en-US" sz="3400" dirty="0">
                <a:solidFill>
                  <a:srgbClr val="D9A441"/>
                </a:solidFill>
                <a:latin typeface="Cambria" pitchFamily="34" charset="0"/>
                <a:ea typeface="Cambria" pitchFamily="34" charset="-122"/>
                <a:cs typeface="Cambria" pitchFamily="34" charset="-120"/>
              </a:rPr>
              <a:t>What I found</a:t>
            </a:r>
            <a:endParaRPr lang="en-US" sz="3400" dirty="0"/>
          </a:p>
        </p:txBody>
      </p:sp>
      <p:sp>
        <p:nvSpPr>
          <p:cNvPr id="8" name="Text 5"/>
          <p:cNvSpPr/>
          <p:nvPr/>
        </p:nvSpPr>
        <p:spPr>
          <a:xfrm>
            <a:off x="713232" y="4297680"/>
            <a:ext cx="6400800" cy="1005840"/>
          </a:xfrm>
          <a:prstGeom prst="rect">
            <a:avLst/>
          </a:prstGeom>
          <a:noFill/>
          <a:ln/>
        </p:spPr>
        <p:txBody>
          <a:bodyPr wrap="square" lIns="0" tIns="0" rIns="0" bIns="0" rtlCol="0" anchor="ctr"/>
          <a:lstStyle/>
          <a:p>
            <a:pPr indent="0" marL="0">
              <a:lnSpc>
                <a:spcPts val="2600"/>
              </a:lnSpc>
              <a:buNone/>
            </a:pPr>
            <a:r>
              <a:rPr lang="en-US" sz="1700" dirty="0">
                <a:solidFill>
                  <a:srgbClr val="C9AEB8"/>
                </a:solidFill>
                <a:latin typeface="Calibri" pitchFamily="34" charset="0"/>
                <a:ea typeface="Calibri" pitchFamily="34" charset="-122"/>
                <a:cs typeface="Calibri" pitchFamily="34" charset="-120"/>
              </a:rPr>
              <a:t>You asked me to film, edit, publish and grow. Before I answered that, I wanted to understand what I'd be filming — and what would actually make it work.</a:t>
            </a:r>
            <a:endParaRPr lang="en-US" sz="1700" dirty="0"/>
          </a:p>
        </p:txBody>
      </p:sp>
      <p:sp>
        <p:nvSpPr>
          <p:cNvPr id="9" name="Text 6"/>
          <p:cNvSpPr/>
          <p:nvPr/>
        </p:nvSpPr>
        <p:spPr>
          <a:xfrm>
            <a:off x="713232" y="5806440"/>
            <a:ext cx="6400800" cy="274320"/>
          </a:xfrm>
          <a:prstGeom prst="rect">
            <a:avLst/>
          </a:prstGeom>
          <a:noFill/>
          <a:ln/>
        </p:spPr>
        <p:txBody>
          <a:bodyPr wrap="square" lIns="0" tIns="0" rIns="0" bIns="0" rtlCol="0" anchor="ctr"/>
          <a:lstStyle/>
          <a:p>
            <a:pPr indent="0" marL="0">
              <a:buNone/>
            </a:pPr>
            <a:r>
              <a:rPr lang="en-US" sz="1400" dirty="0">
                <a:solidFill>
                  <a:srgbClr val="C9AEB8"/>
                </a:solidFill>
                <a:latin typeface="Calibri" pitchFamily="34" charset="0"/>
                <a:ea typeface="Calibri" pitchFamily="34" charset="-122"/>
                <a:cs typeface="Calibri" pitchFamily="34" charset="-120"/>
              </a:rPr>
              <a:t>Kiran  ·  Production X Creative Studio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3232" y="420624"/>
            <a:ext cx="10735056" cy="274320"/>
          </a:xfrm>
          <a:prstGeom prst="rect">
            <a:avLst/>
          </a:prstGeom>
          <a:noFill/>
          <a:ln/>
        </p:spPr>
        <p:txBody>
          <a:bodyPr wrap="square" lIns="0" tIns="0" rIns="0" bIns="0" rtlCol="0" anchor="ctr"/>
          <a:lstStyle/>
          <a:p>
            <a:pPr indent="0" marL="0">
              <a:buNone/>
            </a:pPr>
            <a:r>
              <a:rPr lang="en-US" sz="1200" b="1" spc="220" kern="0" dirty="0">
                <a:solidFill>
                  <a:srgbClr val="A26769"/>
                </a:solidFill>
                <a:latin typeface="Calibri" pitchFamily="34" charset="0"/>
                <a:ea typeface="Calibri" pitchFamily="34" charset="-122"/>
                <a:cs typeface="Calibri" pitchFamily="34" charset="-120"/>
              </a:rPr>
              <a:t>WHERE WE STARTED</a:t>
            </a:r>
            <a:endParaRPr lang="en-US" sz="1200" dirty="0"/>
          </a:p>
        </p:txBody>
      </p:sp>
      <p:sp>
        <p:nvSpPr>
          <p:cNvPr id="3" name="Text 1"/>
          <p:cNvSpPr/>
          <p:nvPr/>
        </p:nvSpPr>
        <p:spPr>
          <a:xfrm>
            <a:off x="713232" y="768096"/>
            <a:ext cx="10735056" cy="960120"/>
          </a:xfrm>
          <a:prstGeom prst="rect">
            <a:avLst/>
          </a:prstGeom>
          <a:noFill/>
          <a:ln/>
        </p:spPr>
        <p:txBody>
          <a:bodyPr wrap="square" lIns="0" tIns="0" rIns="0" bIns="0" rtlCol="0" anchor="ctr"/>
          <a:lstStyle/>
          <a:p>
            <a:pPr indent="0" marL="0">
              <a:lnSpc>
                <a:spcPts val="4500"/>
              </a:lnSpc>
              <a:buNone/>
            </a:pPr>
            <a:r>
              <a:rPr lang="en-US" sz="3900" b="1" dirty="0">
                <a:solidFill>
                  <a:srgbClr val="2B1620"/>
                </a:solidFill>
                <a:latin typeface="Cambria" pitchFamily="34" charset="0"/>
                <a:ea typeface="Cambria" pitchFamily="34" charset="-122"/>
                <a:cs typeface="Cambria" pitchFamily="34" charset="-120"/>
              </a:rPr>
              <a:t>Your words, first</a:t>
            </a:r>
            <a:endParaRPr lang="en-US" sz="3900" dirty="0"/>
          </a:p>
        </p:txBody>
      </p:sp>
      <p:sp>
        <p:nvSpPr>
          <p:cNvPr id="4" name="Shape 2"/>
          <p:cNvSpPr/>
          <p:nvPr/>
        </p:nvSpPr>
        <p:spPr>
          <a:xfrm>
            <a:off x="713232" y="1874520"/>
            <a:ext cx="10735056" cy="1737360"/>
          </a:xfrm>
          <a:prstGeom prst="roundRect">
            <a:avLst>
              <a:gd name="adj" fmla="val 7368"/>
            </a:avLst>
          </a:prstGeom>
          <a:solidFill>
            <a:srgbClr val="F7F2F4"/>
          </a:solidFill>
          <a:ln/>
        </p:spPr>
      </p:sp>
      <p:sp>
        <p:nvSpPr>
          <p:cNvPr id="5" name="Text 3"/>
          <p:cNvSpPr/>
          <p:nvPr/>
        </p:nvSpPr>
        <p:spPr>
          <a:xfrm>
            <a:off x="1216152" y="1874520"/>
            <a:ext cx="9729216" cy="1737360"/>
          </a:xfrm>
          <a:prstGeom prst="rect">
            <a:avLst/>
          </a:prstGeom>
          <a:noFill/>
          <a:ln/>
        </p:spPr>
        <p:txBody>
          <a:bodyPr wrap="square" lIns="0" tIns="0" rIns="0" bIns="0" rtlCol="0" anchor="ctr"/>
          <a:lstStyle/>
          <a:p>
            <a:pPr indent="0" marL="0">
              <a:lnSpc>
                <a:spcPts val="2300"/>
              </a:lnSpc>
              <a:buNone/>
            </a:pPr>
            <a:r>
              <a:rPr lang="en-US" sz="1550" i="1" dirty="0">
                <a:solidFill>
                  <a:srgbClr val="6D2E46"/>
                </a:solidFill>
                <a:latin typeface="Cambria" pitchFamily="34" charset="0"/>
                <a:ea typeface="Cambria" pitchFamily="34" charset="-122"/>
                <a:cs typeface="Cambria" pitchFamily="34" charset="-120"/>
              </a:rPr>
              <a:t>"I'm building a personal brand focused on helping women (especially mothers) use AI, mindset, and practical systems to create more freedom and financial independence.</a:t>
            </a:r>
            <a:endParaRPr lang="en-US" sz="1550" dirty="0"/>
          </a:p>
          <a:p>
            <a:pPr indent="0" marL="0">
              <a:lnSpc>
                <a:spcPts val="2300"/>
              </a:lnSpc>
              <a:buNone/>
            </a:pPr>
            <a:endParaRPr lang="en-US" sz="1550" dirty="0"/>
          </a:p>
          <a:p>
            <a:pPr indent="0" marL="0">
              <a:lnSpc>
                <a:spcPts val="2300"/>
              </a:lnSpc>
              <a:buNone/>
            </a:pPr>
            <a:r>
              <a:rPr lang="en-US" sz="1550" i="1" dirty="0">
                <a:solidFill>
                  <a:srgbClr val="6D2E46"/>
                </a:solidFill>
                <a:latin typeface="Cambria" pitchFamily="34" charset="0"/>
                <a:ea typeface="Cambria" pitchFamily="34" charset="-122"/>
                <a:cs typeface="Cambria" pitchFamily="34" charset="-120"/>
              </a:rPr>
              <a:t>I'm looking for a digital production partner who can help me film, edit, publish, and grow high quality content as we build the brand together."</a:t>
            </a:r>
            <a:endParaRPr lang="en-US" sz="1550" dirty="0"/>
          </a:p>
        </p:txBody>
      </p:sp>
      <p:sp>
        <p:nvSpPr>
          <p:cNvPr id="6" name="Text 4"/>
          <p:cNvSpPr/>
          <p:nvPr/>
        </p:nvSpPr>
        <p:spPr>
          <a:xfrm>
            <a:off x="713232" y="4114800"/>
            <a:ext cx="10058400" cy="457200"/>
          </a:xfrm>
          <a:prstGeom prst="rect">
            <a:avLst/>
          </a:prstGeom>
          <a:noFill/>
          <a:ln/>
        </p:spPr>
        <p:txBody>
          <a:bodyPr wrap="square" lIns="0" tIns="0" rIns="0" bIns="0" rtlCol="0" anchor="ctr"/>
          <a:lstStyle/>
          <a:p>
            <a:pPr indent="0" marL="0">
              <a:buNone/>
            </a:pPr>
            <a:r>
              <a:rPr lang="en-US" sz="1800" dirty="0">
                <a:solidFill>
                  <a:srgbClr val="2B1620"/>
                </a:solidFill>
                <a:latin typeface="Calibri" pitchFamily="34" charset="0"/>
                <a:ea typeface="Calibri" pitchFamily="34" charset="-122"/>
                <a:cs typeface="Calibri" pitchFamily="34" charset="-120"/>
              </a:rPr>
              <a:t>Most people would reply to that with a package and a price.</a:t>
            </a:r>
            <a:endParaRPr lang="en-US" sz="1800" dirty="0"/>
          </a:p>
        </p:txBody>
      </p:sp>
      <p:sp>
        <p:nvSpPr>
          <p:cNvPr id="7" name="Text 5"/>
          <p:cNvSpPr/>
          <p:nvPr/>
        </p:nvSpPr>
        <p:spPr>
          <a:xfrm>
            <a:off x="713232" y="4663440"/>
            <a:ext cx="10058400" cy="457200"/>
          </a:xfrm>
          <a:prstGeom prst="rect">
            <a:avLst/>
          </a:prstGeom>
          <a:noFill/>
          <a:ln/>
        </p:spPr>
        <p:txBody>
          <a:bodyPr wrap="square" lIns="0" tIns="0" rIns="0" bIns="0" rtlCol="0" anchor="ctr"/>
          <a:lstStyle/>
          <a:p>
            <a:pPr indent="0" marL="0">
              <a:buNone/>
            </a:pPr>
            <a:r>
              <a:rPr lang="en-US" sz="2000" b="1" dirty="0">
                <a:solidFill>
                  <a:srgbClr val="6D2E46"/>
                </a:solidFill>
                <a:latin typeface="Calibri" pitchFamily="34" charset="0"/>
                <a:ea typeface="Calibri" pitchFamily="34" charset="-122"/>
                <a:cs typeface="Calibri" pitchFamily="34" charset="-120"/>
              </a:rPr>
              <a:t>I'd rather understand the brand before I offer to build it.</a:t>
            </a:r>
            <a:endParaRPr lang="en-US" sz="2000" dirty="0"/>
          </a:p>
        </p:txBody>
      </p:sp>
      <p:sp>
        <p:nvSpPr>
          <p:cNvPr id="8" name="Text 6"/>
          <p:cNvSpPr/>
          <p:nvPr/>
        </p:nvSpPr>
        <p:spPr>
          <a:xfrm>
            <a:off x="713232" y="5486400"/>
            <a:ext cx="10735056" cy="640080"/>
          </a:xfrm>
          <a:prstGeom prst="rect">
            <a:avLst/>
          </a:prstGeom>
          <a:noFill/>
          <a:ln/>
        </p:spPr>
        <p:txBody>
          <a:bodyPr wrap="square" lIns="0" tIns="0" rIns="0" bIns="0" rtlCol="0" anchor="ctr"/>
          <a:lstStyle/>
          <a:p>
            <a:pPr indent="0" marL="0">
              <a:lnSpc>
                <a:spcPts val="2400"/>
              </a:lnSpc>
              <a:buNone/>
            </a:pPr>
            <a:r>
              <a:rPr lang="en-US" sz="1700" i="1" dirty="0">
                <a:solidFill>
                  <a:srgbClr val="D9A441"/>
                </a:solidFill>
                <a:latin typeface="Cambria" pitchFamily="34" charset="0"/>
                <a:ea typeface="Cambria" pitchFamily="34" charset="-122"/>
                <a:cs typeface="Cambria" pitchFamily="34" charset="-120"/>
              </a:rPr>
              <a:t>So I went through everything properly before replying. This is what I found.</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3232" y="420624"/>
            <a:ext cx="10735056" cy="274320"/>
          </a:xfrm>
          <a:prstGeom prst="rect">
            <a:avLst/>
          </a:prstGeom>
          <a:noFill/>
          <a:ln/>
        </p:spPr>
        <p:txBody>
          <a:bodyPr wrap="square" lIns="0" tIns="0" rIns="0" bIns="0" rtlCol="0" anchor="ctr"/>
          <a:lstStyle/>
          <a:p>
            <a:pPr indent="0" marL="0">
              <a:buNone/>
            </a:pPr>
            <a:r>
              <a:rPr lang="en-US" sz="1200" b="1" spc="220" kern="0" dirty="0">
                <a:solidFill>
                  <a:srgbClr val="A26769"/>
                </a:solidFill>
                <a:latin typeface="Calibri" pitchFamily="34" charset="0"/>
                <a:ea typeface="Calibri" pitchFamily="34" charset="-122"/>
                <a:cs typeface="Calibri" pitchFamily="34" charset="-120"/>
              </a:rPr>
              <a:t>BEFORE ANYTHING ELSE</a:t>
            </a:r>
            <a:endParaRPr lang="en-US" sz="1200" dirty="0"/>
          </a:p>
        </p:txBody>
      </p:sp>
      <p:sp>
        <p:nvSpPr>
          <p:cNvPr id="3" name="Text 1"/>
          <p:cNvSpPr/>
          <p:nvPr/>
        </p:nvSpPr>
        <p:spPr>
          <a:xfrm>
            <a:off x="713232" y="768096"/>
            <a:ext cx="10735056" cy="960120"/>
          </a:xfrm>
          <a:prstGeom prst="rect">
            <a:avLst/>
          </a:prstGeom>
          <a:noFill/>
          <a:ln/>
        </p:spPr>
        <p:txBody>
          <a:bodyPr wrap="square" lIns="0" tIns="0" rIns="0" bIns="0" rtlCol="0" anchor="ctr"/>
          <a:lstStyle/>
          <a:p>
            <a:pPr indent="0" marL="0">
              <a:lnSpc>
                <a:spcPts val="4500"/>
              </a:lnSpc>
              <a:buNone/>
            </a:pPr>
            <a:r>
              <a:rPr lang="en-US" sz="3900" b="1" dirty="0">
                <a:solidFill>
                  <a:srgbClr val="2B1620"/>
                </a:solidFill>
                <a:latin typeface="Cambria" pitchFamily="34" charset="0"/>
                <a:ea typeface="Cambria" pitchFamily="34" charset="-122"/>
                <a:cs typeface="Cambria" pitchFamily="34" charset="-120"/>
              </a:rPr>
              <a:t>What I actually went through</a:t>
            </a:r>
            <a:endParaRPr lang="en-US" sz="3900" dirty="0"/>
          </a:p>
        </p:txBody>
      </p:sp>
      <p:sp>
        <p:nvSpPr>
          <p:cNvPr id="4" name="Text 2"/>
          <p:cNvSpPr/>
          <p:nvPr/>
        </p:nvSpPr>
        <p:spPr>
          <a:xfrm>
            <a:off x="713232" y="1828800"/>
            <a:ext cx="5120640" cy="274320"/>
          </a:xfrm>
          <a:prstGeom prst="rect">
            <a:avLst/>
          </a:prstGeom>
          <a:noFill/>
          <a:ln/>
        </p:spPr>
        <p:txBody>
          <a:bodyPr wrap="square" lIns="0" tIns="0" rIns="0" bIns="0" rtlCol="0" anchor="ctr"/>
          <a:lstStyle/>
          <a:p>
            <a:pPr indent="0" marL="0">
              <a:buNone/>
            </a:pPr>
            <a:r>
              <a:rPr lang="en-US" sz="1300" b="1" spc="140" kern="0" dirty="0">
                <a:solidFill>
                  <a:srgbClr val="6D2E46"/>
                </a:solidFill>
                <a:latin typeface="Calibri" pitchFamily="34" charset="0"/>
                <a:ea typeface="Calibri" pitchFamily="34" charset="-122"/>
                <a:cs typeface="Calibri" pitchFamily="34" charset="-120"/>
              </a:rPr>
              <a:t>YOUR SIDE</a:t>
            </a:r>
            <a:endParaRPr lang="en-US" sz="1300" dirty="0"/>
          </a:p>
        </p:txBody>
      </p:sp>
      <p:sp>
        <p:nvSpPr>
          <p:cNvPr id="5" name="Text 3"/>
          <p:cNvSpPr/>
          <p:nvPr/>
        </p:nvSpPr>
        <p:spPr>
          <a:xfrm>
            <a:off x="713232" y="2212848"/>
            <a:ext cx="4937760" cy="210312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50" dirty="0">
                <a:solidFill>
                  <a:srgbClr val="2B1620"/>
                </a:solidFill>
                <a:latin typeface="Calibri" pitchFamily="34" charset="0"/>
                <a:ea typeface="Calibri" pitchFamily="34" charset="-122"/>
                <a:cs typeface="Calibri" pitchFamily="34" charset="-120"/>
              </a:rPr>
              <a:t>Your grid — the covers, the hooks, the pattern across them</a:t>
            </a:r>
            <a:endParaRPr lang="en-US" sz="1450" dirty="0"/>
          </a:p>
          <a:p>
            <a:pPr marL="342900" indent="-342900">
              <a:lnSpc>
                <a:spcPts val="2000"/>
              </a:lnSpc>
              <a:spcAft>
                <a:spcPts val="800"/>
              </a:spcAft>
              <a:buSzPct val="100000"/>
              <a:buChar char="•"/>
            </a:pPr>
            <a:r>
              <a:rPr lang="en-US" sz="1450" dirty="0">
                <a:solidFill>
                  <a:srgbClr val="2B1620"/>
                </a:solidFill>
                <a:latin typeface="Calibri" pitchFamily="34" charset="0"/>
                <a:ea typeface="Calibri" pitchFamily="34" charset="-122"/>
                <a:cs typeface="Calibri" pitchFamily="34" charset="-120"/>
              </a:rPr>
              <a:t>Your captions, and the way you write them</a:t>
            </a:r>
            <a:endParaRPr lang="en-US" sz="1450" dirty="0"/>
          </a:p>
          <a:p>
            <a:pPr marL="342900" indent="-342900">
              <a:lnSpc>
                <a:spcPts val="2000"/>
              </a:lnSpc>
              <a:spcAft>
                <a:spcPts val="800"/>
              </a:spcAft>
              <a:buSzPct val="100000"/>
              <a:buChar char="•"/>
            </a:pPr>
            <a:r>
              <a:rPr lang="en-US" sz="1450" dirty="0">
                <a:solidFill>
                  <a:srgbClr val="2B1620"/>
                </a:solidFill>
                <a:latin typeface="Calibri" pitchFamily="34" charset="0"/>
                <a:ea typeface="Calibri" pitchFamily="34" charset="-122"/>
                <a:cs typeface="Calibri" pitchFamily="34" charset="-120"/>
              </a:rPr>
              <a:t>Your Stories, including the growth poll and the laptop teaser</a:t>
            </a:r>
            <a:endParaRPr lang="en-US" sz="1450" dirty="0"/>
          </a:p>
          <a:p>
            <a:pPr marL="342900" indent="-342900">
              <a:lnSpc>
                <a:spcPts val="2000"/>
              </a:lnSpc>
              <a:spcAft>
                <a:spcPts val="800"/>
              </a:spcAft>
              <a:buSzPct val="100000"/>
              <a:buChar char="•"/>
            </a:pPr>
            <a:r>
              <a:rPr lang="en-US" sz="1450" dirty="0">
                <a:solidFill>
                  <a:srgbClr val="2B1620"/>
                </a:solidFill>
                <a:latin typeface="Calibri" pitchFamily="34" charset="0"/>
                <a:ea typeface="Calibri" pitchFamily="34" charset="-122"/>
                <a:cs typeface="Calibri" pitchFamily="34" charset="-120"/>
              </a:rPr>
              <a:t>Your Threads — your posts and the replies you've written</a:t>
            </a:r>
            <a:endParaRPr lang="en-US" sz="1450" dirty="0"/>
          </a:p>
          <a:p>
            <a:pPr marL="342900" indent="-342900">
              <a:lnSpc>
                <a:spcPts val="2000"/>
              </a:lnSpc>
              <a:spcAft>
                <a:spcPts val="800"/>
              </a:spcAft>
              <a:buSzPct val="100000"/>
              <a:buChar char="•"/>
            </a:pPr>
            <a:r>
              <a:rPr lang="en-US" sz="1450" dirty="0">
                <a:solidFill>
                  <a:srgbClr val="2B1620"/>
                </a:solidFill>
                <a:latin typeface="Calibri" pitchFamily="34" charset="0"/>
                <a:ea typeface="Calibri" pitchFamily="34" charset="-122"/>
                <a:cs typeface="Calibri" pitchFamily="34" charset="-120"/>
              </a:rPr>
              <a:t>Your bio, CTA, highlights and posting rhythm</a:t>
            </a:r>
            <a:endParaRPr lang="en-US" sz="1450" dirty="0"/>
          </a:p>
        </p:txBody>
      </p:sp>
      <p:sp>
        <p:nvSpPr>
          <p:cNvPr id="6" name="Text 4"/>
          <p:cNvSpPr/>
          <p:nvPr/>
        </p:nvSpPr>
        <p:spPr>
          <a:xfrm>
            <a:off x="6492240" y="1828800"/>
            <a:ext cx="4937760" cy="274320"/>
          </a:xfrm>
          <a:prstGeom prst="rect">
            <a:avLst/>
          </a:prstGeom>
          <a:noFill/>
          <a:ln/>
        </p:spPr>
        <p:txBody>
          <a:bodyPr wrap="square" lIns="0" tIns="0" rIns="0" bIns="0" rtlCol="0" anchor="ctr"/>
          <a:lstStyle/>
          <a:p>
            <a:pPr indent="0" marL="0">
              <a:buNone/>
            </a:pPr>
            <a:r>
              <a:rPr lang="en-US" sz="1300" b="1" spc="140" kern="0" dirty="0">
                <a:solidFill>
                  <a:srgbClr val="6D2E46"/>
                </a:solidFill>
                <a:latin typeface="Calibri" pitchFamily="34" charset="0"/>
                <a:ea typeface="Calibri" pitchFamily="34" charset="-122"/>
                <a:cs typeface="Calibri" pitchFamily="34" charset="-120"/>
              </a:rPr>
              <a:t>THE TWO YOU SENT ME</a:t>
            </a:r>
            <a:endParaRPr lang="en-US" sz="1300" dirty="0"/>
          </a:p>
        </p:txBody>
      </p:sp>
      <p:sp>
        <p:nvSpPr>
          <p:cNvPr id="7" name="Text 5"/>
          <p:cNvSpPr/>
          <p:nvPr/>
        </p:nvSpPr>
        <p:spPr>
          <a:xfrm>
            <a:off x="6492240" y="2212848"/>
            <a:ext cx="4754880" cy="100584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50" dirty="0">
                <a:solidFill>
                  <a:srgbClr val="2B1620"/>
                </a:solidFill>
                <a:latin typeface="Calibri" pitchFamily="34" charset="0"/>
                <a:ea typeface="Calibri" pitchFamily="34" charset="-122"/>
                <a:cs typeface="Calibri" pitchFamily="34" charset="-120"/>
              </a:rPr>
              <a:t>@upgradingkatie — her grid, her pinned trio, her comment sections, her manifesto post</a:t>
            </a:r>
            <a:endParaRPr lang="en-US" sz="1450" dirty="0"/>
          </a:p>
          <a:p>
            <a:pPr marL="342900" indent="-342900">
              <a:lnSpc>
                <a:spcPts val="2000"/>
              </a:lnSpc>
              <a:spcAft>
                <a:spcPts val="800"/>
              </a:spcAft>
              <a:buSzPct val="100000"/>
              <a:buChar char="•"/>
            </a:pPr>
            <a:r>
              <a:rPr lang="en-US" sz="1450" dirty="0">
                <a:solidFill>
                  <a:srgbClr val="2B1620"/>
                </a:solidFill>
                <a:latin typeface="Calibri" pitchFamily="34" charset="0"/>
                <a:ea typeface="Calibri" pitchFamily="34" charset="-122"/>
                <a:cs typeface="Calibri" pitchFamily="34" charset="-120"/>
              </a:rPr>
              <a:t>@melrobbins — grid, guest structure, quote-card system</a:t>
            </a:r>
            <a:endParaRPr lang="en-US" sz="1450" dirty="0"/>
          </a:p>
        </p:txBody>
      </p:sp>
      <p:sp>
        <p:nvSpPr>
          <p:cNvPr id="8" name="Text 6"/>
          <p:cNvSpPr/>
          <p:nvPr/>
        </p:nvSpPr>
        <p:spPr>
          <a:xfrm>
            <a:off x="6492240" y="3401568"/>
            <a:ext cx="4937760" cy="274320"/>
          </a:xfrm>
          <a:prstGeom prst="rect">
            <a:avLst/>
          </a:prstGeom>
          <a:noFill/>
          <a:ln/>
        </p:spPr>
        <p:txBody>
          <a:bodyPr wrap="square" lIns="0" tIns="0" rIns="0" bIns="0" rtlCol="0" anchor="ctr"/>
          <a:lstStyle/>
          <a:p>
            <a:pPr indent="0" marL="0">
              <a:buNone/>
            </a:pPr>
            <a:r>
              <a:rPr lang="en-US" sz="1300" b="1" spc="140" kern="0" dirty="0">
                <a:solidFill>
                  <a:srgbClr val="6D2E46"/>
                </a:solidFill>
                <a:latin typeface="Calibri" pitchFamily="34" charset="0"/>
                <a:ea typeface="Calibri" pitchFamily="34" charset="-122"/>
                <a:cs typeface="Calibri" pitchFamily="34" charset="-120"/>
              </a:rPr>
              <a:t>THE MARKET</a:t>
            </a:r>
            <a:endParaRPr lang="en-US" sz="1300" dirty="0"/>
          </a:p>
        </p:txBody>
      </p:sp>
      <p:sp>
        <p:nvSpPr>
          <p:cNvPr id="9" name="Text 7"/>
          <p:cNvSpPr/>
          <p:nvPr/>
        </p:nvSpPr>
        <p:spPr>
          <a:xfrm>
            <a:off x="6492240" y="3785616"/>
            <a:ext cx="4754880" cy="82296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50" dirty="0">
                <a:solidFill>
                  <a:srgbClr val="2B1620"/>
                </a:solidFill>
                <a:latin typeface="Calibri" pitchFamily="34" charset="0"/>
                <a:ea typeface="Calibri" pitchFamily="34" charset="-122"/>
                <a:cs typeface="Calibri" pitchFamily="34" charset="-120"/>
              </a:rPr>
              <a:t>AI education, mom content and women's finance in India</a:t>
            </a:r>
            <a:endParaRPr lang="en-US" sz="1450" dirty="0"/>
          </a:p>
          <a:p>
            <a:pPr marL="342900" indent="-342900">
              <a:lnSpc>
                <a:spcPts val="2000"/>
              </a:lnSpc>
              <a:spcAft>
                <a:spcPts val="800"/>
              </a:spcAft>
              <a:buSzPct val="100000"/>
              <a:buChar char="•"/>
            </a:pPr>
            <a:r>
              <a:rPr lang="en-US" sz="1450" dirty="0">
                <a:solidFill>
                  <a:srgbClr val="2B1620"/>
                </a:solidFill>
                <a:latin typeface="Calibri" pitchFamily="34" charset="0"/>
                <a:ea typeface="Calibri" pitchFamily="34" charset="-122"/>
                <a:cs typeface="Calibri" pitchFamily="34" charset="-120"/>
              </a:rPr>
              <a:t>What Indian audiences actually pay for</a:t>
            </a:r>
            <a:endParaRPr lang="en-US" sz="1450" dirty="0"/>
          </a:p>
        </p:txBody>
      </p:sp>
      <p:sp>
        <p:nvSpPr>
          <p:cNvPr id="10" name="Shape 8"/>
          <p:cNvSpPr/>
          <p:nvPr/>
        </p:nvSpPr>
        <p:spPr>
          <a:xfrm>
            <a:off x="713232" y="5212080"/>
            <a:ext cx="10735056" cy="841248"/>
          </a:xfrm>
          <a:prstGeom prst="roundRect">
            <a:avLst>
              <a:gd name="adj" fmla="val 15217"/>
            </a:avLst>
          </a:prstGeom>
          <a:solidFill>
            <a:srgbClr val="6D2E46"/>
          </a:solidFill>
          <a:ln/>
        </p:spPr>
      </p:sp>
      <p:sp>
        <p:nvSpPr>
          <p:cNvPr id="11" name="Text 9"/>
          <p:cNvSpPr/>
          <p:nvPr/>
        </p:nvSpPr>
        <p:spPr>
          <a:xfrm>
            <a:off x="1170432" y="5212080"/>
            <a:ext cx="9820656" cy="841248"/>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I didn't want to come back with a </a:t>
            </a:r>
            <a:pPr indent="0" marL="0">
              <a:buNone/>
            </a:pPr>
            <a:r>
              <a:rPr lang="en-US" sz="1700" b="1" dirty="0">
                <a:solidFill>
                  <a:srgbClr val="D9A441"/>
                </a:solidFill>
                <a:latin typeface="Calibri" pitchFamily="34" charset="0"/>
                <a:ea typeface="Calibri" pitchFamily="34" charset="-122"/>
                <a:cs typeface="Calibri" pitchFamily="34" charset="-120"/>
              </a:rPr>
              <a:t>generic pitch</a:t>
            </a:r>
            <a:pPr indent="0" marL="0">
              <a:buNone/>
            </a:pPr>
            <a:r>
              <a:rPr lang="en-US" sz="1700" dirty="0">
                <a:solidFill>
                  <a:srgbClr val="FFFFFF"/>
                </a:solidFill>
                <a:latin typeface="Calibri" pitchFamily="34" charset="0"/>
                <a:ea typeface="Calibri" pitchFamily="34" charset="-122"/>
                <a:cs typeface="Calibri" pitchFamily="34" charset="-120"/>
              </a:rPr>
              <a:t>. I wanted to bring you something you hadn't already thought of.</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3232" y="420624"/>
            <a:ext cx="10735056" cy="274320"/>
          </a:xfrm>
          <a:prstGeom prst="rect">
            <a:avLst/>
          </a:prstGeom>
          <a:noFill/>
          <a:ln/>
        </p:spPr>
        <p:txBody>
          <a:bodyPr wrap="square" lIns="0" tIns="0" rIns="0" bIns="0" rtlCol="0" anchor="ctr"/>
          <a:lstStyle/>
          <a:p>
            <a:pPr indent="0" marL="0">
              <a:buNone/>
            </a:pPr>
            <a:r>
              <a:rPr lang="en-US" sz="1200" b="1" spc="220" kern="0" dirty="0">
                <a:solidFill>
                  <a:srgbClr val="A26769"/>
                </a:solidFill>
                <a:latin typeface="Calibri" pitchFamily="34" charset="0"/>
                <a:ea typeface="Calibri" pitchFamily="34" charset="-122"/>
                <a:cs typeface="Calibri" pitchFamily="34" charset="-120"/>
              </a:rPr>
              <a:t>STARTING POINT</a:t>
            </a:r>
            <a:endParaRPr lang="en-US" sz="1200" dirty="0"/>
          </a:p>
        </p:txBody>
      </p:sp>
      <p:sp>
        <p:nvSpPr>
          <p:cNvPr id="3" name="Text 1"/>
          <p:cNvSpPr/>
          <p:nvPr/>
        </p:nvSpPr>
        <p:spPr>
          <a:xfrm>
            <a:off x="713232" y="768096"/>
            <a:ext cx="10735056" cy="960120"/>
          </a:xfrm>
          <a:prstGeom prst="rect">
            <a:avLst/>
          </a:prstGeom>
          <a:noFill/>
          <a:ln/>
        </p:spPr>
        <p:txBody>
          <a:bodyPr wrap="square" lIns="0" tIns="0" rIns="0" bIns="0" rtlCol="0" anchor="ctr"/>
          <a:lstStyle/>
          <a:p>
            <a:pPr indent="0" marL="0">
              <a:lnSpc>
                <a:spcPts val="4500"/>
              </a:lnSpc>
              <a:buNone/>
            </a:pPr>
            <a:r>
              <a:rPr lang="en-US" sz="3900" b="1" dirty="0">
                <a:solidFill>
                  <a:srgbClr val="2B1620"/>
                </a:solidFill>
                <a:latin typeface="Cambria" pitchFamily="34" charset="0"/>
                <a:ea typeface="Cambria" pitchFamily="34" charset="-122"/>
                <a:cs typeface="Cambria" pitchFamily="34" charset="-120"/>
              </a:rPr>
              <a:t>You're doing more right than you think</a:t>
            </a:r>
            <a:endParaRPr lang="en-US" sz="3900" dirty="0"/>
          </a:p>
        </p:txBody>
      </p:sp>
      <p:sp>
        <p:nvSpPr>
          <p:cNvPr id="4" name="Shape 2"/>
          <p:cNvSpPr/>
          <p:nvPr/>
        </p:nvSpPr>
        <p:spPr>
          <a:xfrm>
            <a:off x="713232" y="1828800"/>
            <a:ext cx="2029968" cy="1207008"/>
          </a:xfrm>
          <a:prstGeom prst="roundRect">
            <a:avLst>
              <a:gd name="adj" fmla="val 10606"/>
            </a:avLst>
          </a:prstGeom>
          <a:solidFill>
            <a:srgbClr val="F7F2F4"/>
          </a:solidFill>
          <a:ln/>
        </p:spPr>
      </p:sp>
      <p:sp>
        <p:nvSpPr>
          <p:cNvPr id="5" name="Text 3"/>
          <p:cNvSpPr/>
          <p:nvPr/>
        </p:nvSpPr>
        <p:spPr>
          <a:xfrm>
            <a:off x="987552" y="2011680"/>
            <a:ext cx="1554480" cy="54864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34</a:t>
            </a:r>
            <a:endParaRPr lang="en-US" sz="3400" dirty="0"/>
          </a:p>
        </p:txBody>
      </p:sp>
      <p:sp>
        <p:nvSpPr>
          <p:cNvPr id="6" name="Text 4"/>
          <p:cNvSpPr/>
          <p:nvPr/>
        </p:nvSpPr>
        <p:spPr>
          <a:xfrm>
            <a:off x="987552" y="2578608"/>
            <a:ext cx="1600200" cy="365760"/>
          </a:xfrm>
          <a:prstGeom prst="rect">
            <a:avLst/>
          </a:prstGeom>
          <a:noFill/>
          <a:ln/>
        </p:spPr>
        <p:txBody>
          <a:bodyPr wrap="square" lIns="0" tIns="0" rIns="0" bIns="0" rtlCol="0" anchor="ctr"/>
          <a:lstStyle/>
          <a:p>
            <a:pPr indent="0" marL="0">
              <a:buNone/>
            </a:pPr>
            <a:r>
              <a:rPr lang="en-US" sz="1200" dirty="0">
                <a:solidFill>
                  <a:srgbClr val="7A6068"/>
                </a:solidFill>
                <a:latin typeface="Calibri" pitchFamily="34" charset="0"/>
                <a:ea typeface="Calibri" pitchFamily="34" charset="-122"/>
                <a:cs typeface="Calibri" pitchFamily="34" charset="-120"/>
              </a:rPr>
              <a:t>posts published</a:t>
            </a:r>
            <a:endParaRPr lang="en-US" sz="1200" dirty="0"/>
          </a:p>
        </p:txBody>
      </p:sp>
      <p:sp>
        <p:nvSpPr>
          <p:cNvPr id="7" name="Shape 5"/>
          <p:cNvSpPr/>
          <p:nvPr/>
        </p:nvSpPr>
        <p:spPr>
          <a:xfrm>
            <a:off x="2999232" y="1828800"/>
            <a:ext cx="2029968" cy="1207008"/>
          </a:xfrm>
          <a:prstGeom prst="roundRect">
            <a:avLst>
              <a:gd name="adj" fmla="val 10606"/>
            </a:avLst>
          </a:prstGeom>
          <a:solidFill>
            <a:srgbClr val="F7F2F4"/>
          </a:solidFill>
          <a:ln/>
        </p:spPr>
      </p:sp>
      <p:sp>
        <p:nvSpPr>
          <p:cNvPr id="8" name="Text 6"/>
          <p:cNvSpPr/>
          <p:nvPr/>
        </p:nvSpPr>
        <p:spPr>
          <a:xfrm>
            <a:off x="3273552" y="2011680"/>
            <a:ext cx="1554480" cy="54864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1,209</a:t>
            </a:r>
            <a:endParaRPr lang="en-US" sz="3400" dirty="0"/>
          </a:p>
        </p:txBody>
      </p:sp>
      <p:sp>
        <p:nvSpPr>
          <p:cNvPr id="9" name="Text 7"/>
          <p:cNvSpPr/>
          <p:nvPr/>
        </p:nvSpPr>
        <p:spPr>
          <a:xfrm>
            <a:off x="3273552" y="2578608"/>
            <a:ext cx="1600200" cy="365760"/>
          </a:xfrm>
          <a:prstGeom prst="rect">
            <a:avLst/>
          </a:prstGeom>
          <a:noFill/>
          <a:ln/>
        </p:spPr>
        <p:txBody>
          <a:bodyPr wrap="square" lIns="0" tIns="0" rIns="0" bIns="0" rtlCol="0" anchor="ctr"/>
          <a:lstStyle/>
          <a:p>
            <a:pPr indent="0" marL="0">
              <a:buNone/>
            </a:pPr>
            <a:r>
              <a:rPr lang="en-US" sz="1200" dirty="0">
                <a:solidFill>
                  <a:srgbClr val="7A6068"/>
                </a:solidFill>
                <a:latin typeface="Calibri" pitchFamily="34" charset="0"/>
                <a:ea typeface="Calibri" pitchFamily="34" charset="-122"/>
                <a:cs typeface="Calibri" pitchFamily="34" charset="-120"/>
              </a:rPr>
              <a:t>followers</a:t>
            </a:r>
            <a:endParaRPr lang="en-US" sz="1200" dirty="0"/>
          </a:p>
        </p:txBody>
      </p:sp>
      <p:sp>
        <p:nvSpPr>
          <p:cNvPr id="10" name="Shape 8"/>
          <p:cNvSpPr/>
          <p:nvPr/>
        </p:nvSpPr>
        <p:spPr>
          <a:xfrm>
            <a:off x="5285232" y="1828800"/>
            <a:ext cx="2029968" cy="1207008"/>
          </a:xfrm>
          <a:prstGeom prst="roundRect">
            <a:avLst>
              <a:gd name="adj" fmla="val 10606"/>
            </a:avLst>
          </a:prstGeom>
          <a:solidFill>
            <a:srgbClr val="F7F2F4"/>
          </a:solidFill>
          <a:ln/>
        </p:spPr>
      </p:sp>
      <p:sp>
        <p:nvSpPr>
          <p:cNvPr id="11" name="Text 9"/>
          <p:cNvSpPr/>
          <p:nvPr/>
        </p:nvSpPr>
        <p:spPr>
          <a:xfrm>
            <a:off x="5559552" y="2011680"/>
            <a:ext cx="1554480" cy="54864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1</a:t>
            </a:r>
            <a:endParaRPr lang="en-US" sz="3400" dirty="0"/>
          </a:p>
        </p:txBody>
      </p:sp>
      <p:sp>
        <p:nvSpPr>
          <p:cNvPr id="12" name="Text 10"/>
          <p:cNvSpPr/>
          <p:nvPr/>
        </p:nvSpPr>
        <p:spPr>
          <a:xfrm>
            <a:off x="5559552" y="2578608"/>
            <a:ext cx="1600200" cy="365760"/>
          </a:xfrm>
          <a:prstGeom prst="rect">
            <a:avLst/>
          </a:prstGeom>
          <a:noFill/>
          <a:ln/>
        </p:spPr>
        <p:txBody>
          <a:bodyPr wrap="square" lIns="0" tIns="0" rIns="0" bIns="0" rtlCol="0" anchor="ctr"/>
          <a:lstStyle/>
          <a:p>
            <a:pPr indent="0" marL="0">
              <a:buNone/>
            </a:pPr>
            <a:r>
              <a:rPr lang="en-US" sz="1200" dirty="0">
                <a:solidFill>
                  <a:srgbClr val="7A6068"/>
                </a:solidFill>
                <a:latin typeface="Calibri" pitchFamily="34" charset="0"/>
                <a:ea typeface="Calibri" pitchFamily="34" charset="-122"/>
                <a:cs typeface="Calibri" pitchFamily="34" charset="-120"/>
              </a:rPr>
              <a:t>story highlight</a:t>
            </a:r>
            <a:endParaRPr lang="en-US" sz="1200" dirty="0"/>
          </a:p>
        </p:txBody>
      </p:sp>
      <p:sp>
        <p:nvSpPr>
          <p:cNvPr id="13" name="Shape 11"/>
          <p:cNvSpPr/>
          <p:nvPr/>
        </p:nvSpPr>
        <p:spPr>
          <a:xfrm>
            <a:off x="7571232" y="1828800"/>
            <a:ext cx="2029968" cy="1207008"/>
          </a:xfrm>
          <a:prstGeom prst="roundRect">
            <a:avLst>
              <a:gd name="adj" fmla="val 10606"/>
            </a:avLst>
          </a:prstGeom>
          <a:solidFill>
            <a:srgbClr val="F7F2F4"/>
          </a:solidFill>
          <a:ln/>
        </p:spPr>
      </p:sp>
      <p:sp>
        <p:nvSpPr>
          <p:cNvPr id="14" name="Text 12"/>
          <p:cNvSpPr/>
          <p:nvPr/>
        </p:nvSpPr>
        <p:spPr>
          <a:xfrm>
            <a:off x="7845552" y="2011680"/>
            <a:ext cx="1554480" cy="54864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0</a:t>
            </a:r>
            <a:endParaRPr lang="en-US" sz="3400" dirty="0"/>
          </a:p>
        </p:txBody>
      </p:sp>
      <p:sp>
        <p:nvSpPr>
          <p:cNvPr id="15" name="Text 13"/>
          <p:cNvSpPr/>
          <p:nvPr/>
        </p:nvSpPr>
        <p:spPr>
          <a:xfrm>
            <a:off x="7845552" y="2578608"/>
            <a:ext cx="1600200" cy="365760"/>
          </a:xfrm>
          <a:prstGeom prst="rect">
            <a:avLst/>
          </a:prstGeom>
          <a:noFill/>
          <a:ln/>
        </p:spPr>
        <p:txBody>
          <a:bodyPr wrap="square" lIns="0" tIns="0" rIns="0" bIns="0" rtlCol="0" anchor="ctr"/>
          <a:lstStyle/>
          <a:p>
            <a:pPr indent="0" marL="0">
              <a:buNone/>
            </a:pPr>
            <a:r>
              <a:rPr lang="en-US" sz="1200" dirty="0">
                <a:solidFill>
                  <a:srgbClr val="7A6068"/>
                </a:solidFill>
                <a:latin typeface="Calibri" pitchFamily="34" charset="0"/>
                <a:ea typeface="Calibri" pitchFamily="34" charset="-122"/>
                <a:cs typeface="Calibri" pitchFamily="34" charset="-120"/>
              </a:rPr>
              <a:t>pinned posts</a:t>
            </a:r>
            <a:endParaRPr lang="en-US" sz="1200" dirty="0"/>
          </a:p>
        </p:txBody>
      </p:sp>
      <p:sp>
        <p:nvSpPr>
          <p:cNvPr id="16" name="Text 14"/>
          <p:cNvSpPr/>
          <p:nvPr/>
        </p:nvSpPr>
        <p:spPr>
          <a:xfrm>
            <a:off x="713232" y="3566160"/>
            <a:ext cx="5212080" cy="502920"/>
          </a:xfrm>
          <a:prstGeom prst="rect">
            <a:avLst/>
          </a:prstGeom>
          <a:noFill/>
          <a:ln/>
        </p:spPr>
        <p:txBody>
          <a:bodyPr wrap="square" lIns="0" tIns="0" rIns="0" bIns="0" rtlCol="0" anchor="ctr"/>
          <a:lstStyle/>
          <a:p>
            <a:pPr indent="0" marL="0">
              <a:lnSpc>
                <a:spcPts val="2100"/>
              </a:lnSpc>
              <a:buNone/>
            </a:pPr>
            <a:r>
              <a:rPr lang="en-US" sz="1500" b="1" dirty="0">
                <a:solidFill>
                  <a:srgbClr val="4A7C59"/>
                </a:solidFill>
                <a:latin typeface="Calibri" pitchFamily="34" charset="0"/>
                <a:ea typeface="Calibri" pitchFamily="34" charset="-122"/>
                <a:cs typeface="Calibri" pitchFamily="34" charset="-120"/>
              </a:rPr>
              <a:t>✓   </a:t>
            </a:r>
            <a:pPr indent="0" marL="0">
              <a:lnSpc>
                <a:spcPts val="2100"/>
              </a:lnSpc>
              <a:buNone/>
            </a:pPr>
            <a:r>
              <a:rPr lang="en-US" sz="1500" dirty="0">
                <a:solidFill>
                  <a:srgbClr val="2B1620"/>
                </a:solidFill>
                <a:latin typeface="Calibri" pitchFamily="34" charset="0"/>
                <a:ea typeface="Calibri" pitchFamily="34" charset="-122"/>
                <a:cs typeface="Calibri" pitchFamily="34" charset="-120"/>
              </a:rPr>
              <a:t>You post consistently. Most people quit long before 34.</a:t>
            </a:r>
            <a:endParaRPr lang="en-US" sz="1500" dirty="0"/>
          </a:p>
        </p:txBody>
      </p:sp>
      <p:sp>
        <p:nvSpPr>
          <p:cNvPr id="17" name="Text 15"/>
          <p:cNvSpPr/>
          <p:nvPr/>
        </p:nvSpPr>
        <p:spPr>
          <a:xfrm>
            <a:off x="6199632" y="3566160"/>
            <a:ext cx="5212080" cy="502920"/>
          </a:xfrm>
          <a:prstGeom prst="rect">
            <a:avLst/>
          </a:prstGeom>
          <a:noFill/>
          <a:ln/>
        </p:spPr>
        <p:txBody>
          <a:bodyPr wrap="square" lIns="0" tIns="0" rIns="0" bIns="0" rtlCol="0" anchor="ctr"/>
          <a:lstStyle/>
          <a:p>
            <a:pPr indent="0" marL="0">
              <a:lnSpc>
                <a:spcPts val="2100"/>
              </a:lnSpc>
              <a:buNone/>
            </a:pPr>
            <a:r>
              <a:rPr lang="en-US" sz="1500" b="1" dirty="0">
                <a:solidFill>
                  <a:srgbClr val="4A7C59"/>
                </a:solidFill>
                <a:latin typeface="Calibri" pitchFamily="34" charset="0"/>
                <a:ea typeface="Calibri" pitchFamily="34" charset="-122"/>
                <a:cs typeface="Calibri" pitchFamily="34" charset="-120"/>
              </a:rPr>
              <a:t>✓   </a:t>
            </a:r>
            <a:pPr indent="0" marL="0">
              <a:lnSpc>
                <a:spcPts val="2100"/>
              </a:lnSpc>
              <a:buNone/>
            </a:pPr>
            <a:r>
              <a:rPr lang="en-US" sz="1500" dirty="0">
                <a:solidFill>
                  <a:srgbClr val="2B1620"/>
                </a:solidFill>
                <a:latin typeface="Calibri" pitchFamily="34" charset="0"/>
                <a:ea typeface="Calibri" pitchFamily="34" charset="-122"/>
                <a:cs typeface="Calibri" pitchFamily="34" charset="-120"/>
              </a:rPr>
              <a:t>You write well. Your captions are the best thing on the account.</a:t>
            </a:r>
            <a:endParaRPr lang="en-US" sz="1500" dirty="0"/>
          </a:p>
        </p:txBody>
      </p:sp>
      <p:sp>
        <p:nvSpPr>
          <p:cNvPr id="18" name="Text 16"/>
          <p:cNvSpPr/>
          <p:nvPr/>
        </p:nvSpPr>
        <p:spPr>
          <a:xfrm>
            <a:off x="713232" y="4169664"/>
            <a:ext cx="5212080" cy="502920"/>
          </a:xfrm>
          <a:prstGeom prst="rect">
            <a:avLst/>
          </a:prstGeom>
          <a:noFill/>
          <a:ln/>
        </p:spPr>
        <p:txBody>
          <a:bodyPr wrap="square" lIns="0" tIns="0" rIns="0" bIns="0" rtlCol="0" anchor="ctr"/>
          <a:lstStyle/>
          <a:p>
            <a:pPr indent="0" marL="0">
              <a:lnSpc>
                <a:spcPts val="2100"/>
              </a:lnSpc>
              <a:buNone/>
            </a:pPr>
            <a:r>
              <a:rPr lang="en-US" sz="1500" b="1" dirty="0">
                <a:solidFill>
                  <a:srgbClr val="4A7C59"/>
                </a:solidFill>
                <a:latin typeface="Calibri" pitchFamily="34" charset="0"/>
                <a:ea typeface="Calibri" pitchFamily="34" charset="-122"/>
                <a:cs typeface="Calibri" pitchFamily="34" charset="-120"/>
              </a:rPr>
              <a:t>✓   </a:t>
            </a:r>
            <a:pPr indent="0" marL="0">
              <a:lnSpc>
                <a:spcPts val="2100"/>
              </a:lnSpc>
              <a:buNone/>
            </a:pPr>
            <a:r>
              <a:rPr lang="en-US" sz="1500" dirty="0">
                <a:solidFill>
                  <a:srgbClr val="2B1620"/>
                </a:solidFill>
                <a:latin typeface="Calibri" pitchFamily="34" charset="0"/>
                <a:ea typeface="Calibri" pitchFamily="34" charset="-122"/>
                <a:cs typeface="Calibri" pitchFamily="34" charset="-120"/>
              </a:rPr>
              <a:t>You're at ease on camera. That's rarer than you'd think.</a:t>
            </a:r>
            <a:endParaRPr lang="en-US" sz="1500" dirty="0"/>
          </a:p>
        </p:txBody>
      </p:sp>
      <p:sp>
        <p:nvSpPr>
          <p:cNvPr id="19" name="Text 17"/>
          <p:cNvSpPr/>
          <p:nvPr/>
        </p:nvSpPr>
        <p:spPr>
          <a:xfrm>
            <a:off x="6199632" y="4169664"/>
            <a:ext cx="5212080" cy="502920"/>
          </a:xfrm>
          <a:prstGeom prst="rect">
            <a:avLst/>
          </a:prstGeom>
          <a:noFill/>
          <a:ln/>
        </p:spPr>
        <p:txBody>
          <a:bodyPr wrap="square" lIns="0" tIns="0" rIns="0" bIns="0" rtlCol="0" anchor="ctr"/>
          <a:lstStyle/>
          <a:p>
            <a:pPr indent="0" marL="0">
              <a:lnSpc>
                <a:spcPts val="2100"/>
              </a:lnSpc>
              <a:buNone/>
            </a:pPr>
            <a:r>
              <a:rPr lang="en-US" sz="1500" b="1" dirty="0">
                <a:solidFill>
                  <a:srgbClr val="4A7C59"/>
                </a:solidFill>
                <a:latin typeface="Calibri" pitchFamily="34" charset="0"/>
                <a:ea typeface="Calibri" pitchFamily="34" charset="-122"/>
                <a:cs typeface="Calibri" pitchFamily="34" charset="-120"/>
              </a:rPr>
              <a:t>✓   </a:t>
            </a:r>
            <a:pPr indent="0" marL="0">
              <a:lnSpc>
                <a:spcPts val="2100"/>
              </a:lnSpc>
              <a:buNone/>
            </a:pPr>
            <a:r>
              <a:rPr lang="en-US" sz="1500" dirty="0">
                <a:solidFill>
                  <a:srgbClr val="2B1620"/>
                </a:solidFill>
                <a:latin typeface="Calibri" pitchFamily="34" charset="0"/>
                <a:ea typeface="Calibri" pitchFamily="34" charset="-122"/>
                <a:cs typeface="Calibri" pitchFamily="34" charset="-120"/>
              </a:rPr>
              <a:t>You found Katie yourself. You can read a market.</a:t>
            </a:r>
            <a:endParaRPr lang="en-US" sz="1500" dirty="0"/>
          </a:p>
        </p:txBody>
      </p:sp>
      <p:sp>
        <p:nvSpPr>
          <p:cNvPr id="20" name="Text 18"/>
          <p:cNvSpPr/>
          <p:nvPr/>
        </p:nvSpPr>
        <p:spPr>
          <a:xfrm>
            <a:off x="713232" y="4773168"/>
            <a:ext cx="5212080" cy="502920"/>
          </a:xfrm>
          <a:prstGeom prst="rect">
            <a:avLst/>
          </a:prstGeom>
          <a:noFill/>
          <a:ln/>
        </p:spPr>
        <p:txBody>
          <a:bodyPr wrap="square" lIns="0" tIns="0" rIns="0" bIns="0" rtlCol="0" anchor="ctr"/>
          <a:lstStyle/>
          <a:p>
            <a:pPr indent="0" marL="0">
              <a:lnSpc>
                <a:spcPts val="2100"/>
              </a:lnSpc>
              <a:buNone/>
            </a:pPr>
            <a:r>
              <a:rPr lang="en-US" sz="1500" b="1" dirty="0">
                <a:solidFill>
                  <a:srgbClr val="4A7C59"/>
                </a:solidFill>
                <a:latin typeface="Calibri" pitchFamily="34" charset="0"/>
                <a:ea typeface="Calibri" pitchFamily="34" charset="-122"/>
                <a:cs typeface="Calibri" pitchFamily="34" charset="-120"/>
              </a:rPr>
              <a:t>✓   </a:t>
            </a:r>
            <a:pPr indent="0" marL="0">
              <a:lnSpc>
                <a:spcPts val="2100"/>
              </a:lnSpc>
              <a:buNone/>
            </a:pPr>
            <a:r>
              <a:rPr lang="en-US" sz="1500" dirty="0">
                <a:solidFill>
                  <a:srgbClr val="2B1620"/>
                </a:solidFill>
                <a:latin typeface="Calibri" pitchFamily="34" charset="0"/>
                <a:ea typeface="Calibri" pitchFamily="34" charset="-122"/>
                <a:cs typeface="Calibri" pitchFamily="34" charset="-120"/>
              </a:rPr>
              <a:t>You're already networking — I saw your Threads replies.</a:t>
            </a:r>
            <a:endParaRPr lang="en-US" sz="1500" dirty="0"/>
          </a:p>
        </p:txBody>
      </p:sp>
      <p:sp>
        <p:nvSpPr>
          <p:cNvPr id="21" name="Text 19"/>
          <p:cNvSpPr/>
          <p:nvPr/>
        </p:nvSpPr>
        <p:spPr>
          <a:xfrm>
            <a:off x="6199632" y="4773168"/>
            <a:ext cx="5212080" cy="502920"/>
          </a:xfrm>
          <a:prstGeom prst="rect">
            <a:avLst/>
          </a:prstGeom>
          <a:noFill/>
          <a:ln/>
        </p:spPr>
        <p:txBody>
          <a:bodyPr wrap="square" lIns="0" tIns="0" rIns="0" bIns="0" rtlCol="0" anchor="ctr"/>
          <a:lstStyle/>
          <a:p>
            <a:pPr indent="0" marL="0">
              <a:lnSpc>
                <a:spcPts val="2100"/>
              </a:lnSpc>
              <a:buNone/>
            </a:pPr>
            <a:r>
              <a:rPr lang="en-US" sz="1500" b="1" dirty="0">
                <a:solidFill>
                  <a:srgbClr val="4A7C59"/>
                </a:solidFill>
                <a:latin typeface="Calibri" pitchFamily="34" charset="0"/>
                <a:ea typeface="Calibri" pitchFamily="34" charset="-122"/>
                <a:cs typeface="Calibri" pitchFamily="34" charset="-120"/>
              </a:rPr>
              <a:t>✓   </a:t>
            </a:r>
            <a:pPr indent="0" marL="0">
              <a:lnSpc>
                <a:spcPts val="2100"/>
              </a:lnSpc>
              <a:buNone/>
            </a:pPr>
            <a:r>
              <a:rPr lang="en-US" sz="1500" dirty="0">
                <a:solidFill>
                  <a:srgbClr val="2B1620"/>
                </a:solidFill>
                <a:latin typeface="Calibri" pitchFamily="34" charset="0"/>
                <a:ea typeface="Calibri" pitchFamily="34" charset="-122"/>
                <a:cs typeface="Calibri" pitchFamily="34" charset="-120"/>
              </a:rPr>
              <a:t>You test formats. The slider poll was a good instinct.</a:t>
            </a:r>
            <a:endParaRPr lang="en-US" sz="1500" dirty="0"/>
          </a:p>
        </p:txBody>
      </p:sp>
      <p:sp>
        <p:nvSpPr>
          <p:cNvPr id="22" name="Text 20"/>
          <p:cNvSpPr/>
          <p:nvPr/>
        </p:nvSpPr>
        <p:spPr>
          <a:xfrm>
            <a:off x="713232" y="5532120"/>
            <a:ext cx="10735056" cy="640080"/>
          </a:xfrm>
          <a:prstGeom prst="rect">
            <a:avLst/>
          </a:prstGeom>
          <a:noFill/>
          <a:ln/>
        </p:spPr>
        <p:txBody>
          <a:bodyPr wrap="square" lIns="0" tIns="0" rIns="0" bIns="0" rtlCol="0" anchor="ctr"/>
          <a:lstStyle/>
          <a:p>
            <a:pPr indent="0" marL="0">
              <a:lnSpc>
                <a:spcPts val="2400"/>
              </a:lnSpc>
              <a:buNone/>
            </a:pPr>
            <a:r>
              <a:rPr lang="en-US" sz="1700" i="1" dirty="0">
                <a:solidFill>
                  <a:srgbClr val="D9A441"/>
                </a:solidFill>
                <a:latin typeface="Cambria" pitchFamily="34" charset="0"/>
                <a:ea typeface="Cambria" pitchFamily="34" charset="-122"/>
                <a:cs typeface="Cambria" pitchFamily="34" charset="-120"/>
              </a:rPr>
              <a:t>The problem isn't effort. It's that the effort is going in five directions at once.</a:t>
            </a:r>
            <a:endParaRPr lang="en-US" sz="1700" dirty="0"/>
          </a:p>
        </p:txBody>
      </p:sp>
      <p:sp>
        <p:nvSpPr>
          <p:cNvPr id="23" name="Text 21"/>
          <p:cNvSpPr/>
          <p:nvPr/>
        </p:nvSpPr>
        <p:spPr>
          <a:xfrm>
            <a:off x="713232" y="6309360"/>
            <a:ext cx="10735056" cy="320040"/>
          </a:xfrm>
          <a:prstGeom prst="rect">
            <a:avLst/>
          </a:prstGeom>
          <a:noFill/>
          <a:ln/>
        </p:spPr>
        <p:txBody>
          <a:bodyPr wrap="square" lIns="0" tIns="0" rIns="0" bIns="0" rtlCol="0" anchor="ctr"/>
          <a:lstStyle/>
          <a:p>
            <a:pPr indent="0" marL="0">
              <a:buNone/>
            </a:pPr>
            <a:r>
              <a:rPr lang="en-US" sz="1050" i="1" dirty="0">
                <a:solidFill>
                  <a:srgbClr val="7A6068"/>
                </a:solidFill>
                <a:latin typeface="Calibri" pitchFamily="34" charset="0"/>
                <a:ea typeface="Calibri" pitchFamily="34" charset="-122"/>
                <a:cs typeface="Calibri" pitchFamily="34" charset="-120"/>
              </a:rPr>
              <a:t>These are the public numbers on the day I looked. I haven't seen your Insights — your reach, your saves, where your followers actually come from. That's the first thing I'd want to go through with you.</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3232" y="420624"/>
            <a:ext cx="10735056" cy="274320"/>
          </a:xfrm>
          <a:prstGeom prst="rect">
            <a:avLst/>
          </a:prstGeom>
          <a:noFill/>
          <a:ln/>
        </p:spPr>
        <p:txBody>
          <a:bodyPr wrap="square" lIns="0" tIns="0" rIns="0" bIns="0" rtlCol="0" anchor="ctr"/>
          <a:lstStyle/>
          <a:p>
            <a:pPr indent="0" marL="0">
              <a:buNone/>
            </a:pPr>
            <a:r>
              <a:rPr lang="en-US" sz="1200" b="1" spc="220" kern="0" dirty="0">
                <a:solidFill>
                  <a:srgbClr val="A26769"/>
                </a:solidFill>
                <a:latin typeface="Calibri" pitchFamily="34" charset="0"/>
                <a:ea typeface="Calibri" pitchFamily="34" charset="-122"/>
                <a:cs typeface="Calibri" pitchFamily="34" charset="-120"/>
              </a:rPr>
              <a:t>PATTERN 01</a:t>
            </a:r>
            <a:endParaRPr lang="en-US" sz="1200" dirty="0"/>
          </a:p>
        </p:txBody>
      </p:sp>
      <p:sp>
        <p:nvSpPr>
          <p:cNvPr id="3" name="Text 1"/>
          <p:cNvSpPr/>
          <p:nvPr/>
        </p:nvSpPr>
        <p:spPr>
          <a:xfrm>
            <a:off x="713232" y="768096"/>
            <a:ext cx="10735056" cy="960120"/>
          </a:xfrm>
          <a:prstGeom prst="rect">
            <a:avLst/>
          </a:prstGeom>
          <a:noFill/>
          <a:ln/>
        </p:spPr>
        <p:txBody>
          <a:bodyPr wrap="square" lIns="0" tIns="0" rIns="0" bIns="0" rtlCol="0" anchor="ctr"/>
          <a:lstStyle/>
          <a:p>
            <a:pPr indent="0" marL="0">
              <a:lnSpc>
                <a:spcPts val="4500"/>
              </a:lnSpc>
              <a:buNone/>
            </a:pPr>
            <a:r>
              <a:rPr lang="en-US" sz="3900" b="1" dirty="0">
                <a:solidFill>
                  <a:srgbClr val="2B1620"/>
                </a:solidFill>
                <a:latin typeface="Cambria" pitchFamily="34" charset="0"/>
                <a:ea typeface="Cambria" pitchFamily="34" charset="-122"/>
                <a:cs typeface="Cambria" pitchFamily="34" charset="-120"/>
              </a:rPr>
              <a:t>Five places you show up. Five different Juhis.</a:t>
            </a:r>
            <a:endParaRPr lang="en-US" sz="3900" dirty="0"/>
          </a:p>
        </p:txBody>
      </p:sp>
      <p:sp>
        <p:nvSpPr>
          <p:cNvPr id="4" name="Shape 2"/>
          <p:cNvSpPr/>
          <p:nvPr/>
        </p:nvSpPr>
        <p:spPr>
          <a:xfrm>
            <a:off x="713232" y="1874520"/>
            <a:ext cx="10735056" cy="603504"/>
          </a:xfrm>
          <a:prstGeom prst="roundRect">
            <a:avLst>
              <a:gd name="adj" fmla="val 15152"/>
            </a:avLst>
          </a:prstGeom>
          <a:solidFill>
            <a:srgbClr val="F7F2F4"/>
          </a:solidFill>
          <a:ln/>
        </p:spPr>
      </p:sp>
      <p:sp>
        <p:nvSpPr>
          <p:cNvPr id="5" name="Text 3"/>
          <p:cNvSpPr/>
          <p:nvPr/>
        </p:nvSpPr>
        <p:spPr>
          <a:xfrm>
            <a:off x="1024128" y="1874520"/>
            <a:ext cx="2286000" cy="603504"/>
          </a:xfrm>
          <a:prstGeom prst="rect">
            <a:avLst/>
          </a:prstGeom>
          <a:noFill/>
          <a:ln/>
        </p:spPr>
        <p:txBody>
          <a:bodyPr wrap="square" lIns="0" tIns="0" rIns="0" bIns="0" rtlCol="0" anchor="ctr"/>
          <a:lstStyle/>
          <a:p>
            <a:pPr indent="0" marL="0">
              <a:buNone/>
            </a:pPr>
            <a:r>
              <a:rPr lang="en-US" sz="1300" b="1" dirty="0">
                <a:solidFill>
                  <a:srgbClr val="7A6068"/>
                </a:solidFill>
                <a:latin typeface="Calibri" pitchFamily="34" charset="0"/>
                <a:ea typeface="Calibri" pitchFamily="34" charset="-122"/>
                <a:cs typeface="Calibri" pitchFamily="34" charset="-120"/>
              </a:rPr>
              <a:t>Your bio</a:t>
            </a:r>
            <a:endParaRPr lang="en-US" sz="1300" dirty="0"/>
          </a:p>
        </p:txBody>
      </p:sp>
      <p:sp>
        <p:nvSpPr>
          <p:cNvPr id="6" name="Text 4"/>
          <p:cNvSpPr/>
          <p:nvPr/>
        </p:nvSpPr>
        <p:spPr>
          <a:xfrm>
            <a:off x="3410712" y="1874520"/>
            <a:ext cx="7717536" cy="603504"/>
          </a:xfrm>
          <a:prstGeom prst="rect">
            <a:avLst/>
          </a:prstGeom>
          <a:noFill/>
          <a:ln/>
        </p:spPr>
        <p:txBody>
          <a:bodyPr wrap="square" lIns="0" tIns="0" rIns="0" bIns="0" rtlCol="0" anchor="ctr"/>
          <a:lstStyle/>
          <a:p>
            <a:pPr indent="0" marL="0">
              <a:buNone/>
            </a:pPr>
            <a:r>
              <a:rPr lang="en-US" sz="1550" dirty="0">
                <a:solidFill>
                  <a:srgbClr val="2B1620"/>
                </a:solidFill>
                <a:latin typeface="Calibri" pitchFamily="34" charset="0"/>
                <a:ea typeface="Calibri" pitchFamily="34" charset="-122"/>
                <a:cs typeface="Calibri" pitchFamily="34" charset="-120"/>
              </a:rPr>
              <a:t>Overcome burnout · Mindset · Healing · Confidence</a:t>
            </a:r>
            <a:endParaRPr lang="en-US" sz="1550" dirty="0"/>
          </a:p>
        </p:txBody>
      </p:sp>
      <p:sp>
        <p:nvSpPr>
          <p:cNvPr id="7" name="Shape 5"/>
          <p:cNvSpPr/>
          <p:nvPr/>
        </p:nvSpPr>
        <p:spPr>
          <a:xfrm>
            <a:off x="713232" y="2578608"/>
            <a:ext cx="10735056" cy="603504"/>
          </a:xfrm>
          <a:prstGeom prst="roundRect">
            <a:avLst>
              <a:gd name="adj" fmla="val 15152"/>
            </a:avLst>
          </a:prstGeom>
          <a:solidFill>
            <a:srgbClr val="F7F2F4"/>
          </a:solidFill>
          <a:ln/>
        </p:spPr>
      </p:sp>
      <p:sp>
        <p:nvSpPr>
          <p:cNvPr id="8" name="Text 6"/>
          <p:cNvSpPr/>
          <p:nvPr/>
        </p:nvSpPr>
        <p:spPr>
          <a:xfrm>
            <a:off x="1024128" y="2578608"/>
            <a:ext cx="2286000" cy="603504"/>
          </a:xfrm>
          <a:prstGeom prst="rect">
            <a:avLst/>
          </a:prstGeom>
          <a:noFill/>
          <a:ln/>
        </p:spPr>
        <p:txBody>
          <a:bodyPr wrap="square" lIns="0" tIns="0" rIns="0" bIns="0" rtlCol="0" anchor="ctr"/>
          <a:lstStyle/>
          <a:p>
            <a:pPr indent="0" marL="0">
              <a:buNone/>
            </a:pPr>
            <a:r>
              <a:rPr lang="en-US" sz="1300" b="1" dirty="0">
                <a:solidFill>
                  <a:srgbClr val="7A6068"/>
                </a:solidFill>
                <a:latin typeface="Calibri" pitchFamily="34" charset="0"/>
                <a:ea typeface="Calibri" pitchFamily="34" charset="-122"/>
                <a:cs typeface="Calibri" pitchFamily="34" charset="-120"/>
              </a:rPr>
              <a:t>Most of your posts</a:t>
            </a:r>
            <a:endParaRPr lang="en-US" sz="1300" dirty="0"/>
          </a:p>
        </p:txBody>
      </p:sp>
      <p:sp>
        <p:nvSpPr>
          <p:cNvPr id="9" name="Text 7"/>
          <p:cNvSpPr/>
          <p:nvPr/>
        </p:nvSpPr>
        <p:spPr>
          <a:xfrm>
            <a:off x="3410712" y="2578608"/>
            <a:ext cx="7717536" cy="603504"/>
          </a:xfrm>
          <a:prstGeom prst="rect">
            <a:avLst/>
          </a:prstGeom>
          <a:noFill/>
          <a:ln/>
        </p:spPr>
        <p:txBody>
          <a:bodyPr wrap="square" lIns="0" tIns="0" rIns="0" bIns="0" rtlCol="0" anchor="ctr"/>
          <a:lstStyle/>
          <a:p>
            <a:pPr indent="0" marL="0">
              <a:buNone/>
            </a:pPr>
            <a:r>
              <a:rPr lang="en-US" sz="1550" dirty="0">
                <a:solidFill>
                  <a:srgbClr val="2B1620"/>
                </a:solidFill>
                <a:latin typeface="Calibri" pitchFamily="34" charset="0"/>
                <a:ea typeface="Calibri" pitchFamily="34" charset="-122"/>
                <a:cs typeface="Calibri" pitchFamily="34" charset="-120"/>
              </a:rPr>
              <a:t>Save your marriage</a:t>
            </a:r>
            <a:endParaRPr lang="en-US" sz="1550" dirty="0"/>
          </a:p>
        </p:txBody>
      </p:sp>
      <p:sp>
        <p:nvSpPr>
          <p:cNvPr id="10" name="Shape 8"/>
          <p:cNvSpPr/>
          <p:nvPr/>
        </p:nvSpPr>
        <p:spPr>
          <a:xfrm>
            <a:off x="713232" y="3282696"/>
            <a:ext cx="10735056" cy="603504"/>
          </a:xfrm>
          <a:prstGeom prst="roundRect">
            <a:avLst>
              <a:gd name="adj" fmla="val 15152"/>
            </a:avLst>
          </a:prstGeom>
          <a:solidFill>
            <a:srgbClr val="F7F2F4"/>
          </a:solidFill>
          <a:ln/>
        </p:spPr>
      </p:sp>
      <p:sp>
        <p:nvSpPr>
          <p:cNvPr id="11" name="Text 9"/>
          <p:cNvSpPr/>
          <p:nvPr/>
        </p:nvSpPr>
        <p:spPr>
          <a:xfrm>
            <a:off x="1024128" y="3282696"/>
            <a:ext cx="2286000" cy="603504"/>
          </a:xfrm>
          <a:prstGeom prst="rect">
            <a:avLst/>
          </a:prstGeom>
          <a:noFill/>
          <a:ln/>
        </p:spPr>
        <p:txBody>
          <a:bodyPr wrap="square" lIns="0" tIns="0" rIns="0" bIns="0" rtlCol="0" anchor="ctr"/>
          <a:lstStyle/>
          <a:p>
            <a:pPr indent="0" marL="0">
              <a:buNone/>
            </a:pPr>
            <a:r>
              <a:rPr lang="en-US" sz="1300" b="1" dirty="0">
                <a:solidFill>
                  <a:srgbClr val="7A6068"/>
                </a:solidFill>
                <a:latin typeface="Calibri" pitchFamily="34" charset="0"/>
                <a:ea typeface="Calibri" pitchFamily="34" charset="-122"/>
                <a:cs typeface="Calibri" pitchFamily="34" charset="-120"/>
              </a:rPr>
              <a:t>Your Stories</a:t>
            </a:r>
            <a:endParaRPr lang="en-US" sz="1300" dirty="0"/>
          </a:p>
        </p:txBody>
      </p:sp>
      <p:sp>
        <p:nvSpPr>
          <p:cNvPr id="12" name="Text 10"/>
          <p:cNvSpPr/>
          <p:nvPr/>
        </p:nvSpPr>
        <p:spPr>
          <a:xfrm>
            <a:off x="3410712" y="3282696"/>
            <a:ext cx="7717536" cy="603504"/>
          </a:xfrm>
          <a:prstGeom prst="rect">
            <a:avLst/>
          </a:prstGeom>
          <a:noFill/>
          <a:ln/>
        </p:spPr>
        <p:txBody>
          <a:bodyPr wrap="square" lIns="0" tIns="0" rIns="0" bIns="0" rtlCol="0" anchor="ctr"/>
          <a:lstStyle/>
          <a:p>
            <a:pPr indent="0" marL="0">
              <a:buNone/>
            </a:pPr>
            <a:r>
              <a:rPr lang="en-US" sz="1550" dirty="0">
                <a:solidFill>
                  <a:srgbClr val="2B1620"/>
                </a:solidFill>
                <a:latin typeface="Calibri" pitchFamily="34" charset="0"/>
                <a:ea typeface="Calibri" pitchFamily="34" charset="-122"/>
                <a:cs typeface="Calibri" pitchFamily="34" charset="-120"/>
              </a:rPr>
              <a:t>Growth quotes, in a completely different visual style</a:t>
            </a:r>
            <a:endParaRPr lang="en-US" sz="1550" dirty="0"/>
          </a:p>
        </p:txBody>
      </p:sp>
      <p:sp>
        <p:nvSpPr>
          <p:cNvPr id="13" name="Shape 11"/>
          <p:cNvSpPr/>
          <p:nvPr/>
        </p:nvSpPr>
        <p:spPr>
          <a:xfrm>
            <a:off x="713232" y="3986784"/>
            <a:ext cx="10735056" cy="603504"/>
          </a:xfrm>
          <a:prstGeom prst="roundRect">
            <a:avLst>
              <a:gd name="adj" fmla="val 15152"/>
            </a:avLst>
          </a:prstGeom>
          <a:solidFill>
            <a:srgbClr val="F7F2F4"/>
          </a:solidFill>
          <a:ln/>
        </p:spPr>
      </p:sp>
      <p:sp>
        <p:nvSpPr>
          <p:cNvPr id="14" name="Text 12"/>
          <p:cNvSpPr/>
          <p:nvPr/>
        </p:nvSpPr>
        <p:spPr>
          <a:xfrm>
            <a:off x="1024128" y="3986784"/>
            <a:ext cx="2286000" cy="603504"/>
          </a:xfrm>
          <a:prstGeom prst="rect">
            <a:avLst/>
          </a:prstGeom>
          <a:noFill/>
          <a:ln/>
        </p:spPr>
        <p:txBody>
          <a:bodyPr wrap="square" lIns="0" tIns="0" rIns="0" bIns="0" rtlCol="0" anchor="ctr"/>
          <a:lstStyle/>
          <a:p>
            <a:pPr indent="0" marL="0">
              <a:buNone/>
            </a:pPr>
            <a:r>
              <a:rPr lang="en-US" sz="1300" b="1" dirty="0">
                <a:solidFill>
                  <a:srgbClr val="7A6068"/>
                </a:solidFill>
                <a:latin typeface="Calibri" pitchFamily="34" charset="0"/>
                <a:ea typeface="Calibri" pitchFamily="34" charset="-122"/>
                <a:cs typeface="Calibri" pitchFamily="34" charset="-120"/>
              </a:rPr>
              <a:t>Your Threads</a:t>
            </a:r>
            <a:endParaRPr lang="en-US" sz="1300" dirty="0"/>
          </a:p>
        </p:txBody>
      </p:sp>
      <p:sp>
        <p:nvSpPr>
          <p:cNvPr id="15" name="Text 13"/>
          <p:cNvSpPr/>
          <p:nvPr/>
        </p:nvSpPr>
        <p:spPr>
          <a:xfrm>
            <a:off x="3410712" y="3986784"/>
            <a:ext cx="7717536" cy="603504"/>
          </a:xfrm>
          <a:prstGeom prst="rect">
            <a:avLst/>
          </a:prstGeom>
          <a:noFill/>
          <a:ln/>
        </p:spPr>
        <p:txBody>
          <a:bodyPr wrap="square" lIns="0" tIns="0" rIns="0" bIns="0" rtlCol="0" anchor="ctr"/>
          <a:lstStyle/>
          <a:p>
            <a:pPr indent="0" marL="0">
              <a:buNone/>
            </a:pPr>
            <a:r>
              <a:rPr lang="en-US" sz="1550" dirty="0">
                <a:solidFill>
                  <a:srgbClr val="2B1620"/>
                </a:solidFill>
                <a:latin typeface="Calibri" pitchFamily="34" charset="0"/>
                <a:ea typeface="Calibri" pitchFamily="34" charset="-122"/>
                <a:cs typeface="Calibri" pitchFamily="34" charset="-120"/>
              </a:rPr>
              <a:t>Healing + productivity + accountability</a:t>
            </a:r>
            <a:endParaRPr lang="en-US" sz="1550" dirty="0"/>
          </a:p>
        </p:txBody>
      </p:sp>
      <p:sp>
        <p:nvSpPr>
          <p:cNvPr id="16" name="Shape 14"/>
          <p:cNvSpPr/>
          <p:nvPr/>
        </p:nvSpPr>
        <p:spPr>
          <a:xfrm>
            <a:off x="713232" y="4690872"/>
            <a:ext cx="10735056" cy="603504"/>
          </a:xfrm>
          <a:prstGeom prst="roundRect">
            <a:avLst>
              <a:gd name="adj" fmla="val 15152"/>
            </a:avLst>
          </a:prstGeom>
          <a:solidFill>
            <a:srgbClr val="6D2E46"/>
          </a:solidFill>
          <a:ln/>
        </p:spPr>
      </p:sp>
      <p:sp>
        <p:nvSpPr>
          <p:cNvPr id="17" name="Text 15"/>
          <p:cNvSpPr/>
          <p:nvPr/>
        </p:nvSpPr>
        <p:spPr>
          <a:xfrm>
            <a:off x="1024128" y="4690872"/>
            <a:ext cx="2286000" cy="603504"/>
          </a:xfrm>
          <a:prstGeom prst="rect">
            <a:avLst/>
          </a:prstGeom>
          <a:noFill/>
          <a:ln/>
        </p:spPr>
        <p:txBody>
          <a:bodyPr wrap="square" lIns="0" tIns="0" rIns="0" bIns="0" rtlCol="0" anchor="ctr"/>
          <a:lstStyle/>
          <a:p>
            <a:pPr indent="0" marL="0">
              <a:buNone/>
            </a:pPr>
            <a:r>
              <a:rPr lang="en-US" sz="1300" b="1" dirty="0">
                <a:solidFill>
                  <a:srgbClr val="C9AEB8"/>
                </a:solidFill>
                <a:latin typeface="Calibri" pitchFamily="34" charset="0"/>
                <a:ea typeface="Calibri" pitchFamily="34" charset="-122"/>
                <a:cs typeface="Calibri" pitchFamily="34" charset="-120"/>
              </a:rPr>
              <a:t>neXtHer — the real one</a:t>
            </a:r>
            <a:endParaRPr lang="en-US" sz="1300" dirty="0"/>
          </a:p>
        </p:txBody>
      </p:sp>
      <p:sp>
        <p:nvSpPr>
          <p:cNvPr id="18" name="Text 16"/>
          <p:cNvSpPr/>
          <p:nvPr/>
        </p:nvSpPr>
        <p:spPr>
          <a:xfrm>
            <a:off x="3410712" y="4690872"/>
            <a:ext cx="7717536" cy="603504"/>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AI, systems, income, independence</a:t>
            </a:r>
            <a:endParaRPr lang="en-US" sz="1550" dirty="0"/>
          </a:p>
        </p:txBody>
      </p:sp>
      <p:sp>
        <p:nvSpPr>
          <p:cNvPr id="19" name="Text 17"/>
          <p:cNvSpPr/>
          <p:nvPr/>
        </p:nvSpPr>
        <p:spPr>
          <a:xfrm>
            <a:off x="713232" y="5623560"/>
            <a:ext cx="10735056" cy="548640"/>
          </a:xfrm>
          <a:prstGeom prst="rect">
            <a:avLst/>
          </a:prstGeom>
          <a:noFill/>
          <a:ln/>
        </p:spPr>
        <p:txBody>
          <a:bodyPr wrap="square" lIns="0" tIns="0" rIns="0" bIns="0" rtlCol="0" anchor="ctr"/>
          <a:lstStyle/>
          <a:p>
            <a:pPr indent="0" marL="0">
              <a:lnSpc>
                <a:spcPts val="2200"/>
              </a:lnSpc>
              <a:buNone/>
            </a:pPr>
            <a:r>
              <a:rPr lang="en-US" sz="1550" b="1" dirty="0">
                <a:solidFill>
                  <a:srgbClr val="6D2E46"/>
                </a:solidFill>
                <a:latin typeface="Calibri" pitchFamily="34" charset="0"/>
                <a:ea typeface="Calibri" pitchFamily="34" charset="-122"/>
                <a:cs typeface="Calibri" pitchFamily="34" charset="-120"/>
              </a:rPr>
              <a:t>A new visitor has to guess which one you are. Instagram has to guess too — and it guesses from what you post, not from your bio.</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3232" y="420624"/>
            <a:ext cx="10735056" cy="274320"/>
          </a:xfrm>
          <a:prstGeom prst="rect">
            <a:avLst/>
          </a:prstGeom>
          <a:noFill/>
          <a:ln/>
        </p:spPr>
        <p:txBody>
          <a:bodyPr wrap="square" lIns="0" tIns="0" rIns="0" bIns="0" rtlCol="0" anchor="ctr"/>
          <a:lstStyle/>
          <a:p>
            <a:pPr indent="0" marL="0">
              <a:buNone/>
            </a:pPr>
            <a:r>
              <a:rPr lang="en-US" sz="1200" b="1" spc="220" kern="0" dirty="0">
                <a:solidFill>
                  <a:srgbClr val="A26769"/>
                </a:solidFill>
                <a:latin typeface="Calibri" pitchFamily="34" charset="0"/>
                <a:ea typeface="Calibri" pitchFamily="34" charset="-122"/>
                <a:cs typeface="Calibri" pitchFamily="34" charset="-120"/>
              </a:rPr>
              <a:t>PATTERN 02 · MY FAVOURITE THING I FOUND</a:t>
            </a:r>
            <a:endParaRPr lang="en-US" sz="1200" dirty="0"/>
          </a:p>
        </p:txBody>
      </p:sp>
      <p:sp>
        <p:nvSpPr>
          <p:cNvPr id="3" name="Text 1"/>
          <p:cNvSpPr/>
          <p:nvPr/>
        </p:nvSpPr>
        <p:spPr>
          <a:xfrm>
            <a:off x="713232" y="768096"/>
            <a:ext cx="10735056" cy="960120"/>
          </a:xfrm>
          <a:prstGeom prst="rect">
            <a:avLst/>
          </a:prstGeom>
          <a:noFill/>
          <a:ln/>
        </p:spPr>
        <p:txBody>
          <a:bodyPr wrap="square" lIns="0" tIns="0" rIns="0" bIns="0" rtlCol="0" anchor="ctr"/>
          <a:lstStyle/>
          <a:p>
            <a:pPr indent="0" marL="0">
              <a:lnSpc>
                <a:spcPts val="4500"/>
              </a:lnSpc>
              <a:buNone/>
            </a:pPr>
            <a:r>
              <a:rPr lang="en-US" sz="3900" b="1" dirty="0">
                <a:solidFill>
                  <a:srgbClr val="2B1620"/>
                </a:solidFill>
                <a:latin typeface="Cambria" pitchFamily="34" charset="0"/>
                <a:ea typeface="Cambria" pitchFamily="34" charset="-122"/>
                <a:cs typeface="Cambria" pitchFamily="34" charset="-120"/>
              </a:rPr>
              <a:t>You've already written your best line</a:t>
            </a:r>
            <a:endParaRPr lang="en-US" sz="3900" dirty="0"/>
          </a:p>
        </p:txBody>
      </p:sp>
      <p:sp>
        <p:nvSpPr>
          <p:cNvPr id="4" name="Text 2"/>
          <p:cNvSpPr/>
          <p:nvPr/>
        </p:nvSpPr>
        <p:spPr>
          <a:xfrm>
            <a:off x="713232" y="1737360"/>
            <a:ext cx="10735056" cy="274320"/>
          </a:xfrm>
          <a:prstGeom prst="rect">
            <a:avLst/>
          </a:prstGeom>
          <a:noFill/>
          <a:ln/>
        </p:spPr>
        <p:txBody>
          <a:bodyPr wrap="square" lIns="0" tIns="0" rIns="0" bIns="0" rtlCol="0" anchor="ctr"/>
          <a:lstStyle/>
          <a:p>
            <a:pPr indent="0" marL="0">
              <a:buNone/>
            </a:pPr>
            <a:r>
              <a:rPr lang="en-US" sz="1500" dirty="0">
                <a:solidFill>
                  <a:srgbClr val="7A6068"/>
                </a:solidFill>
                <a:latin typeface="Calibri" pitchFamily="34" charset="0"/>
                <a:ea typeface="Calibri" pitchFamily="34" charset="-122"/>
                <a:cs typeface="Calibri" pitchFamily="34" charset="-120"/>
              </a:rPr>
              <a:t>You wrote this on Threads, in a reply, to a stranger:</a:t>
            </a:r>
            <a:endParaRPr lang="en-US" sz="1500" dirty="0"/>
          </a:p>
        </p:txBody>
      </p:sp>
      <p:sp>
        <p:nvSpPr>
          <p:cNvPr id="5" name="Shape 3"/>
          <p:cNvSpPr/>
          <p:nvPr/>
        </p:nvSpPr>
        <p:spPr>
          <a:xfrm>
            <a:off x="713232" y="2121408"/>
            <a:ext cx="10735056" cy="1572768"/>
          </a:xfrm>
          <a:prstGeom prst="roundRect">
            <a:avLst>
              <a:gd name="adj" fmla="val 8140"/>
            </a:avLst>
          </a:prstGeom>
          <a:solidFill>
            <a:srgbClr val="6D2E46"/>
          </a:solidFill>
          <a:ln/>
        </p:spPr>
      </p:sp>
      <p:sp>
        <p:nvSpPr>
          <p:cNvPr id="6" name="Text 4"/>
          <p:cNvSpPr/>
          <p:nvPr/>
        </p:nvSpPr>
        <p:spPr>
          <a:xfrm>
            <a:off x="1216152" y="2121408"/>
            <a:ext cx="9729216" cy="1572768"/>
          </a:xfrm>
          <a:prstGeom prst="rect">
            <a:avLst/>
          </a:prstGeom>
          <a:noFill/>
          <a:ln/>
        </p:spPr>
        <p:txBody>
          <a:bodyPr wrap="square" lIns="0" tIns="0" rIns="0" bIns="0" rtlCol="0" anchor="ctr"/>
          <a:lstStyle/>
          <a:p>
            <a:pPr indent="0" marL="0">
              <a:lnSpc>
                <a:spcPts val="3600"/>
              </a:lnSpc>
              <a:buNone/>
            </a:pPr>
            <a:r>
              <a:rPr lang="en-US" sz="2600" i="1" dirty="0">
                <a:solidFill>
                  <a:srgbClr val="FFFFFF"/>
                </a:solidFill>
                <a:latin typeface="Cambria" pitchFamily="34" charset="0"/>
                <a:ea typeface="Cambria" pitchFamily="34" charset="-122"/>
                <a:cs typeface="Cambria" pitchFamily="34" charset="-120"/>
              </a:rPr>
              <a:t>"I work with women who want to get </a:t>
            </a:r>
            <a:pPr indent="0" marL="0">
              <a:lnSpc>
                <a:spcPts val="3600"/>
              </a:lnSpc>
              <a:buNone/>
            </a:pPr>
            <a:r>
              <a:rPr lang="en-US" sz="2600" b="1" i="1" dirty="0">
                <a:solidFill>
                  <a:srgbClr val="D9A441"/>
                </a:solidFill>
                <a:latin typeface="Cambria" pitchFamily="34" charset="0"/>
                <a:ea typeface="Cambria" pitchFamily="34" charset="-122"/>
                <a:cs typeface="Cambria" pitchFamily="34" charset="-120"/>
              </a:rPr>
              <a:t>hotter, richer, more energized and more loved</a:t>
            </a:r>
            <a:pPr indent="0" marL="0">
              <a:lnSpc>
                <a:spcPts val="3600"/>
              </a:lnSpc>
              <a:buNone/>
            </a:pPr>
            <a:r>
              <a:rPr lang="en-US" sz="2600" i="1" dirty="0">
                <a:solidFill>
                  <a:srgbClr val="FFFFFF"/>
                </a:solidFill>
                <a:latin typeface="Cambria" pitchFamily="34" charset="0"/>
                <a:ea typeface="Cambria" pitchFamily="34" charset="-122"/>
                <a:cs typeface="Cambria" pitchFamily="34" charset="-120"/>
              </a:rPr>
              <a:t>."</a:t>
            </a:r>
            <a:endParaRPr lang="en-US" sz="2600" dirty="0"/>
          </a:p>
        </p:txBody>
      </p:sp>
      <p:sp>
        <p:nvSpPr>
          <p:cNvPr id="7" name="Text 5"/>
          <p:cNvSpPr/>
          <p:nvPr/>
        </p:nvSpPr>
        <p:spPr>
          <a:xfrm>
            <a:off x="713232" y="4041648"/>
            <a:ext cx="10735056" cy="274320"/>
          </a:xfrm>
          <a:prstGeom prst="rect">
            <a:avLst/>
          </a:prstGeom>
          <a:noFill/>
          <a:ln/>
        </p:spPr>
        <p:txBody>
          <a:bodyPr wrap="square" lIns="0" tIns="0" rIns="0" bIns="0" rtlCol="0" anchor="ctr"/>
          <a:lstStyle/>
          <a:p>
            <a:pPr indent="0" marL="0">
              <a:buNone/>
            </a:pPr>
            <a:r>
              <a:rPr lang="en-US" sz="1500" dirty="0">
                <a:solidFill>
                  <a:srgbClr val="7A6068"/>
                </a:solidFill>
                <a:latin typeface="Calibri" pitchFamily="34" charset="0"/>
                <a:ea typeface="Calibri" pitchFamily="34" charset="-122"/>
                <a:cs typeface="Calibri" pitchFamily="34" charset="-120"/>
              </a:rPr>
              <a:t>And this is your Instagram bio:</a:t>
            </a:r>
            <a:endParaRPr lang="en-US" sz="1500" dirty="0"/>
          </a:p>
        </p:txBody>
      </p:sp>
      <p:sp>
        <p:nvSpPr>
          <p:cNvPr id="8" name="Shape 6"/>
          <p:cNvSpPr/>
          <p:nvPr/>
        </p:nvSpPr>
        <p:spPr>
          <a:xfrm>
            <a:off x="713232" y="4407408"/>
            <a:ext cx="10735056" cy="786384"/>
          </a:xfrm>
          <a:prstGeom prst="roundRect">
            <a:avLst>
              <a:gd name="adj" fmla="val 16279"/>
            </a:avLst>
          </a:prstGeom>
          <a:solidFill>
            <a:srgbClr val="F7F2F4"/>
          </a:solidFill>
          <a:ln/>
        </p:spPr>
      </p:sp>
      <p:sp>
        <p:nvSpPr>
          <p:cNvPr id="9" name="Text 7"/>
          <p:cNvSpPr/>
          <p:nvPr/>
        </p:nvSpPr>
        <p:spPr>
          <a:xfrm>
            <a:off x="1216152" y="4407408"/>
            <a:ext cx="9729216" cy="786384"/>
          </a:xfrm>
          <a:prstGeom prst="rect">
            <a:avLst/>
          </a:prstGeom>
          <a:noFill/>
          <a:ln/>
        </p:spPr>
        <p:txBody>
          <a:bodyPr wrap="square" lIns="0" tIns="0" rIns="0" bIns="0" rtlCol="0" anchor="ctr"/>
          <a:lstStyle/>
          <a:p>
            <a:pPr indent="0" marL="0">
              <a:buNone/>
            </a:pPr>
            <a:r>
              <a:rPr lang="en-US" sz="1900" i="1" dirty="0">
                <a:solidFill>
                  <a:srgbClr val="7A6068"/>
                </a:solidFill>
                <a:latin typeface="Cambria" pitchFamily="34" charset="0"/>
                <a:ea typeface="Cambria" pitchFamily="34" charset="-122"/>
                <a:cs typeface="Cambria" pitchFamily="34" charset="-120"/>
              </a:rPr>
              <a:t>"Helping Ambitious Women Overcome Burnout"</a:t>
            </a:r>
            <a:endParaRPr lang="en-US" sz="1900" dirty="0"/>
          </a:p>
        </p:txBody>
      </p:sp>
      <p:sp>
        <p:nvSpPr>
          <p:cNvPr id="10" name="Text 8"/>
          <p:cNvSpPr/>
          <p:nvPr/>
        </p:nvSpPr>
        <p:spPr>
          <a:xfrm>
            <a:off x="713232" y="5577840"/>
            <a:ext cx="10735056" cy="640080"/>
          </a:xfrm>
          <a:prstGeom prst="rect">
            <a:avLst/>
          </a:prstGeom>
          <a:noFill/>
          <a:ln/>
        </p:spPr>
        <p:txBody>
          <a:bodyPr wrap="square" lIns="0" tIns="0" rIns="0" bIns="0" rtlCol="0" anchor="ctr"/>
          <a:lstStyle/>
          <a:p>
            <a:pPr indent="0" marL="0">
              <a:lnSpc>
                <a:spcPts val="2400"/>
              </a:lnSpc>
              <a:buNone/>
            </a:pPr>
            <a:r>
              <a:rPr lang="en-US" sz="1700" i="1" dirty="0">
                <a:solidFill>
                  <a:srgbClr val="D9A441"/>
                </a:solidFill>
                <a:latin typeface="Cambria" pitchFamily="34" charset="0"/>
                <a:ea typeface="Cambria" pitchFamily="34" charset="-122"/>
                <a:cs typeface="Cambria" pitchFamily="34" charset="-120"/>
              </a:rPr>
              <a:t>The first one is yours. You wrote it without thinking. It's sitting on an account with 3 followers.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3232" y="420624"/>
            <a:ext cx="10735056" cy="274320"/>
          </a:xfrm>
          <a:prstGeom prst="rect">
            <a:avLst/>
          </a:prstGeom>
          <a:noFill/>
          <a:ln/>
        </p:spPr>
        <p:txBody>
          <a:bodyPr wrap="square" lIns="0" tIns="0" rIns="0" bIns="0" rtlCol="0" anchor="ctr"/>
          <a:lstStyle/>
          <a:p>
            <a:pPr indent="0" marL="0">
              <a:buNone/>
            </a:pPr>
            <a:r>
              <a:rPr lang="en-US" sz="1200" b="1" spc="220" kern="0" dirty="0">
                <a:solidFill>
                  <a:srgbClr val="A26769"/>
                </a:solidFill>
                <a:latin typeface="Calibri" pitchFamily="34" charset="0"/>
                <a:ea typeface="Calibri" pitchFamily="34" charset="-122"/>
                <a:cs typeface="Calibri" pitchFamily="34" charset="-120"/>
              </a:rPr>
              <a:t>PATTERN 03</a:t>
            </a:r>
            <a:endParaRPr lang="en-US" sz="1200" dirty="0"/>
          </a:p>
        </p:txBody>
      </p:sp>
      <p:sp>
        <p:nvSpPr>
          <p:cNvPr id="3" name="Text 1"/>
          <p:cNvSpPr/>
          <p:nvPr/>
        </p:nvSpPr>
        <p:spPr>
          <a:xfrm>
            <a:off x="713232" y="768096"/>
            <a:ext cx="10735056" cy="960120"/>
          </a:xfrm>
          <a:prstGeom prst="rect">
            <a:avLst/>
          </a:prstGeom>
          <a:noFill/>
          <a:ln/>
        </p:spPr>
        <p:txBody>
          <a:bodyPr wrap="square" lIns="0" tIns="0" rIns="0" bIns="0" rtlCol="0" anchor="ctr"/>
          <a:lstStyle/>
          <a:p>
            <a:pPr indent="0" marL="0">
              <a:lnSpc>
                <a:spcPts val="4500"/>
              </a:lnSpc>
              <a:buNone/>
            </a:pPr>
            <a:r>
              <a:rPr lang="en-US" sz="3300" b="1" dirty="0">
                <a:solidFill>
                  <a:srgbClr val="2B1620"/>
                </a:solidFill>
                <a:latin typeface="Cambria" pitchFamily="34" charset="0"/>
                <a:ea typeface="Cambria" pitchFamily="34" charset="-122"/>
                <a:cs typeface="Cambria" pitchFamily="34" charset="-120"/>
              </a:rPr>
              <a:t>Your best writing is where the algorithm can't see it</a:t>
            </a:r>
            <a:endParaRPr lang="en-US" sz="3300" dirty="0"/>
          </a:p>
        </p:txBody>
      </p:sp>
      <p:sp>
        <p:nvSpPr>
          <p:cNvPr id="4" name="Shape 2"/>
          <p:cNvSpPr/>
          <p:nvPr/>
        </p:nvSpPr>
        <p:spPr>
          <a:xfrm>
            <a:off x="713232" y="1920240"/>
            <a:ext cx="5166360" cy="2057400"/>
          </a:xfrm>
          <a:prstGeom prst="roundRect">
            <a:avLst>
              <a:gd name="adj" fmla="val 6222"/>
            </a:avLst>
          </a:prstGeom>
          <a:solidFill>
            <a:srgbClr val="F7F2F4"/>
          </a:solidFill>
          <a:ln/>
        </p:spPr>
      </p:sp>
      <p:sp>
        <p:nvSpPr>
          <p:cNvPr id="5" name="Text 3"/>
          <p:cNvSpPr/>
          <p:nvPr/>
        </p:nvSpPr>
        <p:spPr>
          <a:xfrm>
            <a:off x="1078992" y="2157984"/>
            <a:ext cx="4480560" cy="274320"/>
          </a:xfrm>
          <a:prstGeom prst="rect">
            <a:avLst/>
          </a:prstGeom>
          <a:noFill/>
          <a:ln/>
        </p:spPr>
        <p:txBody>
          <a:bodyPr wrap="square" lIns="0" tIns="0" rIns="0" bIns="0" rtlCol="0" anchor="ctr"/>
          <a:lstStyle/>
          <a:p>
            <a:pPr indent="0" marL="0">
              <a:buNone/>
            </a:pPr>
            <a:r>
              <a:rPr lang="en-US" sz="1300" b="1" spc="140" kern="0" dirty="0">
                <a:solidFill>
                  <a:srgbClr val="6D2E46"/>
                </a:solidFill>
                <a:latin typeface="Calibri" pitchFamily="34" charset="0"/>
                <a:ea typeface="Calibri" pitchFamily="34" charset="-122"/>
                <a:cs typeface="Calibri" pitchFamily="34" charset="-120"/>
              </a:rPr>
              <a:t>ON THE VIDEO</a:t>
            </a:r>
            <a:endParaRPr lang="en-US" sz="1300" dirty="0"/>
          </a:p>
        </p:txBody>
      </p:sp>
      <p:sp>
        <p:nvSpPr>
          <p:cNvPr id="6" name="Text 4"/>
          <p:cNvSpPr/>
          <p:nvPr/>
        </p:nvSpPr>
        <p:spPr>
          <a:xfrm>
            <a:off x="1078992" y="2542032"/>
            <a:ext cx="4480560" cy="1188720"/>
          </a:xfrm>
          <a:prstGeom prst="rect">
            <a:avLst/>
          </a:prstGeom>
          <a:noFill/>
          <a:ln/>
        </p:spPr>
        <p:txBody>
          <a:bodyPr wrap="square" lIns="0" tIns="0" rIns="0" bIns="0" rtlCol="0" anchor="ctr"/>
          <a:lstStyle/>
          <a:p>
            <a:pPr indent="0" marL="0">
              <a:lnSpc>
                <a:spcPts val="2900"/>
              </a:lnSpc>
              <a:buNone/>
            </a:pPr>
            <a:r>
              <a:rPr lang="en-US" sz="2000" dirty="0">
                <a:solidFill>
                  <a:srgbClr val="2B1620"/>
                </a:solidFill>
                <a:latin typeface="Cambria" pitchFamily="34" charset="0"/>
                <a:ea typeface="Cambria" pitchFamily="34" charset="-122"/>
                <a:cs typeface="Cambria" pitchFamily="34" charset="-120"/>
              </a:rPr>
              <a:t>A title card over b-roll of you walking. Then two words:  "Read caption."</a:t>
            </a:r>
            <a:endParaRPr lang="en-US" sz="2000" dirty="0"/>
          </a:p>
        </p:txBody>
      </p:sp>
      <p:sp>
        <p:nvSpPr>
          <p:cNvPr id="7" name="Shape 5"/>
          <p:cNvSpPr/>
          <p:nvPr/>
        </p:nvSpPr>
        <p:spPr>
          <a:xfrm>
            <a:off x="6281928" y="1920240"/>
            <a:ext cx="5166360" cy="2057400"/>
          </a:xfrm>
          <a:prstGeom prst="roundRect">
            <a:avLst>
              <a:gd name="adj" fmla="val 6222"/>
            </a:avLst>
          </a:prstGeom>
          <a:solidFill>
            <a:srgbClr val="A26769"/>
          </a:solidFill>
          <a:ln/>
        </p:spPr>
      </p:sp>
      <p:sp>
        <p:nvSpPr>
          <p:cNvPr id="8" name="Text 6"/>
          <p:cNvSpPr/>
          <p:nvPr/>
        </p:nvSpPr>
        <p:spPr>
          <a:xfrm>
            <a:off x="6647688" y="2157984"/>
            <a:ext cx="4480560" cy="274320"/>
          </a:xfrm>
          <a:prstGeom prst="rect">
            <a:avLst/>
          </a:prstGeom>
          <a:noFill/>
          <a:ln/>
        </p:spPr>
        <p:txBody>
          <a:bodyPr wrap="square" lIns="0" tIns="0" rIns="0" bIns="0" rtlCol="0" anchor="ctr"/>
          <a:lstStyle/>
          <a:p>
            <a:pPr indent="0" marL="0">
              <a:buNone/>
            </a:pPr>
            <a:r>
              <a:rPr lang="en-US" sz="1300" b="1" spc="140" kern="0" dirty="0">
                <a:solidFill>
                  <a:srgbClr val="FFFFFF"/>
                </a:solidFill>
                <a:latin typeface="Calibri" pitchFamily="34" charset="0"/>
                <a:ea typeface="Calibri" pitchFamily="34" charset="-122"/>
                <a:cs typeface="Calibri" pitchFamily="34" charset="-120"/>
              </a:rPr>
              <a:t>IN THE CAPTION</a:t>
            </a:r>
            <a:endParaRPr lang="en-US" sz="1300" dirty="0"/>
          </a:p>
        </p:txBody>
      </p:sp>
      <p:sp>
        <p:nvSpPr>
          <p:cNvPr id="9" name="Text 7"/>
          <p:cNvSpPr/>
          <p:nvPr/>
        </p:nvSpPr>
        <p:spPr>
          <a:xfrm>
            <a:off x="6647688" y="2542032"/>
            <a:ext cx="4480560" cy="1188720"/>
          </a:xfrm>
          <a:prstGeom prst="rect">
            <a:avLst/>
          </a:prstGeom>
          <a:noFill/>
          <a:ln/>
        </p:spPr>
        <p:txBody>
          <a:bodyPr wrap="square" lIns="0" tIns="0" rIns="0" bIns="0" rtlCol="0" anchor="ctr"/>
          <a:lstStyle/>
          <a:p>
            <a:pPr indent="0" marL="0">
              <a:lnSpc>
                <a:spcPts val="2200"/>
              </a:lnSpc>
              <a:buNone/>
            </a:pPr>
            <a:r>
              <a:rPr lang="en-US" sz="1500" dirty="0">
                <a:solidFill>
                  <a:srgbClr val="FFFFFF"/>
                </a:solidFill>
                <a:latin typeface="Calibri" pitchFamily="34" charset="0"/>
                <a:ea typeface="Calibri" pitchFamily="34" charset="-122"/>
                <a:cs typeface="Calibri" pitchFamily="34" charset="-120"/>
              </a:rPr>
              <a:t>Four sentences that damage a relationship. Five habits that quietly destroy one. Structured, genuinely useful writing — often 300 words of it.</a:t>
            </a:r>
            <a:endParaRPr lang="en-US" sz="1500" dirty="0"/>
          </a:p>
        </p:txBody>
      </p:sp>
      <p:sp>
        <p:nvSpPr>
          <p:cNvPr id="10" name="Text 8"/>
          <p:cNvSpPr/>
          <p:nvPr/>
        </p:nvSpPr>
        <p:spPr>
          <a:xfrm>
            <a:off x="713232" y="4526280"/>
            <a:ext cx="10424160" cy="822960"/>
          </a:xfrm>
          <a:prstGeom prst="rect">
            <a:avLst/>
          </a:prstGeom>
          <a:noFill/>
          <a:ln/>
        </p:spPr>
        <p:txBody>
          <a:bodyPr wrap="square" lIns="0" tIns="0" rIns="0" bIns="0" rtlCol="0" anchor="ctr"/>
          <a:lstStyle/>
          <a:p>
            <a:pPr indent="0" marL="0">
              <a:lnSpc>
                <a:spcPts val="2600"/>
              </a:lnSpc>
              <a:buNone/>
            </a:pPr>
            <a:r>
              <a:rPr lang="en-US" sz="1750" dirty="0">
                <a:solidFill>
                  <a:srgbClr val="2B1620"/>
                </a:solidFill>
                <a:latin typeface="Calibri" pitchFamily="34" charset="0"/>
                <a:ea typeface="Calibri" pitchFamily="34" charset="-122"/>
                <a:cs typeface="Calibri" pitchFamily="34" charset="-120"/>
              </a:rPr>
              <a:t>Instagram ranks a reel on how long people watch the video. It can't read a caption. So your strongest work sits in the one place the platform doesn't count.</a:t>
            </a:r>
            <a:endParaRPr lang="en-US" sz="1750" dirty="0"/>
          </a:p>
        </p:txBody>
      </p:sp>
      <p:sp>
        <p:nvSpPr>
          <p:cNvPr id="11" name="Text 9"/>
          <p:cNvSpPr/>
          <p:nvPr/>
        </p:nvSpPr>
        <p:spPr>
          <a:xfrm>
            <a:off x="713232" y="5623560"/>
            <a:ext cx="10735056" cy="640080"/>
          </a:xfrm>
          <a:prstGeom prst="rect">
            <a:avLst/>
          </a:prstGeom>
          <a:noFill/>
          <a:ln/>
        </p:spPr>
        <p:txBody>
          <a:bodyPr wrap="square" lIns="0" tIns="0" rIns="0" bIns="0" rtlCol="0" anchor="ctr"/>
          <a:lstStyle/>
          <a:p>
            <a:pPr indent="0" marL="0">
              <a:lnSpc>
                <a:spcPts val="2400"/>
              </a:lnSpc>
              <a:buNone/>
            </a:pPr>
            <a:r>
              <a:rPr lang="en-US" sz="1700" i="1" dirty="0">
                <a:solidFill>
                  <a:srgbClr val="D9A441"/>
                </a:solidFill>
                <a:latin typeface="Cambria" pitchFamily="34" charset="0"/>
                <a:ea typeface="Cambria" pitchFamily="34" charset="-122"/>
                <a:cs typeface="Cambria" pitchFamily="34" charset="-120"/>
              </a:rPr>
              <a:t>The fix isn't writing less. It's saying it out loud, in the first five seconds.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D1B2E"/>
        </a:solidFill>
      </p:bgPr>
    </p:bg>
    <p:spTree>
      <p:nvGrpSpPr>
        <p:cNvPr id="1" name=""/>
        <p:cNvGrpSpPr/>
        <p:nvPr/>
      </p:nvGrpSpPr>
      <p:grpSpPr>
        <a:xfrm>
          <a:off x="0" y="0"/>
          <a:ext cx="0" cy="0"/>
          <a:chOff x="0" y="0"/>
          <a:chExt cx="0" cy="0"/>
        </a:xfrm>
      </p:grpSpPr>
      <p:sp>
        <p:nvSpPr>
          <p:cNvPr id="2" name="Shape 0"/>
          <p:cNvSpPr/>
          <p:nvPr/>
        </p:nvSpPr>
        <p:spPr>
          <a:xfrm>
            <a:off x="9326880" y="1188720"/>
            <a:ext cx="4023360" cy="4023360"/>
          </a:xfrm>
          <a:prstGeom prst="ellipse">
            <a:avLst/>
          </a:prstGeom>
          <a:solidFill>
            <a:srgbClr val="6D2E46"/>
          </a:solidFill>
          <a:ln/>
        </p:spPr>
      </p:sp>
      <p:sp>
        <p:nvSpPr>
          <p:cNvPr id="3" name="Text 1"/>
          <p:cNvSpPr/>
          <p:nvPr/>
        </p:nvSpPr>
        <p:spPr>
          <a:xfrm>
            <a:off x="713232" y="420624"/>
            <a:ext cx="10735056" cy="274320"/>
          </a:xfrm>
          <a:prstGeom prst="rect">
            <a:avLst/>
          </a:prstGeom>
          <a:noFill/>
          <a:ln/>
        </p:spPr>
        <p:txBody>
          <a:bodyPr wrap="square" lIns="0" tIns="0" rIns="0" bIns="0" rtlCol="0" anchor="ctr"/>
          <a:lstStyle/>
          <a:p>
            <a:pPr indent="0" marL="0">
              <a:buNone/>
            </a:pPr>
            <a:r>
              <a:rPr lang="en-US" sz="1200" b="1" spc="220" kern="0" dirty="0">
                <a:solidFill>
                  <a:srgbClr val="D9A441"/>
                </a:solidFill>
                <a:latin typeface="Calibri" pitchFamily="34" charset="0"/>
                <a:ea typeface="Calibri" pitchFamily="34" charset="-122"/>
                <a:cs typeface="Calibri" pitchFamily="34" charset="-120"/>
              </a:rPr>
              <a:t>PATTERN 04</a:t>
            </a:r>
            <a:endParaRPr lang="en-US" sz="1200" dirty="0"/>
          </a:p>
        </p:txBody>
      </p:sp>
      <p:sp>
        <p:nvSpPr>
          <p:cNvPr id="4" name="Text 2"/>
          <p:cNvSpPr/>
          <p:nvPr/>
        </p:nvSpPr>
        <p:spPr>
          <a:xfrm>
            <a:off x="713232" y="1554480"/>
            <a:ext cx="3657600" cy="1325880"/>
          </a:xfrm>
          <a:prstGeom prst="rect">
            <a:avLst/>
          </a:prstGeom>
          <a:noFill/>
          <a:ln/>
        </p:spPr>
        <p:txBody>
          <a:bodyPr wrap="square" lIns="0" tIns="0" rIns="0" bIns="0" rtlCol="0" anchor="ctr"/>
          <a:lstStyle/>
          <a:p>
            <a:pPr indent="0" marL="0">
              <a:buNone/>
            </a:pPr>
            <a:r>
              <a:rPr lang="en-US" sz="10800" b="1" dirty="0">
                <a:solidFill>
                  <a:srgbClr val="D9A441"/>
                </a:solidFill>
                <a:latin typeface="Cambria" pitchFamily="34" charset="0"/>
                <a:ea typeface="Cambria" pitchFamily="34" charset="-122"/>
                <a:cs typeface="Cambria" pitchFamily="34" charset="-120"/>
              </a:rPr>
              <a:t>34</a:t>
            </a:r>
            <a:endParaRPr lang="en-US" sz="10800" dirty="0"/>
          </a:p>
        </p:txBody>
      </p:sp>
      <p:sp>
        <p:nvSpPr>
          <p:cNvPr id="5" name="Text 3"/>
          <p:cNvSpPr/>
          <p:nvPr/>
        </p:nvSpPr>
        <p:spPr>
          <a:xfrm>
            <a:off x="713232" y="2834640"/>
            <a:ext cx="6400800" cy="365760"/>
          </a:xfrm>
          <a:prstGeom prst="rect">
            <a:avLst/>
          </a:prstGeom>
          <a:noFill/>
          <a:ln/>
        </p:spPr>
        <p:txBody>
          <a:bodyPr wrap="square" lIns="0" tIns="0" rIns="0" bIns="0" rtlCol="0" anchor="ctr"/>
          <a:lstStyle/>
          <a:p>
            <a:pPr indent="0" marL="0">
              <a:buNone/>
            </a:pPr>
            <a:r>
              <a:rPr lang="en-US" sz="1800" dirty="0">
                <a:solidFill>
                  <a:srgbClr val="C9AEB8"/>
                </a:solidFill>
                <a:latin typeface="Calibri" pitchFamily="34" charset="0"/>
                <a:ea typeface="Calibri" pitchFamily="34" charset="-122"/>
                <a:cs typeface="Calibri" pitchFamily="34" charset="-120"/>
              </a:rPr>
              <a:t>posts, and we still haven't heard your voice</a:t>
            </a:r>
            <a:endParaRPr lang="en-US" sz="1800" dirty="0"/>
          </a:p>
        </p:txBody>
      </p:sp>
      <p:sp>
        <p:nvSpPr>
          <p:cNvPr id="6" name="Text 4"/>
          <p:cNvSpPr/>
          <p:nvPr/>
        </p:nvSpPr>
        <p:spPr>
          <a:xfrm>
            <a:off x="713232" y="3657600"/>
            <a:ext cx="7680960" cy="64008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No talking-head. Not once.</a:t>
            </a:r>
            <a:endParaRPr lang="en-US" sz="3600" dirty="0"/>
          </a:p>
        </p:txBody>
      </p:sp>
      <p:sp>
        <p:nvSpPr>
          <p:cNvPr id="7" name="Text 5"/>
          <p:cNvSpPr/>
          <p:nvPr/>
        </p:nvSpPr>
        <p:spPr>
          <a:xfrm>
            <a:off x="713232" y="4526280"/>
            <a:ext cx="7680960" cy="914400"/>
          </a:xfrm>
          <a:prstGeom prst="rect">
            <a:avLst/>
          </a:prstGeom>
          <a:noFill/>
          <a:ln/>
        </p:spPr>
        <p:txBody>
          <a:bodyPr wrap="square" lIns="0" tIns="0" rIns="0" bIns="0" rtlCol="0" anchor="ctr"/>
          <a:lstStyle/>
          <a:p>
            <a:pPr indent="0" marL="0">
              <a:lnSpc>
                <a:spcPts val="2600"/>
              </a:lnSpc>
              <a:buNone/>
            </a:pPr>
            <a:r>
              <a:rPr lang="en-US" sz="1700" dirty="0">
                <a:solidFill>
                  <a:srgbClr val="C9AEB8"/>
                </a:solidFill>
                <a:latin typeface="Calibri" pitchFamily="34" charset="0"/>
                <a:ea typeface="Calibri" pitchFamily="34" charset="-122"/>
                <a:cs typeface="Calibri" pitchFamily="34" charset="-120"/>
              </a:rPr>
              <a:t>People buy a coach for </a:t>
            </a:r>
            <a:pPr indent="0" marL="0">
              <a:lnSpc>
                <a:spcPts val="2600"/>
              </a:lnSpc>
              <a:buNone/>
            </a:pPr>
            <a:r>
              <a:rPr lang="en-US" sz="1700" b="1" dirty="0">
                <a:solidFill>
                  <a:srgbClr val="FFFFFF"/>
                </a:solidFill>
                <a:latin typeface="Calibri" pitchFamily="34" charset="0"/>
                <a:ea typeface="Calibri" pitchFamily="34" charset="-122"/>
                <a:cs typeface="Calibri" pitchFamily="34" charset="-120"/>
              </a:rPr>
              <a:t>how she thinks</a:t>
            </a:r>
            <a:pPr indent="0" marL="0">
              <a:lnSpc>
                <a:spcPts val="2600"/>
              </a:lnSpc>
              <a:buNone/>
            </a:pPr>
            <a:r>
              <a:rPr lang="en-US" sz="1700" dirty="0">
                <a:solidFill>
                  <a:srgbClr val="C9AEB8"/>
                </a:solidFill>
                <a:latin typeface="Calibri" pitchFamily="34" charset="0"/>
                <a:ea typeface="Calibri" pitchFamily="34" charset="-122"/>
                <a:cs typeface="Calibri" pitchFamily="34" charset="-120"/>
              </a:rPr>
              <a:t> — the judgement, the warmth, the way she says a hard thing kindly. None of that has been heard yet.</a:t>
            </a:r>
            <a:endParaRPr lang="en-US" sz="1700" dirty="0"/>
          </a:p>
        </p:txBody>
      </p:sp>
      <p:sp>
        <p:nvSpPr>
          <p:cNvPr id="8" name="Text 6"/>
          <p:cNvSpPr/>
          <p:nvPr/>
        </p:nvSpPr>
        <p:spPr>
          <a:xfrm>
            <a:off x="713232" y="5760720"/>
            <a:ext cx="7680960" cy="640080"/>
          </a:xfrm>
          <a:prstGeom prst="rect">
            <a:avLst/>
          </a:prstGeom>
          <a:noFill/>
          <a:ln/>
        </p:spPr>
        <p:txBody>
          <a:bodyPr wrap="square" lIns="0" tIns="0" rIns="0" bIns="0" rtlCol="0" anchor="ctr"/>
          <a:lstStyle/>
          <a:p>
            <a:pPr indent="0" marL="0">
              <a:lnSpc>
                <a:spcPts val="2400"/>
              </a:lnSpc>
              <a:buNone/>
            </a:pPr>
            <a:r>
              <a:rPr lang="en-US" sz="1700" i="1" dirty="0">
                <a:solidFill>
                  <a:srgbClr val="D9A441"/>
                </a:solidFill>
                <a:latin typeface="Cambria" pitchFamily="34" charset="0"/>
                <a:ea typeface="Cambria" pitchFamily="34" charset="-122"/>
                <a:cs typeface="Cambria" pitchFamily="34" charset="-120"/>
              </a:rPr>
              <a:t>This is the cheapest fix on this list. It costs nothing but the decision.</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3232" y="420624"/>
            <a:ext cx="10735056" cy="274320"/>
          </a:xfrm>
          <a:prstGeom prst="rect">
            <a:avLst/>
          </a:prstGeom>
          <a:noFill/>
          <a:ln/>
        </p:spPr>
        <p:txBody>
          <a:bodyPr wrap="square" lIns="0" tIns="0" rIns="0" bIns="0" rtlCol="0" anchor="ctr"/>
          <a:lstStyle/>
          <a:p>
            <a:pPr indent="0" marL="0">
              <a:buNone/>
            </a:pPr>
            <a:r>
              <a:rPr lang="en-US" sz="1200" b="1" spc="220" kern="0" dirty="0">
                <a:solidFill>
                  <a:srgbClr val="A26769"/>
                </a:solidFill>
                <a:latin typeface="Calibri" pitchFamily="34" charset="0"/>
                <a:ea typeface="Calibri" pitchFamily="34" charset="-122"/>
                <a:cs typeface="Calibri" pitchFamily="34" charset="-120"/>
              </a:rPr>
              <a:t>PATTERN 05</a:t>
            </a:r>
            <a:endParaRPr lang="en-US" sz="1200" dirty="0"/>
          </a:p>
        </p:txBody>
      </p:sp>
      <p:sp>
        <p:nvSpPr>
          <p:cNvPr id="3" name="Text 1"/>
          <p:cNvSpPr/>
          <p:nvPr/>
        </p:nvSpPr>
        <p:spPr>
          <a:xfrm>
            <a:off x="713232" y="768096"/>
            <a:ext cx="10735056" cy="960120"/>
          </a:xfrm>
          <a:prstGeom prst="rect">
            <a:avLst/>
          </a:prstGeom>
          <a:noFill/>
          <a:ln/>
        </p:spPr>
        <p:txBody>
          <a:bodyPr wrap="square" lIns="0" tIns="0" rIns="0" bIns="0" rtlCol="0" anchor="ctr"/>
          <a:lstStyle/>
          <a:p>
            <a:pPr indent="0" marL="0">
              <a:lnSpc>
                <a:spcPts val="4500"/>
              </a:lnSpc>
              <a:buNone/>
            </a:pPr>
            <a:r>
              <a:rPr lang="en-US" sz="3900" b="1" dirty="0">
                <a:solidFill>
                  <a:srgbClr val="2B1620"/>
                </a:solidFill>
                <a:latin typeface="Cambria" pitchFamily="34" charset="0"/>
                <a:ea typeface="Cambria" pitchFamily="34" charset="-122"/>
                <a:cs typeface="Cambria" pitchFamily="34" charset="-120"/>
              </a:rPr>
              <a:t>You've already started — quietly</a:t>
            </a:r>
            <a:endParaRPr lang="en-US" sz="3900" dirty="0"/>
          </a:p>
        </p:txBody>
      </p:sp>
      <p:sp>
        <p:nvSpPr>
          <p:cNvPr id="4" name="Text 2"/>
          <p:cNvSpPr/>
          <p:nvPr/>
        </p:nvSpPr>
        <p:spPr>
          <a:xfrm>
            <a:off x="713232" y="1828800"/>
            <a:ext cx="10735056" cy="274320"/>
          </a:xfrm>
          <a:prstGeom prst="rect">
            <a:avLst/>
          </a:prstGeom>
          <a:noFill/>
          <a:ln/>
        </p:spPr>
        <p:txBody>
          <a:bodyPr wrap="square" lIns="0" tIns="0" rIns="0" bIns="0" rtlCol="0" anchor="ctr"/>
          <a:lstStyle/>
          <a:p>
            <a:pPr indent="0" marL="0">
              <a:buNone/>
            </a:pPr>
            <a:r>
              <a:rPr lang="en-US" sz="1500" dirty="0">
                <a:solidFill>
                  <a:srgbClr val="7A6068"/>
                </a:solidFill>
                <a:latin typeface="Calibri" pitchFamily="34" charset="0"/>
                <a:ea typeface="Calibri" pitchFamily="34" charset="-122"/>
                <a:cs typeface="Calibri" pitchFamily="34" charset="-120"/>
              </a:rPr>
              <a:t>One of your Stories, over a photo of your laptop:</a:t>
            </a:r>
            <a:endParaRPr lang="en-US" sz="1500" dirty="0"/>
          </a:p>
        </p:txBody>
      </p:sp>
      <p:sp>
        <p:nvSpPr>
          <p:cNvPr id="5" name="Shape 3"/>
          <p:cNvSpPr/>
          <p:nvPr/>
        </p:nvSpPr>
        <p:spPr>
          <a:xfrm>
            <a:off x="713232" y="2212848"/>
            <a:ext cx="10735056" cy="1280160"/>
          </a:xfrm>
          <a:prstGeom prst="roundRect">
            <a:avLst>
              <a:gd name="adj" fmla="val 10000"/>
            </a:avLst>
          </a:prstGeom>
          <a:solidFill>
            <a:srgbClr val="F7F2F4"/>
          </a:solidFill>
          <a:ln/>
        </p:spPr>
      </p:sp>
      <p:sp>
        <p:nvSpPr>
          <p:cNvPr id="6" name="Text 4"/>
          <p:cNvSpPr/>
          <p:nvPr/>
        </p:nvSpPr>
        <p:spPr>
          <a:xfrm>
            <a:off x="1216152" y="2212848"/>
            <a:ext cx="9729216" cy="1280160"/>
          </a:xfrm>
          <a:prstGeom prst="rect">
            <a:avLst/>
          </a:prstGeom>
          <a:noFill/>
          <a:ln/>
        </p:spPr>
        <p:txBody>
          <a:bodyPr wrap="square" lIns="0" tIns="0" rIns="0" bIns="0" rtlCol="0" anchor="ctr"/>
          <a:lstStyle/>
          <a:p>
            <a:pPr indent="0" marL="0">
              <a:buNone/>
            </a:pPr>
            <a:r>
              <a:rPr lang="en-US" sz="2900" b="1" dirty="0">
                <a:solidFill>
                  <a:srgbClr val="6D2E46"/>
                </a:solidFill>
                <a:latin typeface="Cambria" pitchFamily="34" charset="0"/>
                <a:ea typeface="Cambria" pitchFamily="34" charset="-122"/>
                <a:cs typeface="Cambria" pitchFamily="34" charset="-120"/>
              </a:rPr>
              <a:t>"Building something crazy for all my girlies ❤️ SO EXCITED"</a:t>
            </a:r>
            <a:endParaRPr lang="en-US" sz="2900" dirty="0"/>
          </a:p>
        </p:txBody>
      </p:sp>
      <p:sp>
        <p:nvSpPr>
          <p:cNvPr id="7" name="Text 5"/>
          <p:cNvSpPr/>
          <p:nvPr/>
        </p:nvSpPr>
        <p:spPr>
          <a:xfrm>
            <a:off x="713232" y="3931920"/>
            <a:ext cx="10424160" cy="731520"/>
          </a:xfrm>
          <a:prstGeom prst="rect">
            <a:avLst/>
          </a:prstGeom>
          <a:noFill/>
          <a:ln/>
        </p:spPr>
        <p:txBody>
          <a:bodyPr wrap="square" lIns="0" tIns="0" rIns="0" bIns="0" rtlCol="0" anchor="ctr"/>
          <a:lstStyle/>
          <a:p>
            <a:pPr indent="0" marL="0">
              <a:lnSpc>
                <a:spcPts val="2600"/>
              </a:lnSpc>
              <a:buNone/>
            </a:pPr>
            <a:r>
              <a:rPr lang="en-US" sz="1750" dirty="0">
                <a:solidFill>
                  <a:srgbClr val="2B1620"/>
                </a:solidFill>
                <a:latin typeface="Calibri" pitchFamily="34" charset="0"/>
                <a:ea typeface="Calibri" pitchFamily="34" charset="-122"/>
                <a:cs typeface="Calibri" pitchFamily="34" charset="-120"/>
              </a:rPr>
              <a:t>You're already announcing neXtHer. You're already excited about it. It just went somewhere that disappeared after 24 hours.</a:t>
            </a:r>
            <a:endParaRPr lang="en-US" sz="1750" dirty="0"/>
          </a:p>
        </p:txBody>
      </p:sp>
      <p:sp>
        <p:nvSpPr>
          <p:cNvPr id="8" name="Shape 6"/>
          <p:cNvSpPr/>
          <p:nvPr/>
        </p:nvSpPr>
        <p:spPr>
          <a:xfrm>
            <a:off x="713232" y="4846320"/>
            <a:ext cx="10735056" cy="1078992"/>
          </a:xfrm>
          <a:prstGeom prst="roundRect">
            <a:avLst>
              <a:gd name="adj" fmla="val 11864"/>
            </a:avLst>
          </a:prstGeom>
          <a:solidFill>
            <a:srgbClr val="6D2E46"/>
          </a:solidFill>
          <a:ln/>
        </p:spPr>
      </p:sp>
      <p:sp>
        <p:nvSpPr>
          <p:cNvPr id="9" name="Text 7"/>
          <p:cNvSpPr/>
          <p:nvPr/>
        </p:nvSpPr>
        <p:spPr>
          <a:xfrm>
            <a:off x="1170432" y="4846320"/>
            <a:ext cx="9820656" cy="1078992"/>
          </a:xfrm>
          <a:prstGeom prst="rect">
            <a:avLst/>
          </a:prstGeom>
          <a:noFill/>
          <a:ln/>
        </p:spPr>
        <p:txBody>
          <a:bodyPr wrap="square" lIns="0" tIns="0" rIns="0" bIns="0" rtlCol="0" anchor="ctr"/>
          <a:lstStyle/>
          <a:p>
            <a:pPr indent="0" marL="0">
              <a:lnSpc>
                <a:spcPts val="2500"/>
              </a:lnSpc>
              <a:buNone/>
            </a:pPr>
            <a:r>
              <a:rPr lang="en-US" sz="1800" dirty="0">
                <a:solidFill>
                  <a:srgbClr val="FFFFFF"/>
                </a:solidFill>
                <a:latin typeface="Calibri" pitchFamily="34" charset="0"/>
                <a:ea typeface="Calibri" pitchFamily="34" charset="-122"/>
                <a:cs typeface="Calibri" pitchFamily="34" charset="-120"/>
              </a:rPr>
              <a:t>The direction is already decided in your head. What's missing is someone to help you commit to it publicly — and keep it going every single week.</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3232" y="420624"/>
            <a:ext cx="10735056" cy="274320"/>
          </a:xfrm>
          <a:prstGeom prst="rect">
            <a:avLst/>
          </a:prstGeom>
          <a:noFill/>
          <a:ln/>
        </p:spPr>
        <p:txBody>
          <a:bodyPr wrap="square" lIns="0" tIns="0" rIns="0" bIns="0" rtlCol="0" anchor="ctr"/>
          <a:lstStyle/>
          <a:p>
            <a:pPr indent="0" marL="0">
              <a:buNone/>
            </a:pPr>
            <a:r>
              <a:rPr lang="en-US" sz="1200" b="1" spc="220" kern="0" dirty="0">
                <a:solidFill>
                  <a:srgbClr val="A26769"/>
                </a:solidFill>
                <a:latin typeface="Calibri" pitchFamily="34" charset="0"/>
                <a:ea typeface="Calibri" pitchFamily="34" charset="-122"/>
                <a:cs typeface="Calibri" pitchFamily="34" charset="-120"/>
              </a:rPr>
              <a:t>THE HONEST PICTURE</a:t>
            </a:r>
            <a:endParaRPr lang="en-US" sz="1200" dirty="0"/>
          </a:p>
        </p:txBody>
      </p:sp>
      <p:sp>
        <p:nvSpPr>
          <p:cNvPr id="3" name="Text 1"/>
          <p:cNvSpPr/>
          <p:nvPr/>
        </p:nvSpPr>
        <p:spPr>
          <a:xfrm>
            <a:off x="713232" y="768096"/>
            <a:ext cx="10735056" cy="960120"/>
          </a:xfrm>
          <a:prstGeom prst="rect">
            <a:avLst/>
          </a:prstGeom>
          <a:noFill/>
          <a:ln/>
        </p:spPr>
        <p:txBody>
          <a:bodyPr wrap="square" lIns="0" tIns="0" rIns="0" bIns="0" rtlCol="0" anchor="ctr"/>
          <a:lstStyle/>
          <a:p>
            <a:pPr indent="0" marL="0">
              <a:lnSpc>
                <a:spcPts val="4500"/>
              </a:lnSpc>
              <a:buNone/>
            </a:pPr>
            <a:r>
              <a:rPr lang="en-US" sz="3900" b="1" dirty="0">
                <a:solidFill>
                  <a:srgbClr val="2B1620"/>
                </a:solidFill>
                <a:latin typeface="Cambria" pitchFamily="34" charset="0"/>
                <a:ea typeface="Cambria" pitchFamily="34" charset="-122"/>
                <a:cs typeface="Cambria" pitchFamily="34" charset="-120"/>
              </a:rPr>
              <a:t>SWOT</a:t>
            </a:r>
            <a:endParaRPr lang="en-US" sz="3900" dirty="0"/>
          </a:p>
        </p:txBody>
      </p:sp>
      <p:sp>
        <p:nvSpPr>
          <p:cNvPr id="4" name="Shape 2"/>
          <p:cNvSpPr/>
          <p:nvPr/>
        </p:nvSpPr>
        <p:spPr>
          <a:xfrm>
            <a:off x="713232" y="1737360"/>
            <a:ext cx="5212080" cy="2194560"/>
          </a:xfrm>
          <a:prstGeom prst="roundRect">
            <a:avLst>
              <a:gd name="adj" fmla="val 5833"/>
            </a:avLst>
          </a:prstGeom>
          <a:solidFill>
            <a:srgbClr val="F1F6F2"/>
          </a:solidFill>
          <a:ln/>
        </p:spPr>
      </p:sp>
      <p:sp>
        <p:nvSpPr>
          <p:cNvPr id="5" name="Text 3"/>
          <p:cNvSpPr/>
          <p:nvPr/>
        </p:nvSpPr>
        <p:spPr>
          <a:xfrm>
            <a:off x="1005840" y="1920240"/>
            <a:ext cx="4572000" cy="256032"/>
          </a:xfrm>
          <a:prstGeom prst="rect">
            <a:avLst/>
          </a:prstGeom>
          <a:noFill/>
          <a:ln/>
        </p:spPr>
        <p:txBody>
          <a:bodyPr wrap="square" lIns="0" tIns="0" rIns="0" bIns="0" rtlCol="0" anchor="ctr"/>
          <a:lstStyle/>
          <a:p>
            <a:pPr indent="0" marL="0">
              <a:buNone/>
            </a:pPr>
            <a:r>
              <a:rPr lang="en-US" sz="1250" b="1" spc="160" kern="0" dirty="0">
                <a:solidFill>
                  <a:srgbClr val="4A7C59"/>
                </a:solidFill>
                <a:latin typeface="Calibri" pitchFamily="34" charset="0"/>
                <a:ea typeface="Calibri" pitchFamily="34" charset="-122"/>
                <a:cs typeface="Calibri" pitchFamily="34" charset="-120"/>
              </a:rPr>
              <a:t>STRENGTHS</a:t>
            </a:r>
            <a:endParaRPr lang="en-US" sz="1250" dirty="0"/>
          </a:p>
        </p:txBody>
      </p:sp>
      <p:sp>
        <p:nvSpPr>
          <p:cNvPr id="6" name="Text 4"/>
          <p:cNvSpPr/>
          <p:nvPr/>
        </p:nvSpPr>
        <p:spPr>
          <a:xfrm>
            <a:off x="1005840" y="2267712"/>
            <a:ext cx="4626864" cy="1554480"/>
          </a:xfrm>
          <a:prstGeom prst="rect">
            <a:avLst/>
          </a:prstGeom>
          <a:noFill/>
          <a:ln/>
        </p:spPr>
        <p:txBody>
          <a:bodyPr wrap="square" lIns="0" tIns="0" rIns="0" bIns="0" rtlCol="0" anchor="ctr"/>
          <a:lstStyle/>
          <a:p>
            <a:pPr marL="342900" indent="-342900">
              <a:lnSpc>
                <a:spcPts val="1700"/>
              </a:lnSpc>
              <a:spcAft>
                <a:spcPts val="500"/>
              </a:spcAft>
              <a:buSzPct val="100000"/>
              <a:buChar char="•"/>
            </a:pPr>
            <a:r>
              <a:rPr lang="en-US" sz="1200" dirty="0">
                <a:solidFill>
                  <a:srgbClr val="2B1620"/>
                </a:solidFill>
                <a:latin typeface="Calibri" pitchFamily="34" charset="0"/>
                <a:ea typeface="Calibri" pitchFamily="34" charset="-122"/>
                <a:cs typeface="Calibri" pitchFamily="34" charset="-120"/>
              </a:rPr>
              <a:t>100+ women coached — real experience behind you</a:t>
            </a:r>
            <a:endParaRPr lang="en-US" sz="1200" dirty="0"/>
          </a:p>
          <a:p>
            <a:pPr marL="342900" indent="-342900">
              <a:lnSpc>
                <a:spcPts val="1700"/>
              </a:lnSpc>
              <a:spcAft>
                <a:spcPts val="500"/>
              </a:spcAft>
              <a:buSzPct val="100000"/>
              <a:buChar char="•"/>
            </a:pPr>
            <a:r>
              <a:rPr lang="en-US" sz="1200" dirty="0">
                <a:solidFill>
                  <a:srgbClr val="2B1620"/>
                </a:solidFill>
                <a:latin typeface="Calibri" pitchFamily="34" charset="0"/>
                <a:ea typeface="Calibri" pitchFamily="34" charset="-122"/>
                <a:cs typeface="Calibri" pitchFamily="34" charset="-120"/>
              </a:rPr>
              <a:t>You understand the emotional life of Indian married women better than any AI educator here</a:t>
            </a:r>
            <a:endParaRPr lang="en-US" sz="1200" dirty="0"/>
          </a:p>
          <a:p>
            <a:pPr marL="342900" indent="-342900">
              <a:lnSpc>
                <a:spcPts val="1700"/>
              </a:lnSpc>
              <a:spcAft>
                <a:spcPts val="500"/>
              </a:spcAft>
              <a:buSzPct val="100000"/>
              <a:buChar char="•"/>
            </a:pPr>
            <a:r>
              <a:rPr lang="en-US" sz="1200" dirty="0">
                <a:solidFill>
                  <a:srgbClr val="2B1620"/>
                </a:solidFill>
                <a:latin typeface="Calibri" pitchFamily="34" charset="0"/>
                <a:ea typeface="Calibri" pitchFamily="34" charset="-122"/>
                <a:cs typeface="Calibri" pitchFamily="34" charset="-120"/>
              </a:rPr>
              <a:t>Consistent publisher, strong writer, easy on camera</a:t>
            </a:r>
            <a:endParaRPr lang="en-US" sz="1200" dirty="0"/>
          </a:p>
          <a:p>
            <a:pPr marL="342900" indent="-342900">
              <a:lnSpc>
                <a:spcPts val="1700"/>
              </a:lnSpc>
              <a:spcAft>
                <a:spcPts val="500"/>
              </a:spcAft>
              <a:buSzPct val="100000"/>
              <a:buChar char="•"/>
            </a:pPr>
            <a:r>
              <a:rPr lang="en-US" sz="1200" dirty="0">
                <a:solidFill>
                  <a:srgbClr val="2B1620"/>
                </a:solidFill>
                <a:latin typeface="Calibri" pitchFamily="34" charset="0"/>
                <a:ea typeface="Calibri" pitchFamily="34" charset="-122"/>
                <a:cs typeface="Calibri" pitchFamily="34" charset="-120"/>
              </a:rPr>
              <a:t>You're building this while raising two kids — you are your audience</a:t>
            </a:r>
            <a:endParaRPr lang="en-US" sz="1200" dirty="0"/>
          </a:p>
        </p:txBody>
      </p:sp>
      <p:sp>
        <p:nvSpPr>
          <p:cNvPr id="7" name="Shape 5"/>
          <p:cNvSpPr/>
          <p:nvPr/>
        </p:nvSpPr>
        <p:spPr>
          <a:xfrm>
            <a:off x="6446520" y="1737360"/>
            <a:ext cx="5184648" cy="2194560"/>
          </a:xfrm>
          <a:prstGeom prst="roundRect">
            <a:avLst>
              <a:gd name="adj" fmla="val 5833"/>
            </a:avLst>
          </a:prstGeom>
          <a:solidFill>
            <a:srgbClr val="F7F2F4"/>
          </a:solidFill>
          <a:ln/>
        </p:spPr>
      </p:sp>
      <p:sp>
        <p:nvSpPr>
          <p:cNvPr id="8" name="Text 6"/>
          <p:cNvSpPr/>
          <p:nvPr/>
        </p:nvSpPr>
        <p:spPr>
          <a:xfrm>
            <a:off x="6739128" y="1920240"/>
            <a:ext cx="4572000" cy="256032"/>
          </a:xfrm>
          <a:prstGeom prst="rect">
            <a:avLst/>
          </a:prstGeom>
          <a:noFill/>
          <a:ln/>
        </p:spPr>
        <p:txBody>
          <a:bodyPr wrap="square" lIns="0" tIns="0" rIns="0" bIns="0" rtlCol="0" anchor="ctr"/>
          <a:lstStyle/>
          <a:p>
            <a:pPr indent="0" marL="0">
              <a:buNone/>
            </a:pPr>
            <a:r>
              <a:rPr lang="en-US" sz="1250" b="1" spc="160" kern="0" dirty="0">
                <a:solidFill>
                  <a:srgbClr val="6D2E46"/>
                </a:solidFill>
                <a:latin typeface="Calibri" pitchFamily="34" charset="0"/>
                <a:ea typeface="Calibri" pitchFamily="34" charset="-122"/>
                <a:cs typeface="Calibri" pitchFamily="34" charset="-120"/>
              </a:rPr>
              <a:t>WEAKNESSES</a:t>
            </a:r>
            <a:endParaRPr lang="en-US" sz="1250" dirty="0"/>
          </a:p>
        </p:txBody>
      </p:sp>
      <p:sp>
        <p:nvSpPr>
          <p:cNvPr id="9" name="Text 7"/>
          <p:cNvSpPr/>
          <p:nvPr/>
        </p:nvSpPr>
        <p:spPr>
          <a:xfrm>
            <a:off x="6739128" y="2267712"/>
            <a:ext cx="4599432" cy="1554480"/>
          </a:xfrm>
          <a:prstGeom prst="rect">
            <a:avLst/>
          </a:prstGeom>
          <a:noFill/>
          <a:ln/>
        </p:spPr>
        <p:txBody>
          <a:bodyPr wrap="square" lIns="0" tIns="0" rIns="0" bIns="0" rtlCol="0" anchor="ctr"/>
          <a:lstStyle/>
          <a:p>
            <a:pPr marL="342900" indent="-342900">
              <a:lnSpc>
                <a:spcPts val="1700"/>
              </a:lnSpc>
              <a:spcAft>
                <a:spcPts val="500"/>
              </a:spcAft>
              <a:buSzPct val="100000"/>
              <a:buChar char="•"/>
            </a:pPr>
            <a:r>
              <a:rPr lang="en-US" sz="1200" dirty="0">
                <a:solidFill>
                  <a:srgbClr val="2B1620"/>
                </a:solidFill>
                <a:latin typeface="Calibri" pitchFamily="34" charset="0"/>
                <a:ea typeface="Calibri" pitchFamily="34" charset="-122"/>
                <a:cs typeface="Calibri" pitchFamily="34" charset="-120"/>
              </a:rPr>
              <a:t>Five identities across five surfaces</a:t>
            </a:r>
            <a:endParaRPr lang="en-US" sz="1200" dirty="0"/>
          </a:p>
          <a:p>
            <a:pPr marL="342900" indent="-342900">
              <a:lnSpc>
                <a:spcPts val="1700"/>
              </a:lnSpc>
              <a:spcAft>
                <a:spcPts val="500"/>
              </a:spcAft>
              <a:buSzPct val="100000"/>
              <a:buChar char="•"/>
            </a:pPr>
            <a:r>
              <a:rPr lang="en-US" sz="1200" dirty="0">
                <a:solidFill>
                  <a:srgbClr val="2B1620"/>
                </a:solidFill>
                <a:latin typeface="Calibri" pitchFamily="34" charset="0"/>
                <a:ea typeface="Calibri" pitchFamily="34" charset="-122"/>
                <a:cs typeface="Calibri" pitchFamily="34" charset="-120"/>
              </a:rPr>
              <a:t>1,209 followers built on marriage content — not the people who'd buy neXtHer</a:t>
            </a:r>
            <a:endParaRPr lang="en-US" sz="1200" dirty="0"/>
          </a:p>
          <a:p>
            <a:pPr marL="342900" indent="-342900">
              <a:lnSpc>
                <a:spcPts val="1700"/>
              </a:lnSpc>
              <a:spcAft>
                <a:spcPts val="500"/>
              </a:spcAft>
              <a:buSzPct val="100000"/>
              <a:buChar char="•"/>
            </a:pPr>
            <a:r>
              <a:rPr lang="en-US" sz="1200" dirty="0">
                <a:solidFill>
                  <a:srgbClr val="2B1620"/>
                </a:solidFill>
                <a:latin typeface="Calibri" pitchFamily="34" charset="0"/>
                <a:ea typeface="Calibri" pitchFamily="34" charset="-122"/>
                <a:cs typeface="Calibri" pitchFamily="34" charset="-120"/>
              </a:rPr>
              <a:t>No voice on camera, no funnel, no list you own</a:t>
            </a:r>
            <a:endParaRPr lang="en-US" sz="1200" dirty="0"/>
          </a:p>
          <a:p>
            <a:pPr marL="342900" indent="-342900">
              <a:lnSpc>
                <a:spcPts val="1700"/>
              </a:lnSpc>
              <a:spcAft>
                <a:spcPts val="500"/>
              </a:spcAft>
              <a:buSzPct val="100000"/>
              <a:buChar char="•"/>
            </a:pPr>
            <a:r>
              <a:rPr lang="en-US" sz="1200" dirty="0">
                <a:solidFill>
                  <a:srgbClr val="2B1620"/>
                </a:solidFill>
                <a:latin typeface="Calibri" pitchFamily="34" charset="0"/>
                <a:ea typeface="Calibri" pitchFamily="34" charset="-122"/>
                <a:cs typeface="Calibri" pitchFamily="34" charset="-120"/>
              </a:rPr>
              <a:t>Nothing pinned — a first-time visitor has no way in</a:t>
            </a:r>
            <a:endParaRPr lang="en-US" sz="1200" dirty="0"/>
          </a:p>
        </p:txBody>
      </p:sp>
      <p:sp>
        <p:nvSpPr>
          <p:cNvPr id="10" name="Shape 8"/>
          <p:cNvSpPr/>
          <p:nvPr/>
        </p:nvSpPr>
        <p:spPr>
          <a:xfrm>
            <a:off x="713232" y="4114800"/>
            <a:ext cx="5212080" cy="2194560"/>
          </a:xfrm>
          <a:prstGeom prst="roundRect">
            <a:avLst>
              <a:gd name="adj" fmla="val 5833"/>
            </a:avLst>
          </a:prstGeom>
          <a:solidFill>
            <a:srgbClr val="F1F6F2"/>
          </a:solidFill>
          <a:ln/>
        </p:spPr>
      </p:sp>
      <p:sp>
        <p:nvSpPr>
          <p:cNvPr id="11" name="Text 9"/>
          <p:cNvSpPr/>
          <p:nvPr/>
        </p:nvSpPr>
        <p:spPr>
          <a:xfrm>
            <a:off x="1005840" y="4297680"/>
            <a:ext cx="4572000" cy="256032"/>
          </a:xfrm>
          <a:prstGeom prst="rect">
            <a:avLst/>
          </a:prstGeom>
          <a:noFill/>
          <a:ln/>
        </p:spPr>
        <p:txBody>
          <a:bodyPr wrap="square" lIns="0" tIns="0" rIns="0" bIns="0" rtlCol="0" anchor="ctr"/>
          <a:lstStyle/>
          <a:p>
            <a:pPr indent="0" marL="0">
              <a:buNone/>
            </a:pPr>
            <a:r>
              <a:rPr lang="en-US" sz="1250" b="1" spc="160" kern="0" dirty="0">
                <a:solidFill>
                  <a:srgbClr val="4A7C59"/>
                </a:solidFill>
                <a:latin typeface="Calibri" pitchFamily="34" charset="0"/>
                <a:ea typeface="Calibri" pitchFamily="34" charset="-122"/>
                <a:cs typeface="Calibri" pitchFamily="34" charset="-120"/>
              </a:rPr>
              <a:t>OPPORTUNITIES</a:t>
            </a:r>
            <a:endParaRPr lang="en-US" sz="1250" dirty="0"/>
          </a:p>
        </p:txBody>
      </p:sp>
      <p:sp>
        <p:nvSpPr>
          <p:cNvPr id="12" name="Text 10"/>
          <p:cNvSpPr/>
          <p:nvPr/>
        </p:nvSpPr>
        <p:spPr>
          <a:xfrm>
            <a:off x="1005840" y="4645152"/>
            <a:ext cx="4626864" cy="1554480"/>
          </a:xfrm>
          <a:prstGeom prst="rect">
            <a:avLst/>
          </a:prstGeom>
          <a:noFill/>
          <a:ln/>
        </p:spPr>
        <p:txBody>
          <a:bodyPr wrap="square" lIns="0" tIns="0" rIns="0" bIns="0" rtlCol="0" anchor="ctr"/>
          <a:lstStyle/>
          <a:p>
            <a:pPr marL="342900" indent="-342900">
              <a:lnSpc>
                <a:spcPts val="1700"/>
              </a:lnSpc>
              <a:spcAft>
                <a:spcPts val="500"/>
              </a:spcAft>
              <a:buSzPct val="100000"/>
              <a:buChar char="•"/>
            </a:pPr>
            <a:r>
              <a:rPr lang="en-US" sz="1200" dirty="0">
                <a:solidFill>
                  <a:srgbClr val="2B1620"/>
                </a:solidFill>
                <a:latin typeface="Calibri" pitchFamily="34" charset="0"/>
                <a:ea typeface="Calibri" pitchFamily="34" charset="-122"/>
                <a:cs typeface="Calibri" pitchFamily="34" charset="-120"/>
              </a:rPr>
              <a:t>The exact model is proven — 415K, in the US</a:t>
            </a:r>
            <a:endParaRPr lang="en-US" sz="1200" dirty="0"/>
          </a:p>
          <a:p>
            <a:pPr marL="342900" indent="-342900">
              <a:lnSpc>
                <a:spcPts val="1700"/>
              </a:lnSpc>
              <a:spcAft>
                <a:spcPts val="500"/>
              </a:spcAft>
              <a:buSzPct val="100000"/>
              <a:buChar char="•"/>
            </a:pPr>
            <a:r>
              <a:rPr lang="en-US" sz="1200" dirty="0">
                <a:solidFill>
                  <a:srgbClr val="2B1620"/>
                </a:solidFill>
                <a:latin typeface="Calibri" pitchFamily="34" charset="0"/>
                <a:ea typeface="Calibri" pitchFamily="34" charset="-122"/>
                <a:cs typeface="Calibri" pitchFamily="34" charset="-120"/>
              </a:rPr>
              <a:t>Nobody in India is doing it in Hinglish for mothers. I looked</a:t>
            </a:r>
            <a:endParaRPr lang="en-US" sz="1200" dirty="0"/>
          </a:p>
          <a:p>
            <a:pPr marL="342900" indent="-342900">
              <a:lnSpc>
                <a:spcPts val="1700"/>
              </a:lnSpc>
              <a:spcAft>
                <a:spcPts val="500"/>
              </a:spcAft>
              <a:buSzPct val="100000"/>
              <a:buChar char="•"/>
            </a:pPr>
            <a:r>
              <a:rPr lang="en-US" sz="1200" dirty="0">
                <a:solidFill>
                  <a:srgbClr val="2B1620"/>
                </a:solidFill>
                <a:latin typeface="Calibri" pitchFamily="34" charset="0"/>
                <a:ea typeface="Calibri" pitchFamily="34" charset="-122"/>
                <a:cs typeface="Calibri" pitchFamily="34" charset="-120"/>
              </a:rPr>
              <a:t>Your relationship work is a moat, not baggage — it's why women trust you</a:t>
            </a:r>
            <a:endParaRPr lang="en-US" sz="1200" dirty="0"/>
          </a:p>
          <a:p>
            <a:pPr marL="342900" indent="-342900">
              <a:lnSpc>
                <a:spcPts val="1700"/>
              </a:lnSpc>
              <a:spcAft>
                <a:spcPts val="500"/>
              </a:spcAft>
              <a:buSzPct val="100000"/>
              <a:buChar char="•"/>
            </a:pPr>
            <a:r>
              <a:rPr lang="en-US" sz="1200" dirty="0">
                <a:solidFill>
                  <a:srgbClr val="2B1620"/>
                </a:solidFill>
                <a:latin typeface="Calibri" pitchFamily="34" charset="0"/>
                <a:ea typeface="Calibri" pitchFamily="34" charset="-122"/>
                <a:cs typeface="Calibri" pitchFamily="34" charset="-120"/>
              </a:rPr>
              <a:t>YouTube demand for "how to use ChatGPT to…" is wide open in Hindi</a:t>
            </a:r>
            <a:endParaRPr lang="en-US" sz="1200" dirty="0"/>
          </a:p>
        </p:txBody>
      </p:sp>
      <p:sp>
        <p:nvSpPr>
          <p:cNvPr id="13" name="Shape 11"/>
          <p:cNvSpPr/>
          <p:nvPr/>
        </p:nvSpPr>
        <p:spPr>
          <a:xfrm>
            <a:off x="6446520" y="4114800"/>
            <a:ext cx="5184648" cy="2194560"/>
          </a:xfrm>
          <a:prstGeom prst="roundRect">
            <a:avLst>
              <a:gd name="adj" fmla="val 5833"/>
            </a:avLst>
          </a:prstGeom>
          <a:solidFill>
            <a:srgbClr val="F7F2F4"/>
          </a:solidFill>
          <a:ln/>
        </p:spPr>
      </p:sp>
      <p:sp>
        <p:nvSpPr>
          <p:cNvPr id="14" name="Text 12"/>
          <p:cNvSpPr/>
          <p:nvPr/>
        </p:nvSpPr>
        <p:spPr>
          <a:xfrm>
            <a:off x="6739128" y="4297680"/>
            <a:ext cx="4572000" cy="256032"/>
          </a:xfrm>
          <a:prstGeom prst="rect">
            <a:avLst/>
          </a:prstGeom>
          <a:noFill/>
          <a:ln/>
        </p:spPr>
        <p:txBody>
          <a:bodyPr wrap="square" lIns="0" tIns="0" rIns="0" bIns="0" rtlCol="0" anchor="ctr"/>
          <a:lstStyle/>
          <a:p>
            <a:pPr indent="0" marL="0">
              <a:buNone/>
            </a:pPr>
            <a:r>
              <a:rPr lang="en-US" sz="1250" b="1" spc="160" kern="0" dirty="0">
                <a:solidFill>
                  <a:srgbClr val="6D2E46"/>
                </a:solidFill>
                <a:latin typeface="Calibri" pitchFamily="34" charset="0"/>
                <a:ea typeface="Calibri" pitchFamily="34" charset="-122"/>
                <a:cs typeface="Calibri" pitchFamily="34" charset="-120"/>
              </a:rPr>
              <a:t>THREATS</a:t>
            </a:r>
            <a:endParaRPr lang="en-US" sz="1250" dirty="0"/>
          </a:p>
        </p:txBody>
      </p:sp>
      <p:sp>
        <p:nvSpPr>
          <p:cNvPr id="15" name="Text 13"/>
          <p:cNvSpPr/>
          <p:nvPr/>
        </p:nvSpPr>
        <p:spPr>
          <a:xfrm>
            <a:off x="6739128" y="4645152"/>
            <a:ext cx="4599432" cy="1554480"/>
          </a:xfrm>
          <a:prstGeom prst="rect">
            <a:avLst/>
          </a:prstGeom>
          <a:noFill/>
          <a:ln/>
        </p:spPr>
        <p:txBody>
          <a:bodyPr wrap="square" lIns="0" tIns="0" rIns="0" bIns="0" rtlCol="0" anchor="ctr"/>
          <a:lstStyle/>
          <a:p>
            <a:pPr marL="342900" indent="-342900">
              <a:lnSpc>
                <a:spcPts val="1700"/>
              </a:lnSpc>
              <a:spcAft>
                <a:spcPts val="500"/>
              </a:spcAft>
              <a:buSzPct val="100000"/>
              <a:buChar char="•"/>
            </a:pPr>
            <a:r>
              <a:rPr lang="en-US" sz="1200" dirty="0">
                <a:solidFill>
                  <a:srgbClr val="2B1620"/>
                </a:solidFill>
                <a:latin typeface="Calibri" pitchFamily="34" charset="0"/>
                <a:ea typeface="Calibri" pitchFamily="34" charset="-122"/>
                <a:cs typeface="Calibri" pitchFamily="34" charset="-120"/>
              </a:rPr>
              <a:t>The window. This format is ~12 months old. Someone will take this lane in India</a:t>
            </a:r>
            <a:endParaRPr lang="en-US" sz="1200" dirty="0"/>
          </a:p>
          <a:p>
            <a:pPr marL="342900" indent="-342900">
              <a:lnSpc>
                <a:spcPts val="1700"/>
              </a:lnSpc>
              <a:spcAft>
                <a:spcPts val="500"/>
              </a:spcAft>
              <a:buSzPct val="100000"/>
              <a:buChar char="•"/>
            </a:pPr>
            <a:r>
              <a:rPr lang="en-US" sz="1200" dirty="0">
                <a:solidFill>
                  <a:srgbClr val="2B1620"/>
                </a:solidFill>
                <a:latin typeface="Calibri" pitchFamily="34" charset="0"/>
                <a:ea typeface="Calibri" pitchFamily="34" charset="-122"/>
                <a:cs typeface="Calibri" pitchFamily="34" charset="-120"/>
              </a:rPr>
              <a:t>The "AI income" category has bad neighbours — we have to look obviously different</a:t>
            </a:r>
            <a:endParaRPr lang="en-US" sz="1200" dirty="0"/>
          </a:p>
          <a:p>
            <a:pPr marL="342900" indent="-342900">
              <a:lnSpc>
                <a:spcPts val="1700"/>
              </a:lnSpc>
              <a:spcAft>
                <a:spcPts val="500"/>
              </a:spcAft>
              <a:buSzPct val="100000"/>
              <a:buChar char="•"/>
            </a:pPr>
            <a:r>
              <a:rPr lang="en-US" sz="1200" dirty="0">
                <a:solidFill>
                  <a:srgbClr val="2B1620"/>
                </a:solidFill>
                <a:latin typeface="Calibri" pitchFamily="34" charset="0"/>
                <a:ea typeface="Calibri" pitchFamily="34" charset="-122"/>
                <a:cs typeface="Calibri" pitchFamily="34" charset="-120"/>
              </a:rPr>
              <a:t>Attention split across several ventures at once</a:t>
            </a:r>
            <a:endParaRPr lang="en-US" sz="1200" dirty="0"/>
          </a:p>
          <a:p>
            <a:pPr marL="342900" indent="-342900">
              <a:lnSpc>
                <a:spcPts val="1700"/>
              </a:lnSpc>
              <a:spcAft>
                <a:spcPts val="500"/>
              </a:spcAft>
              <a:buSzPct val="100000"/>
              <a:buChar char="•"/>
            </a:pPr>
            <a:r>
              <a:rPr lang="en-US" sz="1200" dirty="0">
                <a:solidFill>
                  <a:srgbClr val="2B1620"/>
                </a:solidFill>
                <a:latin typeface="Calibri" pitchFamily="34" charset="0"/>
                <a:ea typeface="Calibri" pitchFamily="34" charset="-122"/>
                <a:cs typeface="Calibri" pitchFamily="34" charset="-120"/>
              </a:rPr>
              <a:t>Doing everything alone is how good creators stop posting</a:t>
            </a:r>
            <a:endParaRPr lang="en-US" sz="1200" dirty="0"/>
          </a:p>
        </p:txBody>
      </p:sp>
      <p:sp>
        <p:nvSpPr>
          <p:cNvPr id="16" name="Text 14"/>
          <p:cNvSpPr/>
          <p:nvPr/>
        </p:nvSpPr>
        <p:spPr>
          <a:xfrm>
            <a:off x="713232" y="6309360"/>
            <a:ext cx="10735056" cy="320040"/>
          </a:xfrm>
          <a:prstGeom prst="rect">
            <a:avLst/>
          </a:prstGeom>
          <a:noFill/>
          <a:ln/>
        </p:spPr>
        <p:txBody>
          <a:bodyPr wrap="square" lIns="0" tIns="0" rIns="0" bIns="0" rtlCol="0" anchor="ctr"/>
          <a:lstStyle/>
          <a:p>
            <a:pPr indent="0" marL="0">
              <a:buNone/>
            </a:pPr>
            <a:r>
              <a:rPr lang="en-US" sz="1050" i="1" dirty="0">
                <a:solidFill>
                  <a:srgbClr val="7A6068"/>
                </a:solidFill>
                <a:latin typeface="Calibri" pitchFamily="34" charset="0"/>
                <a:ea typeface="Calibri" pitchFamily="34" charset="-122"/>
                <a:cs typeface="Calibri" pitchFamily="34" charset="-120"/>
              </a:rPr>
              <a:t>Based on your published content, your Threads activity, and market research across AI education, mom content and women's finance in India.</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3232" y="420624"/>
            <a:ext cx="10735056" cy="274320"/>
          </a:xfrm>
          <a:prstGeom prst="rect">
            <a:avLst/>
          </a:prstGeom>
          <a:noFill/>
          <a:ln/>
        </p:spPr>
        <p:txBody>
          <a:bodyPr wrap="square" lIns="0" tIns="0" rIns="0" bIns="0" rtlCol="0" anchor="ctr"/>
          <a:lstStyle/>
          <a:p>
            <a:pPr indent="0" marL="0">
              <a:buNone/>
            </a:pPr>
            <a:r>
              <a:rPr lang="en-US" sz="1200" b="1" spc="220" kern="0" dirty="0">
                <a:solidFill>
                  <a:srgbClr val="A26769"/>
                </a:solidFill>
                <a:latin typeface="Calibri" pitchFamily="34" charset="0"/>
                <a:ea typeface="Calibri" pitchFamily="34" charset="-122"/>
                <a:cs typeface="Calibri" pitchFamily="34" charset="-120"/>
              </a:rPr>
              <a:t>THE ACCOUNT YOU SENT ME</a:t>
            </a:r>
            <a:endParaRPr lang="en-US" sz="1200" dirty="0"/>
          </a:p>
        </p:txBody>
      </p:sp>
      <p:sp>
        <p:nvSpPr>
          <p:cNvPr id="3" name="Text 1"/>
          <p:cNvSpPr/>
          <p:nvPr/>
        </p:nvSpPr>
        <p:spPr>
          <a:xfrm>
            <a:off x="713232" y="768096"/>
            <a:ext cx="10735056" cy="960120"/>
          </a:xfrm>
          <a:prstGeom prst="rect">
            <a:avLst/>
          </a:prstGeom>
          <a:noFill/>
          <a:ln/>
        </p:spPr>
        <p:txBody>
          <a:bodyPr wrap="square" lIns="0" tIns="0" rIns="0" bIns="0" rtlCol="0" anchor="ctr"/>
          <a:lstStyle/>
          <a:p>
            <a:pPr indent="0" marL="0">
              <a:lnSpc>
                <a:spcPts val="4500"/>
              </a:lnSpc>
              <a:buNone/>
            </a:pPr>
            <a:r>
              <a:rPr lang="en-US" sz="3900" b="1" dirty="0">
                <a:solidFill>
                  <a:srgbClr val="2B1620"/>
                </a:solidFill>
                <a:latin typeface="Cambria" pitchFamily="34" charset="0"/>
                <a:ea typeface="Cambria" pitchFamily="34" charset="-122"/>
                <a:cs typeface="Cambria" pitchFamily="34" charset="-120"/>
              </a:rPr>
              <a:t>Katie is you, about twelve months ahead</a:t>
            </a:r>
            <a:endParaRPr lang="en-US" sz="3900" dirty="0"/>
          </a:p>
        </p:txBody>
      </p:sp>
      <p:sp>
        <p:nvSpPr>
          <p:cNvPr id="4" name="Shape 2"/>
          <p:cNvSpPr/>
          <p:nvPr/>
        </p:nvSpPr>
        <p:spPr>
          <a:xfrm>
            <a:off x="713232" y="1874520"/>
            <a:ext cx="5257800" cy="2395728"/>
          </a:xfrm>
          <a:prstGeom prst="roundRect">
            <a:avLst>
              <a:gd name="adj" fmla="val 5344"/>
            </a:avLst>
          </a:prstGeom>
          <a:solidFill>
            <a:srgbClr val="3D1B2E"/>
          </a:solidFill>
          <a:ln/>
        </p:spPr>
      </p:sp>
      <p:sp>
        <p:nvSpPr>
          <p:cNvPr id="5" name="Text 3"/>
          <p:cNvSpPr/>
          <p:nvPr/>
        </p:nvSpPr>
        <p:spPr>
          <a:xfrm>
            <a:off x="1097280" y="2176272"/>
            <a:ext cx="4572000" cy="274320"/>
          </a:xfrm>
          <a:prstGeom prst="rect">
            <a:avLst/>
          </a:prstGeom>
          <a:noFill/>
          <a:ln/>
        </p:spPr>
        <p:txBody>
          <a:bodyPr wrap="square" lIns="0" tIns="0" rIns="0" bIns="0" rtlCol="0" anchor="ctr"/>
          <a:lstStyle/>
          <a:p>
            <a:pPr indent="0" marL="0">
              <a:buNone/>
            </a:pPr>
            <a:r>
              <a:rPr lang="en-US" sz="1250" b="1" spc="160" kern="0" dirty="0">
                <a:solidFill>
                  <a:srgbClr val="D9A441"/>
                </a:solidFill>
                <a:latin typeface="Calibri" pitchFamily="34" charset="0"/>
                <a:ea typeface="Calibri" pitchFamily="34" charset="-122"/>
                <a:cs typeface="Calibri" pitchFamily="34" charset="-120"/>
              </a:rPr>
              <a:t>@UPGRADINGKATIE</a:t>
            </a:r>
            <a:endParaRPr lang="en-US" sz="1250" dirty="0"/>
          </a:p>
        </p:txBody>
      </p:sp>
      <p:sp>
        <p:nvSpPr>
          <p:cNvPr id="6" name="Text 4"/>
          <p:cNvSpPr/>
          <p:nvPr/>
        </p:nvSpPr>
        <p:spPr>
          <a:xfrm>
            <a:off x="1097280" y="2578608"/>
            <a:ext cx="4572000" cy="658368"/>
          </a:xfrm>
          <a:prstGeom prst="rect">
            <a:avLst/>
          </a:prstGeom>
          <a:noFill/>
          <a:ln/>
        </p:spPr>
        <p:txBody>
          <a:bodyPr wrap="square" lIns="0" tIns="0" rIns="0" bIns="0" rtlCol="0" anchor="ctr"/>
          <a:lstStyle/>
          <a:p>
            <a:pPr indent="0" marL="0">
              <a:buNone/>
            </a:pPr>
            <a:r>
              <a:rPr lang="en-US" sz="4400" b="1" dirty="0">
                <a:solidFill>
                  <a:srgbClr val="D9A441"/>
                </a:solidFill>
                <a:latin typeface="Cambria" pitchFamily="34" charset="0"/>
                <a:ea typeface="Cambria" pitchFamily="34" charset="-122"/>
                <a:cs typeface="Cambria" pitchFamily="34" charset="-120"/>
              </a:rPr>
              <a:t>415,000</a:t>
            </a:r>
            <a:endParaRPr lang="en-US" sz="4400" dirty="0"/>
          </a:p>
        </p:txBody>
      </p:sp>
      <p:sp>
        <p:nvSpPr>
          <p:cNvPr id="7" name="Text 5"/>
          <p:cNvSpPr/>
          <p:nvPr/>
        </p:nvSpPr>
        <p:spPr>
          <a:xfrm>
            <a:off x="1097280" y="3236976"/>
            <a:ext cx="4572000" cy="274320"/>
          </a:xfrm>
          <a:prstGeom prst="rect">
            <a:avLst/>
          </a:prstGeom>
          <a:noFill/>
          <a:ln/>
        </p:spPr>
        <p:txBody>
          <a:bodyPr wrap="square" lIns="0" tIns="0" rIns="0" bIns="0" rtlCol="0" anchor="ctr"/>
          <a:lstStyle/>
          <a:p>
            <a:pPr indent="0" marL="0">
              <a:buNone/>
            </a:pPr>
            <a:r>
              <a:rPr lang="en-US" sz="1400" dirty="0">
                <a:solidFill>
                  <a:srgbClr val="C9AEB8"/>
                </a:solidFill>
                <a:latin typeface="Calibri" pitchFamily="34" charset="0"/>
                <a:ea typeface="Calibri" pitchFamily="34" charset="-122"/>
                <a:cs typeface="Calibri" pitchFamily="34" charset="-120"/>
              </a:rPr>
              <a:t>followers · 369 posts · about a year</a:t>
            </a:r>
            <a:endParaRPr lang="en-US" sz="1400" dirty="0"/>
          </a:p>
        </p:txBody>
      </p:sp>
      <p:sp>
        <p:nvSpPr>
          <p:cNvPr id="8" name="Text 6"/>
          <p:cNvSpPr/>
          <p:nvPr/>
        </p:nvSpPr>
        <p:spPr>
          <a:xfrm>
            <a:off x="1097280" y="3657600"/>
            <a:ext cx="4572000" cy="320040"/>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Bio: "Mom routines · money · glowup"</a:t>
            </a:r>
            <a:endParaRPr lang="en-US" sz="1400" dirty="0"/>
          </a:p>
        </p:txBody>
      </p:sp>
      <p:sp>
        <p:nvSpPr>
          <p:cNvPr id="9" name="Shape 7"/>
          <p:cNvSpPr/>
          <p:nvPr/>
        </p:nvSpPr>
        <p:spPr>
          <a:xfrm>
            <a:off x="6446520" y="1874520"/>
            <a:ext cx="5184648" cy="2395728"/>
          </a:xfrm>
          <a:prstGeom prst="roundRect">
            <a:avLst>
              <a:gd name="adj" fmla="val 5344"/>
            </a:avLst>
          </a:prstGeom>
          <a:solidFill>
            <a:srgbClr val="F7F2F4"/>
          </a:solidFill>
          <a:ln/>
        </p:spPr>
      </p:sp>
      <p:sp>
        <p:nvSpPr>
          <p:cNvPr id="10" name="Text 8"/>
          <p:cNvSpPr/>
          <p:nvPr/>
        </p:nvSpPr>
        <p:spPr>
          <a:xfrm>
            <a:off x="6830568" y="2176272"/>
            <a:ext cx="4389120" cy="274320"/>
          </a:xfrm>
          <a:prstGeom prst="rect">
            <a:avLst/>
          </a:prstGeom>
          <a:noFill/>
          <a:ln/>
        </p:spPr>
        <p:txBody>
          <a:bodyPr wrap="square" lIns="0" tIns="0" rIns="0" bIns="0" rtlCol="0" anchor="ctr"/>
          <a:lstStyle/>
          <a:p>
            <a:pPr indent="0" marL="0">
              <a:buNone/>
            </a:pPr>
            <a:r>
              <a:rPr lang="en-US" sz="1250" b="1" spc="160" kern="0" dirty="0">
                <a:solidFill>
                  <a:srgbClr val="6D2E46"/>
                </a:solidFill>
                <a:latin typeface="Calibri" pitchFamily="34" charset="0"/>
                <a:ea typeface="Calibri" pitchFamily="34" charset="-122"/>
                <a:cs typeface="Calibri" pitchFamily="34" charset="-120"/>
              </a:rPr>
              <a:t>SHE IS</a:t>
            </a:r>
            <a:endParaRPr lang="en-US" sz="1250" dirty="0"/>
          </a:p>
        </p:txBody>
      </p:sp>
      <p:sp>
        <p:nvSpPr>
          <p:cNvPr id="11" name="Text 9"/>
          <p:cNvSpPr/>
          <p:nvPr/>
        </p:nvSpPr>
        <p:spPr>
          <a:xfrm>
            <a:off x="6830568" y="2560320"/>
            <a:ext cx="4389120" cy="109728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50" dirty="0">
                <a:solidFill>
                  <a:srgbClr val="2B1620"/>
                </a:solidFill>
                <a:latin typeface="Calibri" pitchFamily="34" charset="0"/>
                <a:ea typeface="Calibri" pitchFamily="34" charset="-122"/>
                <a:cs typeface="Calibri" pitchFamily="34" charset="-120"/>
              </a:rPr>
              <a:t>32 years old, two young children</a:t>
            </a:r>
            <a:endParaRPr lang="en-US" sz="1450" dirty="0"/>
          </a:p>
          <a:p>
            <a:pPr marL="342900" indent="-342900">
              <a:lnSpc>
                <a:spcPts val="2000"/>
              </a:lnSpc>
              <a:spcAft>
                <a:spcPts val="800"/>
              </a:spcAft>
              <a:buSzPct val="100000"/>
              <a:buChar char="•"/>
            </a:pPr>
            <a:r>
              <a:rPr lang="en-US" sz="1450" dirty="0">
                <a:solidFill>
                  <a:srgbClr val="2B1620"/>
                </a:solidFill>
                <a:latin typeface="Calibri" pitchFamily="34" charset="0"/>
                <a:ea typeface="Calibri" pitchFamily="34" charset="-122"/>
                <a:cs typeface="Calibri" pitchFamily="34" charset="-120"/>
              </a:rPr>
              <a:t>Filming on her phone, in her kitchen and her car</a:t>
            </a:r>
            <a:endParaRPr lang="en-US" sz="1450" dirty="0"/>
          </a:p>
          <a:p>
            <a:pPr marL="342900" indent="-342900">
              <a:lnSpc>
                <a:spcPts val="2000"/>
              </a:lnSpc>
              <a:spcAft>
                <a:spcPts val="800"/>
              </a:spcAft>
              <a:buSzPct val="100000"/>
              <a:buChar char="•"/>
            </a:pPr>
            <a:r>
              <a:rPr lang="en-US" sz="1450" dirty="0">
                <a:solidFill>
                  <a:srgbClr val="2B1620"/>
                </a:solidFill>
                <a:latin typeface="Calibri" pitchFamily="34" charset="0"/>
                <a:ea typeface="Calibri" pitchFamily="34" charset="-122"/>
                <a:cs typeface="Calibri" pitchFamily="34" charset="-120"/>
              </a:rPr>
              <a:t>Teaching mothers to use AI for their life and their income</a:t>
            </a:r>
            <a:endParaRPr lang="en-US" sz="1450" dirty="0"/>
          </a:p>
        </p:txBody>
      </p:sp>
      <p:sp>
        <p:nvSpPr>
          <p:cNvPr id="12" name="Text 10"/>
          <p:cNvSpPr/>
          <p:nvPr/>
        </p:nvSpPr>
        <p:spPr>
          <a:xfrm>
            <a:off x="6830568" y="3703320"/>
            <a:ext cx="4389120" cy="502920"/>
          </a:xfrm>
          <a:prstGeom prst="rect">
            <a:avLst/>
          </a:prstGeom>
          <a:noFill/>
          <a:ln/>
        </p:spPr>
        <p:txBody>
          <a:bodyPr wrap="square" lIns="0" tIns="0" rIns="0" bIns="0" rtlCol="0" anchor="ctr"/>
          <a:lstStyle/>
          <a:p>
            <a:pPr indent="0" marL="0">
              <a:lnSpc>
                <a:spcPts val="2000"/>
              </a:lnSpc>
              <a:buNone/>
            </a:pPr>
            <a:r>
              <a:rPr lang="en-US" sz="1500" b="1" dirty="0">
                <a:solidFill>
                  <a:srgbClr val="6D2E46"/>
                </a:solidFill>
                <a:latin typeface="Calibri" pitchFamily="34" charset="0"/>
                <a:ea typeface="Calibri" pitchFamily="34" charset="-122"/>
                <a:cs typeface="Calibri" pitchFamily="34" charset="-120"/>
              </a:rPr>
              <a:t>You're at the same stage, with the same life. Same idea.</a:t>
            </a:r>
            <a:endParaRPr lang="en-US" sz="1500" dirty="0"/>
          </a:p>
        </p:txBody>
      </p:sp>
      <p:sp>
        <p:nvSpPr>
          <p:cNvPr id="13" name="Shape 11"/>
          <p:cNvSpPr/>
          <p:nvPr/>
        </p:nvSpPr>
        <p:spPr>
          <a:xfrm>
            <a:off x="713232" y="4617720"/>
            <a:ext cx="10735056" cy="1005840"/>
          </a:xfrm>
          <a:prstGeom prst="roundRect">
            <a:avLst>
              <a:gd name="adj" fmla="val 12727"/>
            </a:avLst>
          </a:prstGeom>
          <a:solidFill>
            <a:srgbClr val="6D2E46"/>
          </a:solidFill>
          <a:ln/>
        </p:spPr>
      </p:sp>
      <p:sp>
        <p:nvSpPr>
          <p:cNvPr id="14" name="Text 12"/>
          <p:cNvSpPr/>
          <p:nvPr/>
        </p:nvSpPr>
        <p:spPr>
          <a:xfrm>
            <a:off x="1170432" y="4617720"/>
            <a:ext cx="9820656" cy="1005840"/>
          </a:xfrm>
          <a:prstGeom prst="rect">
            <a:avLst/>
          </a:prstGeom>
          <a:noFill/>
          <a:ln/>
        </p:spPr>
        <p:txBody>
          <a:bodyPr wrap="square" lIns="0" tIns="0" rIns="0" bIns="0" rtlCol="0" anchor="ctr"/>
          <a:lstStyle/>
          <a:p>
            <a:pPr indent="0" marL="0">
              <a:lnSpc>
                <a:spcPts val="2500"/>
              </a:lnSpc>
              <a:buNone/>
            </a:pPr>
            <a:r>
              <a:rPr lang="en-US" sz="1800" dirty="0">
                <a:solidFill>
                  <a:srgbClr val="FFFFFF"/>
                </a:solidFill>
                <a:latin typeface="Calibri" pitchFamily="34" charset="0"/>
                <a:ea typeface="Calibri" pitchFamily="34" charset="-122"/>
                <a:cs typeface="Calibri" pitchFamily="34" charset="-120"/>
              </a:rPr>
              <a:t>You aren't betting on an untested idea. Someone with your life, your age and your audience already made it work.</a:t>
            </a:r>
            <a:endParaRPr lang="en-US" sz="1800" dirty="0"/>
          </a:p>
        </p:txBody>
      </p:sp>
      <p:sp>
        <p:nvSpPr>
          <p:cNvPr id="15" name="Text 13"/>
          <p:cNvSpPr/>
          <p:nvPr/>
        </p:nvSpPr>
        <p:spPr>
          <a:xfrm>
            <a:off x="713232" y="5806440"/>
            <a:ext cx="10735056" cy="640080"/>
          </a:xfrm>
          <a:prstGeom prst="rect">
            <a:avLst/>
          </a:prstGeom>
          <a:noFill/>
          <a:ln/>
        </p:spPr>
        <p:txBody>
          <a:bodyPr wrap="square" lIns="0" tIns="0" rIns="0" bIns="0" rtlCol="0" anchor="ctr"/>
          <a:lstStyle/>
          <a:p>
            <a:pPr indent="0" marL="0">
              <a:lnSpc>
                <a:spcPts val="2400"/>
              </a:lnSpc>
              <a:buNone/>
            </a:pPr>
            <a:r>
              <a:rPr lang="en-US" sz="1700" i="1" dirty="0">
                <a:solidFill>
                  <a:srgbClr val="D9A441"/>
                </a:solidFill>
                <a:latin typeface="Cambria" pitchFamily="34" charset="0"/>
                <a:ea typeface="Cambria" pitchFamily="34" charset="-122"/>
                <a:cs typeface="Cambria" pitchFamily="34" charset="-120"/>
              </a:rPr>
              <a:t>The difference between you and her right now is 335 posts and one clear decision.</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3232" y="420624"/>
            <a:ext cx="10735056" cy="274320"/>
          </a:xfrm>
          <a:prstGeom prst="rect">
            <a:avLst/>
          </a:prstGeom>
          <a:noFill/>
          <a:ln/>
        </p:spPr>
        <p:txBody>
          <a:bodyPr wrap="square" lIns="0" tIns="0" rIns="0" bIns="0" rtlCol="0" anchor="ctr"/>
          <a:lstStyle/>
          <a:p>
            <a:pPr indent="0" marL="0">
              <a:buNone/>
            </a:pPr>
            <a:r>
              <a:rPr lang="en-US" sz="1200" b="1" spc="220" kern="0" dirty="0">
                <a:solidFill>
                  <a:srgbClr val="A26769"/>
                </a:solidFill>
                <a:latin typeface="Calibri" pitchFamily="34" charset="0"/>
                <a:ea typeface="Calibri" pitchFamily="34" charset="-122"/>
                <a:cs typeface="Calibri" pitchFamily="34" charset="-120"/>
              </a:rPr>
              <a:t>WHAT SHE ACTUALLY DOES</a:t>
            </a:r>
            <a:endParaRPr lang="en-US" sz="1200" dirty="0"/>
          </a:p>
        </p:txBody>
      </p:sp>
      <p:sp>
        <p:nvSpPr>
          <p:cNvPr id="3" name="Text 1"/>
          <p:cNvSpPr/>
          <p:nvPr/>
        </p:nvSpPr>
        <p:spPr>
          <a:xfrm>
            <a:off x="713232" y="768096"/>
            <a:ext cx="10735056" cy="960120"/>
          </a:xfrm>
          <a:prstGeom prst="rect">
            <a:avLst/>
          </a:prstGeom>
          <a:noFill/>
          <a:ln/>
        </p:spPr>
        <p:txBody>
          <a:bodyPr wrap="square" lIns="0" tIns="0" rIns="0" bIns="0" rtlCol="0" anchor="ctr"/>
          <a:lstStyle/>
          <a:p>
            <a:pPr indent="0" marL="0">
              <a:lnSpc>
                <a:spcPts val="4500"/>
              </a:lnSpc>
              <a:buNone/>
            </a:pPr>
            <a:r>
              <a:rPr lang="en-US" sz="3900" b="1" dirty="0">
                <a:solidFill>
                  <a:srgbClr val="2B1620"/>
                </a:solidFill>
                <a:latin typeface="Cambria" pitchFamily="34" charset="0"/>
                <a:ea typeface="Cambria" pitchFamily="34" charset="-122"/>
                <a:cs typeface="Cambria" pitchFamily="34" charset="-120"/>
              </a:rPr>
              <a:t>Six things Katie does that you don't — yet</a:t>
            </a:r>
            <a:endParaRPr lang="en-US" sz="3900" dirty="0"/>
          </a:p>
        </p:txBody>
      </p:sp>
      <p:sp>
        <p:nvSpPr>
          <p:cNvPr id="4" name="Shape 2"/>
          <p:cNvSpPr/>
          <p:nvPr/>
        </p:nvSpPr>
        <p:spPr>
          <a:xfrm>
            <a:off x="713232" y="1828800"/>
            <a:ext cx="420624" cy="420624"/>
          </a:xfrm>
          <a:prstGeom prst="ellipse">
            <a:avLst/>
          </a:prstGeom>
          <a:solidFill>
            <a:srgbClr val="6D2E46"/>
          </a:solidFill>
          <a:ln/>
        </p:spPr>
      </p:sp>
      <p:sp>
        <p:nvSpPr>
          <p:cNvPr id="5" name="Text 3"/>
          <p:cNvSpPr/>
          <p:nvPr/>
        </p:nvSpPr>
        <p:spPr>
          <a:xfrm>
            <a:off x="713232" y="18288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316736" y="1792224"/>
            <a:ext cx="4754880" cy="292608"/>
          </a:xfrm>
          <a:prstGeom prst="rect">
            <a:avLst/>
          </a:prstGeom>
          <a:noFill/>
          <a:ln/>
        </p:spPr>
        <p:txBody>
          <a:bodyPr wrap="square" lIns="0" tIns="0" rIns="0" bIns="0" rtlCol="0" anchor="ctr"/>
          <a:lstStyle/>
          <a:p>
            <a:pPr indent="0" marL="0">
              <a:buNone/>
            </a:pPr>
            <a:r>
              <a:rPr lang="en-US" sz="1550" b="1" dirty="0">
                <a:solidFill>
                  <a:srgbClr val="2B1620"/>
                </a:solidFill>
                <a:latin typeface="Calibri" pitchFamily="34" charset="0"/>
                <a:ea typeface="Calibri" pitchFamily="34" charset="-122"/>
                <a:cs typeface="Calibri" pitchFamily="34" charset="-120"/>
              </a:rPr>
              <a:t>She documents. She doesn't teach.</a:t>
            </a:r>
            <a:endParaRPr lang="en-US" sz="1550" dirty="0"/>
          </a:p>
        </p:txBody>
      </p:sp>
      <p:sp>
        <p:nvSpPr>
          <p:cNvPr id="7" name="Text 5"/>
          <p:cNvSpPr/>
          <p:nvPr/>
        </p:nvSpPr>
        <p:spPr>
          <a:xfrm>
            <a:off x="1316736" y="2121408"/>
            <a:ext cx="4754880" cy="594360"/>
          </a:xfrm>
          <a:prstGeom prst="rect">
            <a:avLst/>
          </a:prstGeom>
          <a:noFill/>
          <a:ln/>
        </p:spPr>
        <p:txBody>
          <a:bodyPr wrap="square" lIns="0" tIns="0" rIns="0" bIns="0" rtlCol="0" anchor="ctr"/>
          <a:lstStyle/>
          <a:p>
            <a:pPr indent="0" marL="0">
              <a:lnSpc>
                <a:spcPts val="1800"/>
              </a:lnSpc>
              <a:buNone/>
            </a:pPr>
            <a:r>
              <a:rPr lang="en-US" sz="1300" dirty="0">
                <a:solidFill>
                  <a:srgbClr val="7A6068"/>
                </a:solidFill>
                <a:latin typeface="Calibri" pitchFamily="34" charset="0"/>
                <a:ea typeface="Calibri" pitchFamily="34" charset="-122"/>
                <a:cs typeface="Calibri" pitchFamily="34" charset="-120"/>
              </a:rPr>
              <a:t>"86 days of small boring tasks." People return for the next episode, not the next tip.</a:t>
            </a:r>
            <a:endParaRPr lang="en-US" sz="1300" dirty="0"/>
          </a:p>
        </p:txBody>
      </p:sp>
      <p:sp>
        <p:nvSpPr>
          <p:cNvPr id="8" name="Shape 6"/>
          <p:cNvSpPr/>
          <p:nvPr/>
        </p:nvSpPr>
        <p:spPr>
          <a:xfrm>
            <a:off x="6336792" y="1828800"/>
            <a:ext cx="420624" cy="420624"/>
          </a:xfrm>
          <a:prstGeom prst="ellipse">
            <a:avLst/>
          </a:prstGeom>
          <a:solidFill>
            <a:srgbClr val="6D2E46"/>
          </a:solidFill>
          <a:ln/>
        </p:spPr>
      </p:sp>
      <p:sp>
        <p:nvSpPr>
          <p:cNvPr id="9" name="Text 7"/>
          <p:cNvSpPr/>
          <p:nvPr/>
        </p:nvSpPr>
        <p:spPr>
          <a:xfrm>
            <a:off x="6336792" y="18288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6940296" y="1792224"/>
            <a:ext cx="4754880" cy="292608"/>
          </a:xfrm>
          <a:prstGeom prst="rect">
            <a:avLst/>
          </a:prstGeom>
          <a:noFill/>
          <a:ln/>
        </p:spPr>
        <p:txBody>
          <a:bodyPr wrap="square" lIns="0" tIns="0" rIns="0" bIns="0" rtlCol="0" anchor="ctr"/>
          <a:lstStyle/>
          <a:p>
            <a:pPr indent="0" marL="0">
              <a:buNone/>
            </a:pPr>
            <a:r>
              <a:rPr lang="en-US" sz="1550" b="1" dirty="0">
                <a:solidFill>
                  <a:srgbClr val="2B1620"/>
                </a:solidFill>
                <a:latin typeface="Calibri" pitchFamily="34" charset="0"/>
                <a:ea typeface="Calibri" pitchFamily="34" charset="-122"/>
                <a:cs typeface="Calibri" pitchFamily="34" charset="-120"/>
              </a:rPr>
              <a:t>Monthly challenges with public rules</a:t>
            </a:r>
            <a:endParaRPr lang="en-US" sz="1550" dirty="0"/>
          </a:p>
        </p:txBody>
      </p:sp>
      <p:sp>
        <p:nvSpPr>
          <p:cNvPr id="11" name="Text 9"/>
          <p:cNvSpPr/>
          <p:nvPr/>
        </p:nvSpPr>
        <p:spPr>
          <a:xfrm>
            <a:off x="6940296" y="2121408"/>
            <a:ext cx="4754880" cy="594360"/>
          </a:xfrm>
          <a:prstGeom prst="rect">
            <a:avLst/>
          </a:prstGeom>
          <a:noFill/>
          <a:ln/>
        </p:spPr>
        <p:txBody>
          <a:bodyPr wrap="square" lIns="0" tIns="0" rIns="0" bIns="0" rtlCol="0" anchor="ctr"/>
          <a:lstStyle/>
          <a:p>
            <a:pPr indent="0" marL="0">
              <a:lnSpc>
                <a:spcPts val="1800"/>
              </a:lnSpc>
              <a:buNone/>
            </a:pPr>
            <a:r>
              <a:rPr lang="en-US" sz="1300" dirty="0">
                <a:solidFill>
                  <a:srgbClr val="7A6068"/>
                </a:solidFill>
                <a:latin typeface="Calibri" pitchFamily="34" charset="0"/>
                <a:ea typeface="Calibri" pitchFamily="34" charset="-122"/>
                <a:cs typeface="Calibri" pitchFamily="34" charset="-120"/>
              </a:rPr>
              <a:t>She never runs out of things to post, because the format generates them.</a:t>
            </a:r>
            <a:endParaRPr lang="en-US" sz="1300" dirty="0"/>
          </a:p>
        </p:txBody>
      </p:sp>
      <p:sp>
        <p:nvSpPr>
          <p:cNvPr id="12" name="Shape 10"/>
          <p:cNvSpPr/>
          <p:nvPr/>
        </p:nvSpPr>
        <p:spPr>
          <a:xfrm>
            <a:off x="713232" y="2907792"/>
            <a:ext cx="420624" cy="420624"/>
          </a:xfrm>
          <a:prstGeom prst="ellipse">
            <a:avLst/>
          </a:prstGeom>
          <a:solidFill>
            <a:srgbClr val="6D2E46"/>
          </a:solidFill>
          <a:ln/>
        </p:spPr>
      </p:sp>
      <p:sp>
        <p:nvSpPr>
          <p:cNvPr id="13" name="Text 11"/>
          <p:cNvSpPr/>
          <p:nvPr/>
        </p:nvSpPr>
        <p:spPr>
          <a:xfrm>
            <a:off x="713232" y="29077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316736" y="2871216"/>
            <a:ext cx="4754880" cy="292608"/>
          </a:xfrm>
          <a:prstGeom prst="rect">
            <a:avLst/>
          </a:prstGeom>
          <a:noFill/>
          <a:ln/>
        </p:spPr>
        <p:txBody>
          <a:bodyPr wrap="square" lIns="0" tIns="0" rIns="0" bIns="0" rtlCol="0" anchor="ctr"/>
          <a:lstStyle/>
          <a:p>
            <a:pPr indent="0" marL="0">
              <a:buNone/>
            </a:pPr>
            <a:r>
              <a:rPr lang="en-US" sz="1550" b="1" dirty="0">
                <a:solidFill>
                  <a:srgbClr val="2B1620"/>
                </a:solidFill>
                <a:latin typeface="Calibri" pitchFamily="34" charset="0"/>
                <a:ea typeface="Calibri" pitchFamily="34" charset="-122"/>
                <a:cs typeface="Calibri" pitchFamily="34" charset="-120"/>
              </a:rPr>
              <a:t>She shows what she earns</a:t>
            </a:r>
            <a:endParaRPr lang="en-US" sz="1550" dirty="0"/>
          </a:p>
        </p:txBody>
      </p:sp>
      <p:sp>
        <p:nvSpPr>
          <p:cNvPr id="15" name="Text 13"/>
          <p:cNvSpPr/>
          <p:nvPr/>
        </p:nvSpPr>
        <p:spPr>
          <a:xfrm>
            <a:off x="1316736" y="3200400"/>
            <a:ext cx="4754880" cy="594360"/>
          </a:xfrm>
          <a:prstGeom prst="rect">
            <a:avLst/>
          </a:prstGeom>
          <a:noFill/>
          <a:ln/>
        </p:spPr>
        <p:txBody>
          <a:bodyPr wrap="square" lIns="0" tIns="0" rIns="0" bIns="0" rtlCol="0" anchor="ctr"/>
          <a:lstStyle/>
          <a:p>
            <a:pPr indent="0" marL="0">
              <a:lnSpc>
                <a:spcPts val="1800"/>
              </a:lnSpc>
              <a:buNone/>
            </a:pPr>
            <a:r>
              <a:rPr lang="en-US" sz="1300" dirty="0">
                <a:solidFill>
                  <a:srgbClr val="7A6068"/>
                </a:solidFill>
                <a:latin typeface="Calibri" pitchFamily="34" charset="0"/>
                <a:ea typeface="Calibri" pitchFamily="34" charset="-122"/>
                <a:cs typeface="Calibri" pitchFamily="34" charset="-120"/>
              </a:rPr>
              <a:t>"How much I made in June." Proof beats promises, every time.</a:t>
            </a:r>
            <a:endParaRPr lang="en-US" sz="1300" dirty="0"/>
          </a:p>
        </p:txBody>
      </p:sp>
      <p:sp>
        <p:nvSpPr>
          <p:cNvPr id="16" name="Shape 14"/>
          <p:cNvSpPr/>
          <p:nvPr/>
        </p:nvSpPr>
        <p:spPr>
          <a:xfrm>
            <a:off x="6336792" y="2907792"/>
            <a:ext cx="420624" cy="420624"/>
          </a:xfrm>
          <a:prstGeom prst="ellipse">
            <a:avLst/>
          </a:prstGeom>
          <a:solidFill>
            <a:srgbClr val="6D2E46"/>
          </a:solidFill>
          <a:ln/>
        </p:spPr>
      </p:sp>
      <p:sp>
        <p:nvSpPr>
          <p:cNvPr id="17" name="Text 15"/>
          <p:cNvSpPr/>
          <p:nvPr/>
        </p:nvSpPr>
        <p:spPr>
          <a:xfrm>
            <a:off x="6336792" y="29077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6940296" y="2871216"/>
            <a:ext cx="4754880" cy="292608"/>
          </a:xfrm>
          <a:prstGeom prst="rect">
            <a:avLst/>
          </a:prstGeom>
          <a:noFill/>
          <a:ln/>
        </p:spPr>
        <p:txBody>
          <a:bodyPr wrap="square" lIns="0" tIns="0" rIns="0" bIns="0" rtlCol="0" anchor="ctr"/>
          <a:lstStyle/>
          <a:p>
            <a:pPr indent="0" marL="0">
              <a:buNone/>
            </a:pPr>
            <a:r>
              <a:rPr lang="en-US" sz="1550" b="1" dirty="0">
                <a:solidFill>
                  <a:srgbClr val="2B1620"/>
                </a:solidFill>
                <a:latin typeface="Calibri" pitchFamily="34" charset="0"/>
                <a:ea typeface="Calibri" pitchFamily="34" charset="-122"/>
                <a:cs typeface="Calibri" pitchFamily="34" charset="-120"/>
              </a:rPr>
              <a:t>She de-influences</a:t>
            </a:r>
            <a:endParaRPr lang="en-US" sz="1550" dirty="0"/>
          </a:p>
        </p:txBody>
      </p:sp>
      <p:sp>
        <p:nvSpPr>
          <p:cNvPr id="19" name="Text 17"/>
          <p:cNvSpPr/>
          <p:nvPr/>
        </p:nvSpPr>
        <p:spPr>
          <a:xfrm>
            <a:off x="6940296" y="3200400"/>
            <a:ext cx="4754880" cy="594360"/>
          </a:xfrm>
          <a:prstGeom prst="rect">
            <a:avLst/>
          </a:prstGeom>
          <a:noFill/>
          <a:ln/>
        </p:spPr>
        <p:txBody>
          <a:bodyPr wrap="square" lIns="0" tIns="0" rIns="0" bIns="0" rtlCol="0" anchor="ctr"/>
          <a:lstStyle/>
          <a:p>
            <a:pPr indent="0" marL="0">
              <a:lnSpc>
                <a:spcPts val="1800"/>
              </a:lnSpc>
              <a:buNone/>
            </a:pPr>
            <a:r>
              <a:rPr lang="en-US" sz="1300" dirty="0">
                <a:solidFill>
                  <a:srgbClr val="7A6068"/>
                </a:solidFill>
                <a:latin typeface="Calibri" pitchFamily="34" charset="0"/>
                <a:ea typeface="Calibri" pitchFamily="34" charset="-122"/>
                <a:cs typeface="Calibri" pitchFamily="34" charset="-120"/>
              </a:rPr>
              <a:t>"No cleaning lady. Car from 2004. This is normal." It's why she's trusted.</a:t>
            </a:r>
            <a:endParaRPr lang="en-US" sz="1300" dirty="0"/>
          </a:p>
        </p:txBody>
      </p:sp>
      <p:sp>
        <p:nvSpPr>
          <p:cNvPr id="20" name="Shape 18"/>
          <p:cNvSpPr/>
          <p:nvPr/>
        </p:nvSpPr>
        <p:spPr>
          <a:xfrm>
            <a:off x="713232" y="3986784"/>
            <a:ext cx="420624" cy="420624"/>
          </a:xfrm>
          <a:prstGeom prst="ellipse">
            <a:avLst/>
          </a:prstGeom>
          <a:solidFill>
            <a:srgbClr val="6D2E46"/>
          </a:solidFill>
          <a:ln/>
        </p:spPr>
      </p:sp>
      <p:sp>
        <p:nvSpPr>
          <p:cNvPr id="21" name="Text 19"/>
          <p:cNvSpPr/>
          <p:nvPr/>
        </p:nvSpPr>
        <p:spPr>
          <a:xfrm>
            <a:off x="713232" y="39867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1316736" y="3950208"/>
            <a:ext cx="4754880" cy="292608"/>
          </a:xfrm>
          <a:prstGeom prst="rect">
            <a:avLst/>
          </a:prstGeom>
          <a:noFill/>
          <a:ln/>
        </p:spPr>
        <p:txBody>
          <a:bodyPr wrap="square" lIns="0" tIns="0" rIns="0" bIns="0" rtlCol="0" anchor="ctr"/>
          <a:lstStyle/>
          <a:p>
            <a:pPr indent="0" marL="0">
              <a:buNone/>
            </a:pPr>
            <a:r>
              <a:rPr lang="en-US" sz="1550" b="1" dirty="0">
                <a:solidFill>
                  <a:srgbClr val="2B1620"/>
                </a:solidFill>
                <a:latin typeface="Calibri" pitchFamily="34" charset="0"/>
                <a:ea typeface="Calibri" pitchFamily="34" charset="-122"/>
                <a:cs typeface="Calibri" pitchFamily="34" charset="-120"/>
              </a:rPr>
              <a:t>Everything is selfie camera</a:t>
            </a:r>
            <a:endParaRPr lang="en-US" sz="1550" dirty="0"/>
          </a:p>
        </p:txBody>
      </p:sp>
      <p:sp>
        <p:nvSpPr>
          <p:cNvPr id="23" name="Text 21"/>
          <p:cNvSpPr/>
          <p:nvPr/>
        </p:nvSpPr>
        <p:spPr>
          <a:xfrm>
            <a:off x="1316736" y="4279392"/>
            <a:ext cx="4754880" cy="594360"/>
          </a:xfrm>
          <a:prstGeom prst="rect">
            <a:avLst/>
          </a:prstGeom>
          <a:noFill/>
          <a:ln/>
        </p:spPr>
        <p:txBody>
          <a:bodyPr wrap="square" lIns="0" tIns="0" rIns="0" bIns="0" rtlCol="0" anchor="ctr"/>
          <a:lstStyle/>
          <a:p>
            <a:pPr indent="0" marL="0">
              <a:lnSpc>
                <a:spcPts val="1800"/>
              </a:lnSpc>
              <a:buNone/>
            </a:pPr>
            <a:r>
              <a:rPr lang="en-US" sz="1300" dirty="0">
                <a:solidFill>
                  <a:srgbClr val="7A6068"/>
                </a:solidFill>
                <a:latin typeface="Calibri" pitchFamily="34" charset="0"/>
                <a:ea typeface="Calibri" pitchFamily="34" charset="-122"/>
                <a:cs typeface="Calibri" pitchFamily="34" charset="-120"/>
              </a:rPr>
              <a:t>No crew, no lighting. She looks like the woman watching. That's the point.</a:t>
            </a:r>
            <a:endParaRPr lang="en-US" sz="1300" dirty="0"/>
          </a:p>
        </p:txBody>
      </p:sp>
      <p:sp>
        <p:nvSpPr>
          <p:cNvPr id="24" name="Shape 22"/>
          <p:cNvSpPr/>
          <p:nvPr/>
        </p:nvSpPr>
        <p:spPr>
          <a:xfrm>
            <a:off x="6336792" y="3986784"/>
            <a:ext cx="420624" cy="420624"/>
          </a:xfrm>
          <a:prstGeom prst="ellipse">
            <a:avLst/>
          </a:prstGeom>
          <a:solidFill>
            <a:srgbClr val="6D2E46"/>
          </a:solidFill>
          <a:ln/>
        </p:spPr>
      </p:sp>
      <p:sp>
        <p:nvSpPr>
          <p:cNvPr id="25" name="Text 23"/>
          <p:cNvSpPr/>
          <p:nvPr/>
        </p:nvSpPr>
        <p:spPr>
          <a:xfrm>
            <a:off x="6336792" y="39867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6" name="Text 24"/>
          <p:cNvSpPr/>
          <p:nvPr/>
        </p:nvSpPr>
        <p:spPr>
          <a:xfrm>
            <a:off x="6940296" y="3950208"/>
            <a:ext cx="4754880" cy="292608"/>
          </a:xfrm>
          <a:prstGeom prst="rect">
            <a:avLst/>
          </a:prstGeom>
          <a:noFill/>
          <a:ln/>
        </p:spPr>
        <p:txBody>
          <a:bodyPr wrap="square" lIns="0" tIns="0" rIns="0" bIns="0" rtlCol="0" anchor="ctr"/>
          <a:lstStyle/>
          <a:p>
            <a:pPr indent="0" marL="0">
              <a:buNone/>
            </a:pPr>
            <a:r>
              <a:rPr lang="en-US" sz="1550" b="1" dirty="0">
                <a:solidFill>
                  <a:srgbClr val="2B1620"/>
                </a:solidFill>
                <a:latin typeface="Calibri" pitchFamily="34" charset="0"/>
                <a:ea typeface="Calibri" pitchFamily="34" charset="-122"/>
                <a:cs typeface="Calibri" pitchFamily="34" charset="-120"/>
              </a:rPr>
              <a:t>Her comments ask for the prompt</a:t>
            </a:r>
            <a:endParaRPr lang="en-US" sz="1550" dirty="0"/>
          </a:p>
        </p:txBody>
      </p:sp>
      <p:sp>
        <p:nvSpPr>
          <p:cNvPr id="27" name="Text 25"/>
          <p:cNvSpPr/>
          <p:nvPr/>
        </p:nvSpPr>
        <p:spPr>
          <a:xfrm>
            <a:off x="6940296" y="4279392"/>
            <a:ext cx="4754880" cy="594360"/>
          </a:xfrm>
          <a:prstGeom prst="rect">
            <a:avLst/>
          </a:prstGeom>
          <a:noFill/>
          <a:ln/>
        </p:spPr>
        <p:txBody>
          <a:bodyPr wrap="square" lIns="0" tIns="0" rIns="0" bIns="0" rtlCol="0" anchor="ctr"/>
          <a:lstStyle/>
          <a:p>
            <a:pPr indent="0" marL="0">
              <a:lnSpc>
                <a:spcPts val="1800"/>
              </a:lnSpc>
              <a:buNone/>
            </a:pPr>
            <a:r>
              <a:rPr lang="en-US" sz="1300" dirty="0">
                <a:solidFill>
                  <a:srgbClr val="7A6068"/>
                </a:solidFill>
                <a:latin typeface="Calibri" pitchFamily="34" charset="0"/>
                <a:ea typeface="Calibri" pitchFamily="34" charset="-122"/>
                <a:cs typeface="Calibri" pitchFamily="34" charset="-120"/>
              </a:rPr>
              <a:t>She shows the result and holds back the method. The audience runs the funnel.</a:t>
            </a:r>
            <a:endParaRPr lang="en-US" sz="1300" dirty="0"/>
          </a:p>
        </p:txBody>
      </p:sp>
      <p:sp>
        <p:nvSpPr>
          <p:cNvPr id="28" name="Shape 26"/>
          <p:cNvSpPr/>
          <p:nvPr/>
        </p:nvSpPr>
        <p:spPr>
          <a:xfrm>
            <a:off x="713232" y="5257800"/>
            <a:ext cx="10735056" cy="1051560"/>
          </a:xfrm>
          <a:prstGeom prst="roundRect">
            <a:avLst>
              <a:gd name="adj" fmla="val 12174"/>
            </a:avLst>
          </a:prstGeom>
          <a:solidFill>
            <a:srgbClr val="F7F2F4"/>
          </a:solidFill>
          <a:ln/>
        </p:spPr>
      </p:sp>
      <p:sp>
        <p:nvSpPr>
          <p:cNvPr id="29" name="Text 27"/>
          <p:cNvSpPr/>
          <p:nvPr/>
        </p:nvSpPr>
        <p:spPr>
          <a:xfrm>
            <a:off x="1170432" y="5376672"/>
            <a:ext cx="9820656" cy="274320"/>
          </a:xfrm>
          <a:prstGeom prst="rect">
            <a:avLst/>
          </a:prstGeom>
          <a:noFill/>
          <a:ln/>
        </p:spPr>
        <p:txBody>
          <a:bodyPr wrap="square" lIns="0" tIns="0" rIns="0" bIns="0" rtlCol="0" anchor="ctr"/>
          <a:lstStyle/>
          <a:p>
            <a:pPr indent="0" marL="0">
              <a:buNone/>
            </a:pPr>
            <a:r>
              <a:rPr lang="en-US" sz="1400" dirty="0">
                <a:solidFill>
                  <a:srgbClr val="7A6068"/>
                </a:solidFill>
                <a:latin typeface="Calibri" pitchFamily="34" charset="0"/>
                <a:ea typeface="Calibri" pitchFamily="34" charset="-122"/>
                <a:cs typeface="Calibri" pitchFamily="34" charset="-120"/>
              </a:rPr>
              <a:t>And one rule from her pinned post I keep thinking about:</a:t>
            </a:r>
            <a:endParaRPr lang="en-US" sz="1400" dirty="0"/>
          </a:p>
        </p:txBody>
      </p:sp>
      <p:sp>
        <p:nvSpPr>
          <p:cNvPr id="30" name="Text 28"/>
          <p:cNvSpPr/>
          <p:nvPr/>
        </p:nvSpPr>
        <p:spPr>
          <a:xfrm>
            <a:off x="1170432" y="5669280"/>
            <a:ext cx="9820656" cy="457200"/>
          </a:xfrm>
          <a:prstGeom prst="rect">
            <a:avLst/>
          </a:prstGeom>
          <a:noFill/>
          <a:ln/>
        </p:spPr>
        <p:txBody>
          <a:bodyPr wrap="square" lIns="0" tIns="0" rIns="0" bIns="0" rtlCol="0" anchor="ctr"/>
          <a:lstStyle/>
          <a:p>
            <a:pPr indent="0" marL="0">
              <a:buNone/>
            </a:pPr>
            <a:r>
              <a:rPr lang="en-US" sz="2200" b="1" dirty="0">
                <a:solidFill>
                  <a:srgbClr val="6D2E46"/>
                </a:solidFill>
                <a:latin typeface="Cambria" pitchFamily="34" charset="0"/>
                <a:ea typeface="Cambria" pitchFamily="34" charset="-122"/>
                <a:cs typeface="Cambria" pitchFamily="34" charset="-120"/>
              </a:rPr>
              <a:t>"I use AI to upgrade my life. I never use AI to write my content."</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3232" y="420624"/>
            <a:ext cx="10735056" cy="274320"/>
          </a:xfrm>
          <a:prstGeom prst="rect">
            <a:avLst/>
          </a:prstGeom>
          <a:noFill/>
          <a:ln/>
        </p:spPr>
        <p:txBody>
          <a:bodyPr wrap="square" lIns="0" tIns="0" rIns="0" bIns="0" rtlCol="0" anchor="ctr"/>
          <a:lstStyle/>
          <a:p>
            <a:pPr indent="0" marL="0">
              <a:buNone/>
            </a:pPr>
            <a:r>
              <a:rPr lang="en-US" sz="1200" b="1" spc="220" kern="0" dirty="0">
                <a:solidFill>
                  <a:srgbClr val="A26769"/>
                </a:solidFill>
                <a:latin typeface="Calibri" pitchFamily="34" charset="0"/>
                <a:ea typeface="Calibri" pitchFamily="34" charset="-122"/>
                <a:cs typeface="Calibri" pitchFamily="34" charset="-120"/>
              </a:rPr>
              <a:t>THE OTHER ACCOUNT YOU SENT ME</a:t>
            </a:r>
            <a:endParaRPr lang="en-US" sz="1200" dirty="0"/>
          </a:p>
        </p:txBody>
      </p:sp>
      <p:sp>
        <p:nvSpPr>
          <p:cNvPr id="3" name="Text 1"/>
          <p:cNvSpPr/>
          <p:nvPr/>
        </p:nvSpPr>
        <p:spPr>
          <a:xfrm>
            <a:off x="713232" y="768096"/>
            <a:ext cx="10735056" cy="960120"/>
          </a:xfrm>
          <a:prstGeom prst="rect">
            <a:avLst/>
          </a:prstGeom>
          <a:noFill/>
          <a:ln/>
        </p:spPr>
        <p:txBody>
          <a:bodyPr wrap="square" lIns="0" tIns="0" rIns="0" bIns="0" rtlCol="0" anchor="ctr"/>
          <a:lstStyle/>
          <a:p>
            <a:pPr indent="0" marL="0">
              <a:lnSpc>
                <a:spcPts val="4500"/>
              </a:lnSpc>
              <a:buNone/>
            </a:pPr>
            <a:r>
              <a:rPr lang="en-US" sz="3900" b="1" dirty="0">
                <a:solidFill>
                  <a:srgbClr val="2B1620"/>
                </a:solidFill>
                <a:latin typeface="Cambria" pitchFamily="34" charset="0"/>
                <a:ea typeface="Cambria" pitchFamily="34" charset="-122"/>
                <a:cs typeface="Cambria" pitchFamily="34" charset="-120"/>
              </a:rPr>
              <a:t>Mel Robbins is the destination, not the map</a:t>
            </a:r>
            <a:endParaRPr lang="en-US" sz="3900" dirty="0"/>
          </a:p>
        </p:txBody>
      </p:sp>
      <p:sp>
        <p:nvSpPr>
          <p:cNvPr id="4" name="Text 2"/>
          <p:cNvSpPr/>
          <p:nvPr/>
        </p:nvSpPr>
        <p:spPr>
          <a:xfrm>
            <a:off x="713232" y="1874520"/>
            <a:ext cx="10424160" cy="1097280"/>
          </a:xfrm>
          <a:prstGeom prst="rect">
            <a:avLst/>
          </a:prstGeom>
          <a:noFill/>
          <a:ln/>
        </p:spPr>
        <p:txBody>
          <a:bodyPr wrap="square" lIns="0" tIns="0" rIns="0" bIns="0" rtlCol="0" anchor="ctr"/>
          <a:lstStyle/>
          <a:p>
            <a:pPr indent="0" marL="0">
              <a:lnSpc>
                <a:spcPts val="2600"/>
              </a:lnSpc>
              <a:buNone/>
            </a:pPr>
            <a:r>
              <a:rPr lang="en-US" sz="1750" dirty="0">
                <a:solidFill>
                  <a:srgbClr val="2B1620"/>
                </a:solidFill>
                <a:latin typeface="Calibri" pitchFamily="34" charset="0"/>
                <a:ea typeface="Calibri" pitchFamily="34" charset="-122"/>
                <a:cs typeface="Calibri" pitchFamily="34" charset="-120"/>
              </a:rPr>
              <a:t>Behind her Instagram sits the #1 selling book of 2025, a top-tier podcast, a live tour and twenty years of work. The account is the result of that authority, not the thing that built it. Copying the format today would give us beautiful posts nobody shares.</a:t>
            </a:r>
            <a:endParaRPr lang="en-US" sz="1750" dirty="0"/>
          </a:p>
        </p:txBody>
      </p:sp>
      <p:sp>
        <p:nvSpPr>
          <p:cNvPr id="5" name="Text 3"/>
          <p:cNvSpPr/>
          <p:nvPr/>
        </p:nvSpPr>
        <p:spPr>
          <a:xfrm>
            <a:off x="713232" y="3154680"/>
            <a:ext cx="10735056" cy="320040"/>
          </a:xfrm>
          <a:prstGeom prst="rect">
            <a:avLst/>
          </a:prstGeom>
          <a:noFill/>
          <a:ln/>
        </p:spPr>
        <p:txBody>
          <a:bodyPr wrap="square" lIns="0" tIns="0" rIns="0" bIns="0" rtlCol="0" anchor="ctr"/>
          <a:lstStyle/>
          <a:p>
            <a:pPr indent="0" marL="0">
              <a:buNone/>
            </a:pPr>
            <a:r>
              <a:rPr lang="en-US" sz="1500" dirty="0">
                <a:solidFill>
                  <a:srgbClr val="7A6068"/>
                </a:solidFill>
                <a:latin typeface="Calibri" pitchFamily="34" charset="0"/>
                <a:ea typeface="Calibri" pitchFamily="34" charset="-122"/>
                <a:cs typeface="Calibri" pitchFamily="34" charset="-120"/>
              </a:rPr>
              <a:t>But one thing of hers transfers, and it may be the most valuable idea in this deck:</a:t>
            </a:r>
            <a:endParaRPr lang="en-US" sz="1500" dirty="0"/>
          </a:p>
        </p:txBody>
      </p:sp>
      <p:sp>
        <p:nvSpPr>
          <p:cNvPr id="6" name="Shape 4"/>
          <p:cNvSpPr/>
          <p:nvPr/>
        </p:nvSpPr>
        <p:spPr>
          <a:xfrm>
            <a:off x="713232" y="3611880"/>
            <a:ext cx="10735056" cy="1737360"/>
          </a:xfrm>
          <a:prstGeom prst="roundRect">
            <a:avLst>
              <a:gd name="adj" fmla="val 7368"/>
            </a:avLst>
          </a:prstGeom>
          <a:solidFill>
            <a:srgbClr val="3D1B2E"/>
          </a:solidFill>
          <a:ln/>
        </p:spPr>
      </p:sp>
      <p:sp>
        <p:nvSpPr>
          <p:cNvPr id="7" name="Text 5"/>
          <p:cNvSpPr/>
          <p:nvPr/>
        </p:nvSpPr>
        <p:spPr>
          <a:xfrm>
            <a:off x="1170432" y="3840480"/>
            <a:ext cx="9820656" cy="4572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Her whole career rests on </a:t>
            </a:r>
            <a:pPr indent="0" marL="0">
              <a:buNone/>
            </a:pPr>
            <a:r>
              <a:rPr lang="en-US" sz="2800" b="1" dirty="0">
                <a:solidFill>
                  <a:srgbClr val="D9A441"/>
                </a:solidFill>
                <a:latin typeface="Cambria" pitchFamily="34" charset="0"/>
                <a:ea typeface="Cambria" pitchFamily="34" charset="-122"/>
                <a:cs typeface="Cambria" pitchFamily="34" charset="-120"/>
              </a:rPr>
              <a:t>naming a mechanism.</a:t>
            </a:r>
            <a:endParaRPr lang="en-US" sz="2800" dirty="0"/>
          </a:p>
        </p:txBody>
      </p:sp>
      <p:sp>
        <p:nvSpPr>
          <p:cNvPr id="8" name="Text 6"/>
          <p:cNvSpPr/>
          <p:nvPr/>
        </p:nvSpPr>
        <p:spPr>
          <a:xfrm>
            <a:off x="1170432" y="4434840"/>
            <a:ext cx="9820656" cy="731520"/>
          </a:xfrm>
          <a:prstGeom prst="rect">
            <a:avLst/>
          </a:prstGeom>
          <a:noFill/>
          <a:ln/>
        </p:spPr>
        <p:txBody>
          <a:bodyPr wrap="square" lIns="0" tIns="0" rIns="0" bIns="0" rtlCol="0" anchor="ctr"/>
          <a:lstStyle/>
          <a:p>
            <a:pPr indent="0" marL="0">
              <a:lnSpc>
                <a:spcPts val="2300"/>
              </a:lnSpc>
              <a:buNone/>
            </a:pPr>
            <a:r>
              <a:rPr lang="en-US" sz="1600" dirty="0">
                <a:solidFill>
                  <a:srgbClr val="C9AEB8"/>
                </a:solidFill>
                <a:latin typeface="Calibri" pitchFamily="34" charset="0"/>
                <a:ea typeface="Calibri" pitchFamily="34" charset="-122"/>
                <a:cs typeface="Calibri" pitchFamily="34" charset="-120"/>
              </a:rPr>
              <a:t>The 5 Second Rule. The Let Them Theory. Not advice — a named, repeatable thing people describe to each other when she isn't in the room.</a:t>
            </a:r>
            <a:endParaRPr lang="en-US" sz="1600" dirty="0"/>
          </a:p>
        </p:txBody>
      </p:sp>
      <p:sp>
        <p:nvSpPr>
          <p:cNvPr id="9" name="Text 7"/>
          <p:cNvSpPr/>
          <p:nvPr/>
        </p:nvSpPr>
        <p:spPr>
          <a:xfrm>
            <a:off x="713232" y="5623560"/>
            <a:ext cx="10735056" cy="640080"/>
          </a:xfrm>
          <a:prstGeom prst="rect">
            <a:avLst/>
          </a:prstGeom>
          <a:noFill/>
          <a:ln/>
        </p:spPr>
        <p:txBody>
          <a:bodyPr wrap="square" lIns="0" tIns="0" rIns="0" bIns="0" rtlCol="0" anchor="ctr"/>
          <a:lstStyle/>
          <a:p>
            <a:pPr indent="0" marL="0">
              <a:lnSpc>
                <a:spcPts val="2400"/>
              </a:lnSpc>
              <a:buNone/>
            </a:pPr>
            <a:r>
              <a:rPr lang="en-US" sz="1700" i="1" dirty="0">
                <a:solidFill>
                  <a:srgbClr val="D9A441"/>
                </a:solidFill>
                <a:latin typeface="Cambria" pitchFamily="34" charset="0"/>
                <a:ea typeface="Cambria" pitchFamily="34" charset="-122"/>
                <a:cs typeface="Cambria" pitchFamily="34" charset="-120"/>
              </a:rPr>
              <a:t>neXtHer needs one of those. Building it is the first thing I'd want to do with you.</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3232" y="420624"/>
            <a:ext cx="10735056" cy="274320"/>
          </a:xfrm>
          <a:prstGeom prst="rect">
            <a:avLst/>
          </a:prstGeom>
          <a:noFill/>
          <a:ln/>
        </p:spPr>
        <p:txBody>
          <a:bodyPr wrap="square" lIns="0" tIns="0" rIns="0" bIns="0" rtlCol="0" anchor="ctr"/>
          <a:lstStyle/>
          <a:p>
            <a:pPr indent="0" marL="0">
              <a:buNone/>
            </a:pPr>
            <a:r>
              <a:rPr lang="en-US" sz="1200" b="1" spc="220" kern="0" dirty="0">
                <a:solidFill>
                  <a:srgbClr val="A26769"/>
                </a:solidFill>
                <a:latin typeface="Calibri" pitchFamily="34" charset="0"/>
                <a:ea typeface="Calibri" pitchFamily="34" charset="-122"/>
                <a:cs typeface="Calibri" pitchFamily="34" charset="-120"/>
              </a:rPr>
              <a:t>THE OPENING</a:t>
            </a:r>
            <a:endParaRPr lang="en-US" sz="1200" dirty="0"/>
          </a:p>
        </p:txBody>
      </p:sp>
      <p:sp>
        <p:nvSpPr>
          <p:cNvPr id="3" name="Text 1"/>
          <p:cNvSpPr/>
          <p:nvPr/>
        </p:nvSpPr>
        <p:spPr>
          <a:xfrm>
            <a:off x="713232" y="768096"/>
            <a:ext cx="10735056" cy="960120"/>
          </a:xfrm>
          <a:prstGeom prst="rect">
            <a:avLst/>
          </a:prstGeom>
          <a:noFill/>
          <a:ln/>
        </p:spPr>
        <p:txBody>
          <a:bodyPr wrap="square" lIns="0" tIns="0" rIns="0" bIns="0" rtlCol="0" anchor="ctr"/>
          <a:lstStyle/>
          <a:p>
            <a:pPr indent="0" marL="0">
              <a:lnSpc>
                <a:spcPts val="4500"/>
              </a:lnSpc>
              <a:buNone/>
            </a:pPr>
            <a:r>
              <a:rPr lang="en-US" sz="3400" b="1" dirty="0">
                <a:solidFill>
                  <a:srgbClr val="2B1620"/>
                </a:solidFill>
                <a:latin typeface="Cambria" pitchFamily="34" charset="0"/>
                <a:ea typeface="Cambria" pitchFamily="34" charset="-122"/>
                <a:cs typeface="Cambria" pitchFamily="34" charset="-120"/>
              </a:rPr>
              <a:t>Nobody in India is standing where you could stand</a:t>
            </a:r>
            <a:endParaRPr lang="en-US" sz="3400" dirty="0"/>
          </a:p>
        </p:txBody>
      </p:sp>
      <p:sp>
        <p:nvSpPr>
          <p:cNvPr id="4" name="Shape 2"/>
          <p:cNvSpPr/>
          <p:nvPr/>
        </p:nvSpPr>
        <p:spPr>
          <a:xfrm>
            <a:off x="713232" y="1874520"/>
            <a:ext cx="10735056" cy="731520"/>
          </a:xfrm>
          <a:prstGeom prst="roundRect">
            <a:avLst>
              <a:gd name="adj" fmla="val 12500"/>
            </a:avLst>
          </a:prstGeom>
          <a:solidFill>
            <a:srgbClr val="F7F2F4"/>
          </a:solidFill>
          <a:ln/>
        </p:spPr>
      </p:sp>
      <p:sp>
        <p:nvSpPr>
          <p:cNvPr id="5" name="Text 3"/>
          <p:cNvSpPr/>
          <p:nvPr/>
        </p:nvSpPr>
        <p:spPr>
          <a:xfrm>
            <a:off x="1024128" y="1874520"/>
            <a:ext cx="2926080" cy="731520"/>
          </a:xfrm>
          <a:prstGeom prst="rect">
            <a:avLst/>
          </a:prstGeom>
          <a:noFill/>
          <a:ln/>
        </p:spPr>
        <p:txBody>
          <a:bodyPr wrap="square" lIns="0" tIns="0" rIns="0" bIns="0" rtlCol="0" anchor="ctr"/>
          <a:lstStyle/>
          <a:p>
            <a:pPr indent="0" marL="0">
              <a:buNone/>
            </a:pPr>
            <a:r>
              <a:rPr lang="en-US" sz="1500" b="1" dirty="0">
                <a:solidFill>
                  <a:srgbClr val="2B1620"/>
                </a:solidFill>
                <a:latin typeface="Calibri" pitchFamily="34" charset="0"/>
                <a:ea typeface="Calibri" pitchFamily="34" charset="-122"/>
                <a:cs typeface="Calibri" pitchFamily="34" charset="-120"/>
              </a:rPr>
              <a:t>AI education in India</a:t>
            </a:r>
            <a:endParaRPr lang="en-US" sz="1500" dirty="0"/>
          </a:p>
        </p:txBody>
      </p:sp>
      <p:sp>
        <p:nvSpPr>
          <p:cNvPr id="6" name="Text 4"/>
          <p:cNvSpPr/>
          <p:nvPr/>
        </p:nvSpPr>
        <p:spPr>
          <a:xfrm>
            <a:off x="4005072" y="1874520"/>
            <a:ext cx="7123176" cy="731520"/>
          </a:xfrm>
          <a:prstGeom prst="rect">
            <a:avLst/>
          </a:prstGeom>
          <a:noFill/>
          <a:ln/>
        </p:spPr>
        <p:txBody>
          <a:bodyPr wrap="square" lIns="0" tIns="0" rIns="0" bIns="0" rtlCol="0" anchor="ctr"/>
          <a:lstStyle/>
          <a:p>
            <a:pPr indent="0" marL="0">
              <a:buNone/>
            </a:pPr>
            <a:r>
              <a:rPr lang="en-US" sz="1500" dirty="0">
                <a:solidFill>
                  <a:srgbClr val="7A6068"/>
                </a:solidFill>
                <a:latin typeface="Calibri" pitchFamily="34" charset="0"/>
                <a:ea typeface="Calibri" pitchFamily="34" charset="-122"/>
                <a:cs typeface="Calibri" pitchFamily="34" charset="-120"/>
              </a:rPr>
              <a:t>Speaks to men, students and job-seekers. English, technical, career-shaped.</a:t>
            </a:r>
            <a:endParaRPr lang="en-US" sz="1500" dirty="0"/>
          </a:p>
        </p:txBody>
      </p:sp>
      <p:sp>
        <p:nvSpPr>
          <p:cNvPr id="7" name="Shape 5"/>
          <p:cNvSpPr/>
          <p:nvPr/>
        </p:nvSpPr>
        <p:spPr>
          <a:xfrm>
            <a:off x="713232" y="2724912"/>
            <a:ext cx="10735056" cy="731520"/>
          </a:xfrm>
          <a:prstGeom prst="roundRect">
            <a:avLst>
              <a:gd name="adj" fmla="val 12500"/>
            </a:avLst>
          </a:prstGeom>
          <a:solidFill>
            <a:srgbClr val="F7F2F4"/>
          </a:solidFill>
          <a:ln/>
        </p:spPr>
      </p:sp>
      <p:sp>
        <p:nvSpPr>
          <p:cNvPr id="8" name="Text 6"/>
          <p:cNvSpPr/>
          <p:nvPr/>
        </p:nvSpPr>
        <p:spPr>
          <a:xfrm>
            <a:off x="1024128" y="2724912"/>
            <a:ext cx="2926080" cy="731520"/>
          </a:xfrm>
          <a:prstGeom prst="rect">
            <a:avLst/>
          </a:prstGeom>
          <a:noFill/>
          <a:ln/>
        </p:spPr>
        <p:txBody>
          <a:bodyPr wrap="square" lIns="0" tIns="0" rIns="0" bIns="0" rtlCol="0" anchor="ctr"/>
          <a:lstStyle/>
          <a:p>
            <a:pPr indent="0" marL="0">
              <a:buNone/>
            </a:pPr>
            <a:r>
              <a:rPr lang="en-US" sz="1500" b="1" dirty="0">
                <a:solidFill>
                  <a:srgbClr val="2B1620"/>
                </a:solidFill>
                <a:latin typeface="Calibri" pitchFamily="34" charset="0"/>
                <a:ea typeface="Calibri" pitchFamily="34" charset="-122"/>
                <a:cs typeface="Calibri" pitchFamily="34" charset="-120"/>
              </a:rPr>
              <a:t>Mom content in India</a:t>
            </a:r>
            <a:endParaRPr lang="en-US" sz="1500" dirty="0"/>
          </a:p>
        </p:txBody>
      </p:sp>
      <p:sp>
        <p:nvSpPr>
          <p:cNvPr id="9" name="Text 7"/>
          <p:cNvSpPr/>
          <p:nvPr/>
        </p:nvSpPr>
        <p:spPr>
          <a:xfrm>
            <a:off x="4005072" y="2724912"/>
            <a:ext cx="7123176" cy="731520"/>
          </a:xfrm>
          <a:prstGeom prst="rect">
            <a:avLst/>
          </a:prstGeom>
          <a:noFill/>
          <a:ln/>
        </p:spPr>
        <p:txBody>
          <a:bodyPr wrap="square" lIns="0" tIns="0" rIns="0" bIns="0" rtlCol="0" anchor="ctr"/>
          <a:lstStyle/>
          <a:p>
            <a:pPr indent="0" marL="0">
              <a:buNone/>
            </a:pPr>
            <a:r>
              <a:rPr lang="en-US" sz="1500" dirty="0">
                <a:solidFill>
                  <a:srgbClr val="7A6068"/>
                </a:solidFill>
                <a:latin typeface="Calibri" pitchFamily="34" charset="0"/>
                <a:ea typeface="Calibri" pitchFamily="34" charset="-122"/>
                <a:cs typeface="Calibri" pitchFamily="34" charset="-120"/>
              </a:rPr>
              <a:t>Parenting, lifestyle, product hauls. Nothing about her earning.</a:t>
            </a:r>
            <a:endParaRPr lang="en-US" sz="1500" dirty="0"/>
          </a:p>
        </p:txBody>
      </p:sp>
      <p:sp>
        <p:nvSpPr>
          <p:cNvPr id="10" name="Shape 8"/>
          <p:cNvSpPr/>
          <p:nvPr/>
        </p:nvSpPr>
        <p:spPr>
          <a:xfrm>
            <a:off x="713232" y="3575304"/>
            <a:ext cx="10735056" cy="731520"/>
          </a:xfrm>
          <a:prstGeom prst="roundRect">
            <a:avLst>
              <a:gd name="adj" fmla="val 12500"/>
            </a:avLst>
          </a:prstGeom>
          <a:solidFill>
            <a:srgbClr val="F7F2F4"/>
          </a:solidFill>
          <a:ln/>
        </p:spPr>
      </p:sp>
      <p:sp>
        <p:nvSpPr>
          <p:cNvPr id="11" name="Text 9"/>
          <p:cNvSpPr/>
          <p:nvPr/>
        </p:nvSpPr>
        <p:spPr>
          <a:xfrm>
            <a:off x="1024128" y="3575304"/>
            <a:ext cx="2926080" cy="731520"/>
          </a:xfrm>
          <a:prstGeom prst="rect">
            <a:avLst/>
          </a:prstGeom>
          <a:noFill/>
          <a:ln/>
        </p:spPr>
        <p:txBody>
          <a:bodyPr wrap="square" lIns="0" tIns="0" rIns="0" bIns="0" rtlCol="0" anchor="ctr"/>
          <a:lstStyle/>
          <a:p>
            <a:pPr indent="0" marL="0">
              <a:buNone/>
            </a:pPr>
            <a:r>
              <a:rPr lang="en-US" sz="1500" b="1" dirty="0">
                <a:solidFill>
                  <a:srgbClr val="2B1620"/>
                </a:solidFill>
                <a:latin typeface="Calibri" pitchFamily="34" charset="0"/>
                <a:ea typeface="Calibri" pitchFamily="34" charset="-122"/>
                <a:cs typeface="Calibri" pitchFamily="34" charset="-120"/>
              </a:rPr>
              <a:t>Women &amp; money in India</a:t>
            </a:r>
            <a:endParaRPr lang="en-US" sz="1500" dirty="0"/>
          </a:p>
        </p:txBody>
      </p:sp>
      <p:sp>
        <p:nvSpPr>
          <p:cNvPr id="12" name="Text 10"/>
          <p:cNvSpPr/>
          <p:nvPr/>
        </p:nvSpPr>
        <p:spPr>
          <a:xfrm>
            <a:off x="4005072" y="3575304"/>
            <a:ext cx="7123176" cy="731520"/>
          </a:xfrm>
          <a:prstGeom prst="rect">
            <a:avLst/>
          </a:prstGeom>
          <a:noFill/>
          <a:ln/>
        </p:spPr>
        <p:txBody>
          <a:bodyPr wrap="square" lIns="0" tIns="0" rIns="0" bIns="0" rtlCol="0" anchor="ctr"/>
          <a:lstStyle/>
          <a:p>
            <a:pPr indent="0" marL="0">
              <a:buNone/>
            </a:pPr>
            <a:r>
              <a:rPr lang="en-US" sz="1500" dirty="0">
                <a:solidFill>
                  <a:srgbClr val="7A6068"/>
                </a:solidFill>
                <a:latin typeface="Calibri" pitchFamily="34" charset="0"/>
                <a:ea typeface="Calibri" pitchFamily="34" charset="-122"/>
                <a:cs typeface="Calibri" pitchFamily="34" charset="-120"/>
              </a:rPr>
              <a:t>How to invest money you already have. Not how to make your own.</a:t>
            </a:r>
            <a:endParaRPr lang="en-US" sz="1500" dirty="0"/>
          </a:p>
        </p:txBody>
      </p:sp>
      <p:sp>
        <p:nvSpPr>
          <p:cNvPr id="13" name="Shape 11"/>
          <p:cNvSpPr/>
          <p:nvPr/>
        </p:nvSpPr>
        <p:spPr>
          <a:xfrm>
            <a:off x="713232" y="4425696"/>
            <a:ext cx="10735056" cy="896112"/>
          </a:xfrm>
          <a:prstGeom prst="roundRect">
            <a:avLst>
              <a:gd name="adj" fmla="val 10204"/>
            </a:avLst>
          </a:prstGeom>
          <a:solidFill>
            <a:srgbClr val="6D2E46"/>
          </a:solidFill>
          <a:ln/>
        </p:spPr>
      </p:sp>
      <p:sp>
        <p:nvSpPr>
          <p:cNvPr id="14" name="Text 12"/>
          <p:cNvSpPr/>
          <p:nvPr/>
        </p:nvSpPr>
        <p:spPr>
          <a:xfrm>
            <a:off x="1024128" y="4425696"/>
            <a:ext cx="2926080" cy="896112"/>
          </a:xfrm>
          <a:prstGeom prst="rect">
            <a:avLst/>
          </a:prstGeom>
          <a:noFill/>
          <a:ln/>
        </p:spPr>
        <p:txBody>
          <a:bodyPr wrap="square" lIns="0" tIns="0" rIns="0" bIns="0" rtlCol="0" anchor="ctr"/>
          <a:lstStyle/>
          <a:p>
            <a:pPr indent="0" marL="0">
              <a:buNone/>
            </a:pPr>
            <a:r>
              <a:rPr lang="en-US" sz="1500" b="1" dirty="0">
                <a:solidFill>
                  <a:srgbClr val="D9A441"/>
                </a:solidFill>
                <a:latin typeface="Calibri" pitchFamily="34" charset="0"/>
                <a:ea typeface="Calibri" pitchFamily="34" charset="-122"/>
                <a:cs typeface="Calibri" pitchFamily="34" charset="-120"/>
              </a:rPr>
              <a:t>The empty space</a:t>
            </a:r>
            <a:endParaRPr lang="en-US" sz="1500" dirty="0"/>
          </a:p>
        </p:txBody>
      </p:sp>
      <p:sp>
        <p:nvSpPr>
          <p:cNvPr id="15" name="Text 13"/>
          <p:cNvSpPr/>
          <p:nvPr/>
        </p:nvSpPr>
        <p:spPr>
          <a:xfrm>
            <a:off x="4005072" y="4425696"/>
            <a:ext cx="7077456" cy="896112"/>
          </a:xfrm>
          <a:prstGeom prst="rect">
            <a:avLst/>
          </a:prstGeom>
          <a:noFill/>
          <a:ln/>
        </p:spPr>
        <p:txBody>
          <a:bodyPr wrap="square" lIns="0" tIns="0" rIns="0" bIns="0" rtlCol="0" anchor="ctr"/>
          <a:lstStyle/>
          <a:p>
            <a:pPr indent="0" marL="0">
              <a:lnSpc>
                <a:spcPts val="2200"/>
              </a:lnSpc>
              <a:buNone/>
            </a:pPr>
            <a:r>
              <a:rPr lang="en-US" sz="1600" dirty="0">
                <a:solidFill>
                  <a:srgbClr val="FFFFFF"/>
                </a:solidFill>
                <a:latin typeface="Calibri" pitchFamily="34" charset="0"/>
                <a:ea typeface="Calibri" pitchFamily="34" charset="-122"/>
                <a:cs typeface="Calibri" pitchFamily="34" charset="-120"/>
              </a:rPr>
              <a:t>An Indian mother teaching other Indian mothers to earn with AI — in Hinglish, with in-laws and school runs in the picture.</a:t>
            </a:r>
            <a:endParaRPr lang="en-US" sz="1600" dirty="0"/>
          </a:p>
        </p:txBody>
      </p:sp>
      <p:sp>
        <p:nvSpPr>
          <p:cNvPr id="16" name="Text 14"/>
          <p:cNvSpPr/>
          <p:nvPr/>
        </p:nvSpPr>
        <p:spPr>
          <a:xfrm>
            <a:off x="713232" y="5806440"/>
            <a:ext cx="10424160" cy="457200"/>
          </a:xfrm>
          <a:prstGeom prst="rect">
            <a:avLst/>
          </a:prstGeom>
          <a:noFill/>
          <a:ln/>
        </p:spPr>
        <p:txBody>
          <a:bodyPr wrap="square" lIns="0" tIns="0" rIns="0" bIns="0" rtlCol="0" anchor="ctr"/>
          <a:lstStyle/>
          <a:p>
            <a:pPr indent="0" marL="0">
              <a:buNone/>
            </a:pPr>
            <a:r>
              <a:rPr lang="en-US" sz="1700" dirty="0">
                <a:solidFill>
                  <a:srgbClr val="2B1620"/>
                </a:solidFill>
                <a:latin typeface="Calibri" pitchFamily="34" charset="0"/>
                <a:ea typeface="Calibri" pitchFamily="34" charset="-122"/>
                <a:cs typeface="Calibri" pitchFamily="34" charset="-120"/>
              </a:rPr>
              <a:t>I searched for someone already doing this. </a:t>
            </a:r>
            <a:pPr indent="0" marL="0">
              <a:buNone/>
            </a:pPr>
            <a:r>
              <a:rPr lang="en-US" sz="1700" b="1" dirty="0">
                <a:solidFill>
                  <a:srgbClr val="2B1620"/>
                </a:solidFill>
                <a:latin typeface="Calibri" pitchFamily="34" charset="0"/>
                <a:ea typeface="Calibri" pitchFamily="34" charset="-122"/>
                <a:cs typeface="Calibri" pitchFamily="34" charset="-120"/>
              </a:rPr>
              <a:t>I couldn't find her.</a:t>
            </a:r>
            <a:pPr indent="0" marL="0">
              <a:buNone/>
            </a:pPr>
            <a:r>
              <a:rPr lang="en-US" sz="1700" dirty="0">
                <a:solidFill>
                  <a:srgbClr val="2B1620"/>
                </a:solidFill>
                <a:latin typeface="Calibri" pitchFamily="34" charset="0"/>
                <a:ea typeface="Calibri" pitchFamily="34" charset="-122"/>
                <a:cs typeface="Calibri" pitchFamily="34" charset="-120"/>
              </a:rPr>
              <a:t> That won't be true in a year.</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3232" y="420624"/>
            <a:ext cx="10735056" cy="274320"/>
          </a:xfrm>
          <a:prstGeom prst="rect">
            <a:avLst/>
          </a:prstGeom>
          <a:noFill/>
          <a:ln/>
        </p:spPr>
        <p:txBody>
          <a:bodyPr wrap="square" lIns="0" tIns="0" rIns="0" bIns="0" rtlCol="0" anchor="ctr"/>
          <a:lstStyle/>
          <a:p>
            <a:pPr indent="0" marL="0">
              <a:buNone/>
            </a:pPr>
            <a:r>
              <a:rPr lang="en-US" sz="1200" b="1" spc="220" kern="0" dirty="0">
                <a:solidFill>
                  <a:srgbClr val="A26769"/>
                </a:solidFill>
                <a:latin typeface="Calibri" pitchFamily="34" charset="0"/>
                <a:ea typeface="Calibri" pitchFamily="34" charset="-122"/>
                <a:cs typeface="Calibri" pitchFamily="34" charset="-120"/>
              </a:rPr>
              <a:t>THE PART THAT MATTERS MOST</a:t>
            </a:r>
            <a:endParaRPr lang="en-US" sz="1200" dirty="0"/>
          </a:p>
        </p:txBody>
      </p:sp>
      <p:sp>
        <p:nvSpPr>
          <p:cNvPr id="3" name="Text 1"/>
          <p:cNvSpPr/>
          <p:nvPr/>
        </p:nvSpPr>
        <p:spPr>
          <a:xfrm>
            <a:off x="713232" y="768096"/>
            <a:ext cx="10735056" cy="960120"/>
          </a:xfrm>
          <a:prstGeom prst="rect">
            <a:avLst/>
          </a:prstGeom>
          <a:noFill/>
          <a:ln/>
        </p:spPr>
        <p:txBody>
          <a:bodyPr wrap="square" lIns="0" tIns="0" rIns="0" bIns="0" rtlCol="0" anchor="ctr"/>
          <a:lstStyle/>
          <a:p>
            <a:pPr indent="0" marL="0">
              <a:lnSpc>
                <a:spcPts val="4500"/>
              </a:lnSpc>
              <a:buNone/>
            </a:pPr>
            <a:r>
              <a:rPr lang="en-US" sz="3900" b="1" dirty="0">
                <a:solidFill>
                  <a:srgbClr val="2B1620"/>
                </a:solidFill>
                <a:latin typeface="Cambria" pitchFamily="34" charset="0"/>
                <a:ea typeface="Cambria" pitchFamily="34" charset="-122"/>
                <a:cs typeface="Cambria" pitchFamily="34" charset="-120"/>
              </a:rPr>
              <a:t>What we'd actually shoot</a:t>
            </a:r>
            <a:endParaRPr lang="en-US" sz="3900" dirty="0"/>
          </a:p>
        </p:txBody>
      </p:sp>
      <p:sp>
        <p:nvSpPr>
          <p:cNvPr id="4" name="Text 2"/>
          <p:cNvSpPr/>
          <p:nvPr/>
        </p:nvSpPr>
        <p:spPr>
          <a:xfrm>
            <a:off x="713232" y="1737360"/>
            <a:ext cx="10735056" cy="320040"/>
          </a:xfrm>
          <a:prstGeom prst="rect">
            <a:avLst/>
          </a:prstGeom>
          <a:noFill/>
          <a:ln/>
        </p:spPr>
        <p:txBody>
          <a:bodyPr wrap="square" lIns="0" tIns="0" rIns="0" bIns="0" rtlCol="0" anchor="ctr"/>
          <a:lstStyle/>
          <a:p>
            <a:pPr indent="0" marL="0">
              <a:buNone/>
            </a:pPr>
            <a:r>
              <a:rPr lang="en-US" sz="1600" dirty="0">
                <a:solidFill>
                  <a:srgbClr val="7A6068"/>
                </a:solidFill>
                <a:latin typeface="Calibri" pitchFamily="34" charset="0"/>
                <a:ea typeface="Calibri" pitchFamily="34" charset="-122"/>
                <a:cs typeface="Calibri" pitchFamily="34" charset="-120"/>
              </a:rPr>
              <a:t>Six formats. Each one does a specific job — nothing gets filmed just to fill a slot.</a:t>
            </a:r>
            <a:endParaRPr lang="en-US" sz="1600" dirty="0"/>
          </a:p>
        </p:txBody>
      </p:sp>
      <p:sp>
        <p:nvSpPr>
          <p:cNvPr id="5" name="Shape 3"/>
          <p:cNvSpPr/>
          <p:nvPr/>
        </p:nvSpPr>
        <p:spPr>
          <a:xfrm>
            <a:off x="713232" y="2121408"/>
            <a:ext cx="5212080" cy="1243584"/>
          </a:xfrm>
          <a:prstGeom prst="roundRect">
            <a:avLst>
              <a:gd name="adj" fmla="val 10294"/>
            </a:avLst>
          </a:prstGeom>
          <a:solidFill>
            <a:srgbClr val="F7F2F4"/>
          </a:solidFill>
          <a:ln/>
        </p:spPr>
      </p:sp>
      <p:sp>
        <p:nvSpPr>
          <p:cNvPr id="6" name="Text 4"/>
          <p:cNvSpPr/>
          <p:nvPr/>
        </p:nvSpPr>
        <p:spPr>
          <a:xfrm>
            <a:off x="987552" y="2221992"/>
            <a:ext cx="4663440" cy="274320"/>
          </a:xfrm>
          <a:prstGeom prst="rect">
            <a:avLst/>
          </a:prstGeom>
          <a:noFill/>
          <a:ln/>
        </p:spPr>
        <p:txBody>
          <a:bodyPr wrap="square" lIns="0" tIns="0" rIns="0" bIns="0" rtlCol="0" anchor="ctr"/>
          <a:lstStyle/>
          <a:p>
            <a:pPr indent="0" marL="0">
              <a:buNone/>
            </a:pPr>
            <a:r>
              <a:rPr lang="en-US" sz="1550" b="1" dirty="0">
                <a:solidFill>
                  <a:srgbClr val="6D2E46"/>
                </a:solidFill>
                <a:latin typeface="Calibri" pitchFamily="34" charset="0"/>
                <a:ea typeface="Calibri" pitchFamily="34" charset="-122"/>
                <a:cs typeface="Calibri" pitchFamily="34" charset="-120"/>
              </a:rPr>
              <a:t>Screen recordings</a:t>
            </a:r>
            <a:endParaRPr lang="en-US" sz="1550" dirty="0"/>
          </a:p>
        </p:txBody>
      </p:sp>
      <p:sp>
        <p:nvSpPr>
          <p:cNvPr id="7" name="Text 5"/>
          <p:cNvSpPr/>
          <p:nvPr/>
        </p:nvSpPr>
        <p:spPr>
          <a:xfrm>
            <a:off x="987552" y="2514600"/>
            <a:ext cx="4663440" cy="420624"/>
          </a:xfrm>
          <a:prstGeom prst="rect">
            <a:avLst/>
          </a:prstGeom>
          <a:noFill/>
          <a:ln/>
        </p:spPr>
        <p:txBody>
          <a:bodyPr wrap="square" lIns="0" tIns="0" rIns="0" bIns="0" rtlCol="0" anchor="ctr"/>
          <a:lstStyle/>
          <a:p>
            <a:pPr indent="0" marL="0">
              <a:lnSpc>
                <a:spcPts val="1800"/>
              </a:lnSpc>
              <a:buNone/>
            </a:pPr>
            <a:r>
              <a:rPr lang="en-US" sz="1300" dirty="0">
                <a:solidFill>
                  <a:srgbClr val="2B1620"/>
                </a:solidFill>
                <a:latin typeface="Calibri" pitchFamily="34" charset="0"/>
                <a:ea typeface="Calibri" pitchFamily="34" charset="-122"/>
                <a:cs typeface="Calibri" pitchFamily="34" charset="-120"/>
              </a:rPr>
              <a:t>"Watch me write a month of content for a local business in 20 minutes."</a:t>
            </a:r>
            <a:endParaRPr lang="en-US" sz="1300" dirty="0"/>
          </a:p>
        </p:txBody>
      </p:sp>
      <p:sp>
        <p:nvSpPr>
          <p:cNvPr id="8" name="Text 6"/>
          <p:cNvSpPr/>
          <p:nvPr/>
        </p:nvSpPr>
        <p:spPr>
          <a:xfrm>
            <a:off x="987552" y="2953512"/>
            <a:ext cx="4663440" cy="384048"/>
          </a:xfrm>
          <a:prstGeom prst="rect">
            <a:avLst/>
          </a:prstGeom>
          <a:noFill/>
          <a:ln/>
        </p:spPr>
        <p:txBody>
          <a:bodyPr wrap="square" lIns="0" tIns="0" rIns="0" bIns="0" rtlCol="0" anchor="ctr"/>
          <a:lstStyle/>
          <a:p>
            <a:pPr indent="0" marL="0">
              <a:lnSpc>
                <a:spcPts val="1600"/>
              </a:lnSpc>
              <a:buNone/>
            </a:pPr>
            <a:r>
              <a:rPr lang="en-US" sz="1200" b="1" dirty="0">
                <a:solidFill>
                  <a:srgbClr val="2B1620"/>
                </a:solidFill>
                <a:latin typeface="Calibri" pitchFamily="34" charset="0"/>
                <a:ea typeface="Calibri" pitchFamily="34" charset="-122"/>
                <a:cs typeface="Calibri" pitchFamily="34" charset="-120"/>
              </a:rPr>
              <a:t>Does: </a:t>
            </a:r>
            <a:pPr indent="0" marL="0">
              <a:lnSpc>
                <a:spcPts val="1600"/>
              </a:lnSpc>
              <a:buNone/>
            </a:pPr>
            <a:r>
              <a:rPr lang="en-US" sz="1200" dirty="0">
                <a:solidFill>
                  <a:srgbClr val="7A6068"/>
                </a:solidFill>
                <a:latin typeface="Calibri" pitchFamily="34" charset="0"/>
                <a:ea typeface="Calibri" pitchFamily="34" charset="-122"/>
                <a:cs typeface="Calibri" pitchFamily="34" charset="-120"/>
              </a:rPr>
              <a:t>proves you can actually do it. Highest watch-time format you have.</a:t>
            </a:r>
            <a:endParaRPr lang="en-US" sz="1200" dirty="0"/>
          </a:p>
        </p:txBody>
      </p:sp>
      <p:sp>
        <p:nvSpPr>
          <p:cNvPr id="9" name="Shape 7"/>
          <p:cNvSpPr/>
          <p:nvPr/>
        </p:nvSpPr>
        <p:spPr>
          <a:xfrm>
            <a:off x="6336792" y="2121408"/>
            <a:ext cx="5212080" cy="1243584"/>
          </a:xfrm>
          <a:prstGeom prst="roundRect">
            <a:avLst>
              <a:gd name="adj" fmla="val 10294"/>
            </a:avLst>
          </a:prstGeom>
          <a:solidFill>
            <a:srgbClr val="F7F2F4"/>
          </a:solidFill>
          <a:ln/>
        </p:spPr>
      </p:sp>
      <p:sp>
        <p:nvSpPr>
          <p:cNvPr id="10" name="Text 8"/>
          <p:cNvSpPr/>
          <p:nvPr/>
        </p:nvSpPr>
        <p:spPr>
          <a:xfrm>
            <a:off x="6611112" y="2221992"/>
            <a:ext cx="4663440" cy="274320"/>
          </a:xfrm>
          <a:prstGeom prst="rect">
            <a:avLst/>
          </a:prstGeom>
          <a:noFill/>
          <a:ln/>
        </p:spPr>
        <p:txBody>
          <a:bodyPr wrap="square" lIns="0" tIns="0" rIns="0" bIns="0" rtlCol="0" anchor="ctr"/>
          <a:lstStyle/>
          <a:p>
            <a:pPr indent="0" marL="0">
              <a:buNone/>
            </a:pPr>
            <a:r>
              <a:rPr lang="en-US" sz="1550" b="1" dirty="0">
                <a:solidFill>
                  <a:srgbClr val="6D2E46"/>
                </a:solidFill>
                <a:latin typeface="Calibri" pitchFamily="34" charset="0"/>
                <a:ea typeface="Calibri" pitchFamily="34" charset="-122"/>
                <a:cs typeface="Calibri" pitchFamily="34" charset="-120"/>
              </a:rPr>
              <a:t>You, talking — 60 to 90 seconds</a:t>
            </a:r>
            <a:endParaRPr lang="en-US" sz="1550" dirty="0"/>
          </a:p>
        </p:txBody>
      </p:sp>
      <p:sp>
        <p:nvSpPr>
          <p:cNvPr id="11" name="Text 9"/>
          <p:cNvSpPr/>
          <p:nvPr/>
        </p:nvSpPr>
        <p:spPr>
          <a:xfrm>
            <a:off x="6611112" y="2514600"/>
            <a:ext cx="4663440" cy="420624"/>
          </a:xfrm>
          <a:prstGeom prst="rect">
            <a:avLst/>
          </a:prstGeom>
          <a:noFill/>
          <a:ln/>
        </p:spPr>
        <p:txBody>
          <a:bodyPr wrap="square" lIns="0" tIns="0" rIns="0" bIns="0" rtlCol="0" anchor="ctr"/>
          <a:lstStyle/>
          <a:p>
            <a:pPr indent="0" marL="0">
              <a:lnSpc>
                <a:spcPts val="1800"/>
              </a:lnSpc>
              <a:buNone/>
            </a:pPr>
            <a:r>
              <a:rPr lang="en-US" sz="1300" dirty="0">
                <a:solidFill>
                  <a:srgbClr val="2B1620"/>
                </a:solidFill>
                <a:latin typeface="Calibri" pitchFamily="34" charset="0"/>
                <a:ea typeface="Calibri" pitchFamily="34" charset="-122"/>
                <a:cs typeface="Calibri" pitchFamily="34" charset="-120"/>
              </a:rPr>
              <a:t>One idea, said properly, straight to camera, in Hinglish.</a:t>
            </a:r>
            <a:endParaRPr lang="en-US" sz="1300" dirty="0"/>
          </a:p>
        </p:txBody>
      </p:sp>
      <p:sp>
        <p:nvSpPr>
          <p:cNvPr id="12" name="Text 10"/>
          <p:cNvSpPr/>
          <p:nvPr/>
        </p:nvSpPr>
        <p:spPr>
          <a:xfrm>
            <a:off x="6611112" y="2953512"/>
            <a:ext cx="4663440" cy="384048"/>
          </a:xfrm>
          <a:prstGeom prst="rect">
            <a:avLst/>
          </a:prstGeom>
          <a:noFill/>
          <a:ln/>
        </p:spPr>
        <p:txBody>
          <a:bodyPr wrap="square" lIns="0" tIns="0" rIns="0" bIns="0" rtlCol="0" anchor="ctr"/>
          <a:lstStyle/>
          <a:p>
            <a:pPr indent="0" marL="0">
              <a:lnSpc>
                <a:spcPts val="1600"/>
              </a:lnSpc>
              <a:buNone/>
            </a:pPr>
            <a:r>
              <a:rPr lang="en-US" sz="1200" b="1" dirty="0">
                <a:solidFill>
                  <a:srgbClr val="2B1620"/>
                </a:solidFill>
                <a:latin typeface="Calibri" pitchFamily="34" charset="0"/>
                <a:ea typeface="Calibri" pitchFamily="34" charset="-122"/>
                <a:cs typeface="Calibri" pitchFamily="34" charset="-120"/>
              </a:rPr>
              <a:t>Does: </a:t>
            </a:r>
            <a:pPr indent="0" marL="0">
              <a:lnSpc>
                <a:spcPts val="1600"/>
              </a:lnSpc>
              <a:buNone/>
            </a:pPr>
            <a:r>
              <a:rPr lang="en-US" sz="1200" dirty="0">
                <a:solidFill>
                  <a:srgbClr val="7A6068"/>
                </a:solidFill>
                <a:latin typeface="Calibri" pitchFamily="34" charset="0"/>
                <a:ea typeface="Calibri" pitchFamily="34" charset="-122"/>
                <a:cs typeface="Calibri" pitchFamily="34" charset="-120"/>
              </a:rPr>
              <a:t>builds trust. This is the format that makes people book you.</a:t>
            </a:r>
            <a:endParaRPr lang="en-US" sz="1200" dirty="0"/>
          </a:p>
        </p:txBody>
      </p:sp>
      <p:sp>
        <p:nvSpPr>
          <p:cNvPr id="13" name="Shape 11"/>
          <p:cNvSpPr/>
          <p:nvPr/>
        </p:nvSpPr>
        <p:spPr>
          <a:xfrm>
            <a:off x="713232" y="3456432"/>
            <a:ext cx="5212080" cy="1243584"/>
          </a:xfrm>
          <a:prstGeom prst="roundRect">
            <a:avLst>
              <a:gd name="adj" fmla="val 10294"/>
            </a:avLst>
          </a:prstGeom>
          <a:solidFill>
            <a:srgbClr val="F7F2F4"/>
          </a:solidFill>
          <a:ln/>
        </p:spPr>
      </p:sp>
      <p:sp>
        <p:nvSpPr>
          <p:cNvPr id="14" name="Text 12"/>
          <p:cNvSpPr/>
          <p:nvPr/>
        </p:nvSpPr>
        <p:spPr>
          <a:xfrm>
            <a:off x="987552" y="3557016"/>
            <a:ext cx="4663440" cy="274320"/>
          </a:xfrm>
          <a:prstGeom prst="rect">
            <a:avLst/>
          </a:prstGeom>
          <a:noFill/>
          <a:ln/>
        </p:spPr>
        <p:txBody>
          <a:bodyPr wrap="square" lIns="0" tIns="0" rIns="0" bIns="0" rtlCol="0" anchor="ctr"/>
          <a:lstStyle/>
          <a:p>
            <a:pPr indent="0" marL="0">
              <a:buNone/>
            </a:pPr>
            <a:r>
              <a:rPr lang="en-US" sz="1550" b="1" dirty="0">
                <a:solidFill>
                  <a:srgbClr val="6D2E46"/>
                </a:solidFill>
                <a:latin typeface="Calibri" pitchFamily="34" charset="0"/>
                <a:ea typeface="Calibri" pitchFamily="34" charset="-122"/>
                <a:cs typeface="Calibri" pitchFamily="34" charset="-120"/>
              </a:rPr>
              <a:t>The experiment diary</a:t>
            </a:r>
            <a:endParaRPr lang="en-US" sz="1550" dirty="0"/>
          </a:p>
        </p:txBody>
      </p:sp>
      <p:sp>
        <p:nvSpPr>
          <p:cNvPr id="15" name="Text 13"/>
          <p:cNvSpPr/>
          <p:nvPr/>
        </p:nvSpPr>
        <p:spPr>
          <a:xfrm>
            <a:off x="987552" y="3849624"/>
            <a:ext cx="4663440" cy="420624"/>
          </a:xfrm>
          <a:prstGeom prst="rect">
            <a:avLst/>
          </a:prstGeom>
          <a:noFill/>
          <a:ln/>
        </p:spPr>
        <p:txBody>
          <a:bodyPr wrap="square" lIns="0" tIns="0" rIns="0" bIns="0" rtlCol="0" anchor="ctr"/>
          <a:lstStyle/>
          <a:p>
            <a:pPr indent="0" marL="0">
              <a:lnSpc>
                <a:spcPts val="1800"/>
              </a:lnSpc>
              <a:buNone/>
            </a:pPr>
            <a:r>
              <a:rPr lang="en-US" sz="1300" dirty="0">
                <a:solidFill>
                  <a:srgbClr val="2B1620"/>
                </a:solidFill>
                <a:latin typeface="Calibri" pitchFamily="34" charset="0"/>
                <a:ea typeface="Calibri" pitchFamily="34" charset="-122"/>
                <a:cs typeface="Calibri" pitchFamily="34" charset="-120"/>
              </a:rPr>
              <a:t>"Day 12 of 60." Short, honest updates on something you're actually doing.</a:t>
            </a:r>
            <a:endParaRPr lang="en-US" sz="1300" dirty="0"/>
          </a:p>
        </p:txBody>
      </p:sp>
      <p:sp>
        <p:nvSpPr>
          <p:cNvPr id="16" name="Text 14"/>
          <p:cNvSpPr/>
          <p:nvPr/>
        </p:nvSpPr>
        <p:spPr>
          <a:xfrm>
            <a:off x="987552" y="4288536"/>
            <a:ext cx="4663440" cy="384048"/>
          </a:xfrm>
          <a:prstGeom prst="rect">
            <a:avLst/>
          </a:prstGeom>
          <a:noFill/>
          <a:ln/>
        </p:spPr>
        <p:txBody>
          <a:bodyPr wrap="square" lIns="0" tIns="0" rIns="0" bIns="0" rtlCol="0" anchor="ctr"/>
          <a:lstStyle/>
          <a:p>
            <a:pPr indent="0" marL="0">
              <a:lnSpc>
                <a:spcPts val="1600"/>
              </a:lnSpc>
              <a:buNone/>
            </a:pPr>
            <a:r>
              <a:rPr lang="en-US" sz="1200" b="1" dirty="0">
                <a:solidFill>
                  <a:srgbClr val="2B1620"/>
                </a:solidFill>
                <a:latin typeface="Calibri" pitchFamily="34" charset="0"/>
                <a:ea typeface="Calibri" pitchFamily="34" charset="-122"/>
                <a:cs typeface="Calibri" pitchFamily="34" charset="-120"/>
              </a:rPr>
              <a:t>Does: </a:t>
            </a:r>
            <a:pPr indent="0" marL="0">
              <a:lnSpc>
                <a:spcPts val="1600"/>
              </a:lnSpc>
              <a:buNone/>
            </a:pPr>
            <a:r>
              <a:rPr lang="en-US" sz="1200" dirty="0">
                <a:solidFill>
                  <a:srgbClr val="7A6068"/>
                </a:solidFill>
                <a:latin typeface="Calibri" pitchFamily="34" charset="0"/>
                <a:ea typeface="Calibri" pitchFamily="34" charset="-122"/>
                <a:cs typeface="Calibri" pitchFamily="34" charset="-120"/>
              </a:rPr>
              <a:t>turns followers into an audience that comes back.</a:t>
            </a:r>
            <a:endParaRPr lang="en-US" sz="1200" dirty="0"/>
          </a:p>
        </p:txBody>
      </p:sp>
      <p:sp>
        <p:nvSpPr>
          <p:cNvPr id="17" name="Shape 15"/>
          <p:cNvSpPr/>
          <p:nvPr/>
        </p:nvSpPr>
        <p:spPr>
          <a:xfrm>
            <a:off x="6336792" y="3456432"/>
            <a:ext cx="5212080" cy="1243584"/>
          </a:xfrm>
          <a:prstGeom prst="roundRect">
            <a:avLst>
              <a:gd name="adj" fmla="val 10294"/>
            </a:avLst>
          </a:prstGeom>
          <a:solidFill>
            <a:srgbClr val="F7F2F4"/>
          </a:solidFill>
          <a:ln/>
        </p:spPr>
      </p:sp>
      <p:sp>
        <p:nvSpPr>
          <p:cNvPr id="18" name="Text 16"/>
          <p:cNvSpPr/>
          <p:nvPr/>
        </p:nvSpPr>
        <p:spPr>
          <a:xfrm>
            <a:off x="6611112" y="3557016"/>
            <a:ext cx="4663440" cy="274320"/>
          </a:xfrm>
          <a:prstGeom prst="rect">
            <a:avLst/>
          </a:prstGeom>
          <a:noFill/>
          <a:ln/>
        </p:spPr>
        <p:txBody>
          <a:bodyPr wrap="square" lIns="0" tIns="0" rIns="0" bIns="0" rtlCol="0" anchor="ctr"/>
          <a:lstStyle/>
          <a:p>
            <a:pPr indent="0" marL="0">
              <a:buNone/>
            </a:pPr>
            <a:r>
              <a:rPr lang="en-US" sz="1550" b="1" dirty="0">
                <a:solidFill>
                  <a:srgbClr val="6D2E46"/>
                </a:solidFill>
                <a:latin typeface="Calibri" pitchFamily="34" charset="0"/>
                <a:ea typeface="Calibri" pitchFamily="34" charset="-122"/>
                <a:cs typeface="Calibri" pitchFamily="34" charset="-120"/>
              </a:rPr>
              <a:t>Before and after</a:t>
            </a:r>
            <a:endParaRPr lang="en-US" sz="1550" dirty="0"/>
          </a:p>
        </p:txBody>
      </p:sp>
      <p:sp>
        <p:nvSpPr>
          <p:cNvPr id="19" name="Text 17"/>
          <p:cNvSpPr/>
          <p:nvPr/>
        </p:nvSpPr>
        <p:spPr>
          <a:xfrm>
            <a:off x="6611112" y="3849624"/>
            <a:ext cx="4663440" cy="420624"/>
          </a:xfrm>
          <a:prstGeom prst="rect">
            <a:avLst/>
          </a:prstGeom>
          <a:noFill/>
          <a:ln/>
        </p:spPr>
        <p:txBody>
          <a:bodyPr wrap="square" lIns="0" tIns="0" rIns="0" bIns="0" rtlCol="0" anchor="ctr"/>
          <a:lstStyle/>
          <a:p>
            <a:pPr indent="0" marL="0">
              <a:lnSpc>
                <a:spcPts val="1800"/>
              </a:lnSpc>
              <a:buNone/>
            </a:pPr>
            <a:r>
              <a:rPr lang="en-US" sz="1300" dirty="0">
                <a:solidFill>
                  <a:srgbClr val="2B1620"/>
                </a:solidFill>
                <a:latin typeface="Calibri" pitchFamily="34" charset="0"/>
                <a:ea typeface="Calibri" pitchFamily="34" charset="-122"/>
                <a:cs typeface="Calibri" pitchFamily="34" charset="-120"/>
              </a:rPr>
              <a:t>A real account, a real week, a real piece of work — shown both ways.</a:t>
            </a:r>
            <a:endParaRPr lang="en-US" sz="1300" dirty="0"/>
          </a:p>
        </p:txBody>
      </p:sp>
      <p:sp>
        <p:nvSpPr>
          <p:cNvPr id="20" name="Text 18"/>
          <p:cNvSpPr/>
          <p:nvPr/>
        </p:nvSpPr>
        <p:spPr>
          <a:xfrm>
            <a:off x="6611112" y="4288536"/>
            <a:ext cx="4663440" cy="384048"/>
          </a:xfrm>
          <a:prstGeom prst="rect">
            <a:avLst/>
          </a:prstGeom>
          <a:noFill/>
          <a:ln/>
        </p:spPr>
        <p:txBody>
          <a:bodyPr wrap="square" lIns="0" tIns="0" rIns="0" bIns="0" rtlCol="0" anchor="ctr"/>
          <a:lstStyle/>
          <a:p>
            <a:pPr indent="0" marL="0">
              <a:lnSpc>
                <a:spcPts val="1600"/>
              </a:lnSpc>
              <a:buNone/>
            </a:pPr>
            <a:r>
              <a:rPr lang="en-US" sz="1200" b="1" dirty="0">
                <a:solidFill>
                  <a:srgbClr val="2B1620"/>
                </a:solidFill>
                <a:latin typeface="Calibri" pitchFamily="34" charset="0"/>
                <a:ea typeface="Calibri" pitchFamily="34" charset="-122"/>
                <a:cs typeface="Calibri" pitchFamily="34" charset="-120"/>
              </a:rPr>
              <a:t>Does: </a:t>
            </a:r>
            <a:pPr indent="0" marL="0">
              <a:lnSpc>
                <a:spcPts val="1600"/>
              </a:lnSpc>
              <a:buNone/>
            </a:pPr>
            <a:r>
              <a:rPr lang="en-US" sz="1200" dirty="0">
                <a:solidFill>
                  <a:srgbClr val="7A6068"/>
                </a:solidFill>
                <a:latin typeface="Calibri" pitchFamily="34" charset="0"/>
                <a:ea typeface="Calibri" pitchFamily="34" charset="-122"/>
                <a:cs typeface="Calibri" pitchFamily="34" charset="-120"/>
              </a:rPr>
              <a:t>undeniable proof. Gets saved and shared more than anything else.</a:t>
            </a:r>
            <a:endParaRPr lang="en-US" sz="1200" dirty="0"/>
          </a:p>
        </p:txBody>
      </p:sp>
      <p:sp>
        <p:nvSpPr>
          <p:cNvPr id="21" name="Shape 19"/>
          <p:cNvSpPr/>
          <p:nvPr/>
        </p:nvSpPr>
        <p:spPr>
          <a:xfrm>
            <a:off x="713232" y="4791456"/>
            <a:ext cx="5212080" cy="1243584"/>
          </a:xfrm>
          <a:prstGeom prst="roundRect">
            <a:avLst>
              <a:gd name="adj" fmla="val 10294"/>
            </a:avLst>
          </a:prstGeom>
          <a:solidFill>
            <a:srgbClr val="F7F2F4"/>
          </a:solidFill>
          <a:ln/>
        </p:spPr>
      </p:sp>
      <p:sp>
        <p:nvSpPr>
          <p:cNvPr id="22" name="Text 20"/>
          <p:cNvSpPr/>
          <p:nvPr/>
        </p:nvSpPr>
        <p:spPr>
          <a:xfrm>
            <a:off x="987552" y="4892040"/>
            <a:ext cx="4663440" cy="274320"/>
          </a:xfrm>
          <a:prstGeom prst="rect">
            <a:avLst/>
          </a:prstGeom>
          <a:noFill/>
          <a:ln/>
        </p:spPr>
        <p:txBody>
          <a:bodyPr wrap="square" lIns="0" tIns="0" rIns="0" bIns="0" rtlCol="0" anchor="ctr"/>
          <a:lstStyle/>
          <a:p>
            <a:pPr indent="0" marL="0">
              <a:buNone/>
            </a:pPr>
            <a:r>
              <a:rPr lang="en-US" sz="1550" b="1" dirty="0">
                <a:solidFill>
                  <a:srgbClr val="6D2E46"/>
                </a:solidFill>
                <a:latin typeface="Calibri" pitchFamily="34" charset="0"/>
                <a:ea typeface="Calibri" pitchFamily="34" charset="-122"/>
                <a:cs typeface="Calibri" pitchFamily="34" charset="-120"/>
              </a:rPr>
              <a:t>Real life, unpolished</a:t>
            </a:r>
            <a:endParaRPr lang="en-US" sz="1550" dirty="0"/>
          </a:p>
        </p:txBody>
      </p:sp>
      <p:sp>
        <p:nvSpPr>
          <p:cNvPr id="23" name="Text 21"/>
          <p:cNvSpPr/>
          <p:nvPr/>
        </p:nvSpPr>
        <p:spPr>
          <a:xfrm>
            <a:off x="987552" y="5184648"/>
            <a:ext cx="4663440" cy="420624"/>
          </a:xfrm>
          <a:prstGeom prst="rect">
            <a:avLst/>
          </a:prstGeom>
          <a:noFill/>
          <a:ln/>
        </p:spPr>
        <p:txBody>
          <a:bodyPr wrap="square" lIns="0" tIns="0" rIns="0" bIns="0" rtlCol="0" anchor="ctr"/>
          <a:lstStyle/>
          <a:p>
            <a:pPr indent="0" marL="0">
              <a:lnSpc>
                <a:spcPts val="1800"/>
              </a:lnSpc>
              <a:buNone/>
            </a:pPr>
            <a:r>
              <a:rPr lang="en-US" sz="1300" dirty="0">
                <a:solidFill>
                  <a:srgbClr val="2B1620"/>
                </a:solidFill>
                <a:latin typeface="Calibri" pitchFamily="34" charset="0"/>
                <a:ea typeface="Calibri" pitchFamily="34" charset="-122"/>
                <a:cs typeface="Calibri" pitchFamily="34" charset="-120"/>
              </a:rPr>
              <a:t>The kitchen, the school run, the laptop open at 11pm.</a:t>
            </a:r>
            <a:endParaRPr lang="en-US" sz="1300" dirty="0"/>
          </a:p>
        </p:txBody>
      </p:sp>
      <p:sp>
        <p:nvSpPr>
          <p:cNvPr id="24" name="Text 22"/>
          <p:cNvSpPr/>
          <p:nvPr/>
        </p:nvSpPr>
        <p:spPr>
          <a:xfrm>
            <a:off x="987552" y="5623560"/>
            <a:ext cx="4663440" cy="384048"/>
          </a:xfrm>
          <a:prstGeom prst="rect">
            <a:avLst/>
          </a:prstGeom>
          <a:noFill/>
          <a:ln/>
        </p:spPr>
        <p:txBody>
          <a:bodyPr wrap="square" lIns="0" tIns="0" rIns="0" bIns="0" rtlCol="0" anchor="ctr"/>
          <a:lstStyle/>
          <a:p>
            <a:pPr indent="0" marL="0">
              <a:lnSpc>
                <a:spcPts val="1600"/>
              </a:lnSpc>
              <a:buNone/>
            </a:pPr>
            <a:r>
              <a:rPr lang="en-US" sz="1200" b="1" dirty="0">
                <a:solidFill>
                  <a:srgbClr val="2B1620"/>
                </a:solidFill>
                <a:latin typeface="Calibri" pitchFamily="34" charset="0"/>
                <a:ea typeface="Calibri" pitchFamily="34" charset="-122"/>
                <a:cs typeface="Calibri" pitchFamily="34" charset="-120"/>
              </a:rPr>
              <a:t>Does: </a:t>
            </a:r>
            <a:pPr indent="0" marL="0">
              <a:lnSpc>
                <a:spcPts val="1600"/>
              </a:lnSpc>
              <a:buNone/>
            </a:pPr>
            <a:r>
              <a:rPr lang="en-US" sz="1200" dirty="0">
                <a:solidFill>
                  <a:srgbClr val="7A6068"/>
                </a:solidFill>
                <a:latin typeface="Calibri" pitchFamily="34" charset="0"/>
                <a:ea typeface="Calibri" pitchFamily="34" charset="-122"/>
                <a:cs typeface="Calibri" pitchFamily="34" charset="-120"/>
              </a:rPr>
              <a:t>makes you reachable. This is what your audience recognises.</a:t>
            </a:r>
            <a:endParaRPr lang="en-US" sz="1200" dirty="0"/>
          </a:p>
        </p:txBody>
      </p:sp>
      <p:sp>
        <p:nvSpPr>
          <p:cNvPr id="25" name="Shape 23"/>
          <p:cNvSpPr/>
          <p:nvPr/>
        </p:nvSpPr>
        <p:spPr>
          <a:xfrm>
            <a:off x="6336792" y="4791456"/>
            <a:ext cx="5212080" cy="1243584"/>
          </a:xfrm>
          <a:prstGeom prst="roundRect">
            <a:avLst>
              <a:gd name="adj" fmla="val 10294"/>
            </a:avLst>
          </a:prstGeom>
          <a:solidFill>
            <a:srgbClr val="6D2E46"/>
          </a:solidFill>
          <a:ln/>
        </p:spPr>
      </p:sp>
      <p:sp>
        <p:nvSpPr>
          <p:cNvPr id="26" name="Text 24"/>
          <p:cNvSpPr/>
          <p:nvPr/>
        </p:nvSpPr>
        <p:spPr>
          <a:xfrm>
            <a:off x="6611112" y="4892040"/>
            <a:ext cx="4663440" cy="274320"/>
          </a:xfrm>
          <a:prstGeom prst="rect">
            <a:avLst/>
          </a:prstGeom>
          <a:noFill/>
          <a:ln/>
        </p:spPr>
        <p:txBody>
          <a:bodyPr wrap="square" lIns="0" tIns="0" rIns="0" bIns="0" rtlCol="0" anchor="ctr"/>
          <a:lstStyle/>
          <a:p>
            <a:pPr indent="0" marL="0">
              <a:buNone/>
            </a:pPr>
            <a:r>
              <a:rPr lang="en-US" sz="1550" b="1" dirty="0">
                <a:solidFill>
                  <a:srgbClr val="D9A441"/>
                </a:solidFill>
                <a:latin typeface="Calibri" pitchFamily="34" charset="0"/>
                <a:ea typeface="Calibri" pitchFamily="34" charset="-122"/>
                <a:cs typeface="Calibri" pitchFamily="34" charset="-120"/>
              </a:rPr>
              <a:t>Long-form, for YouTube</a:t>
            </a:r>
            <a:endParaRPr lang="en-US" sz="1550" dirty="0"/>
          </a:p>
        </p:txBody>
      </p:sp>
      <p:sp>
        <p:nvSpPr>
          <p:cNvPr id="27" name="Text 25"/>
          <p:cNvSpPr/>
          <p:nvPr/>
        </p:nvSpPr>
        <p:spPr>
          <a:xfrm>
            <a:off x="6611112" y="5184648"/>
            <a:ext cx="4663440" cy="420624"/>
          </a:xfrm>
          <a:prstGeom prst="rect">
            <a:avLst/>
          </a:prstGeom>
          <a:noFill/>
          <a:ln/>
        </p:spPr>
        <p:txBody>
          <a:bodyPr wrap="square" lIns="0" tIns="0" rIns="0" bIns="0" rtlCol="0" anchor="ctr"/>
          <a:lstStyle/>
          <a:p>
            <a:pPr indent="0" marL="0">
              <a:lnSpc>
                <a:spcPts val="1800"/>
              </a:lnSpc>
              <a:buNone/>
            </a:pPr>
            <a:r>
              <a:rPr lang="en-US" sz="1300" dirty="0">
                <a:solidFill>
                  <a:srgbClr val="FFFFFF"/>
                </a:solidFill>
                <a:latin typeface="Calibri" pitchFamily="34" charset="0"/>
                <a:ea typeface="Calibri" pitchFamily="34" charset="-122"/>
                <a:cs typeface="Calibri" pitchFamily="34" charset="-120"/>
              </a:rPr>
              <a:t>12–20 minutes, taught properly. Cut from the same day's filming.</a:t>
            </a:r>
            <a:endParaRPr lang="en-US" sz="1300" dirty="0"/>
          </a:p>
        </p:txBody>
      </p:sp>
      <p:sp>
        <p:nvSpPr>
          <p:cNvPr id="28" name="Text 26"/>
          <p:cNvSpPr/>
          <p:nvPr/>
        </p:nvSpPr>
        <p:spPr>
          <a:xfrm>
            <a:off x="6611112" y="5623560"/>
            <a:ext cx="4663440" cy="384048"/>
          </a:xfrm>
          <a:prstGeom prst="rect">
            <a:avLst/>
          </a:prstGeom>
          <a:noFill/>
          <a:ln/>
        </p:spPr>
        <p:txBody>
          <a:bodyPr wrap="square" lIns="0" tIns="0" rIns="0" bIns="0" rtlCol="0" anchor="ctr"/>
          <a:lstStyle/>
          <a:p>
            <a:pPr indent="0" marL="0">
              <a:lnSpc>
                <a:spcPts val="1600"/>
              </a:lnSpc>
              <a:buNone/>
            </a:pPr>
            <a:r>
              <a:rPr lang="en-US" sz="1200" b="1" dirty="0">
                <a:solidFill>
                  <a:srgbClr val="FFFFFF"/>
                </a:solidFill>
                <a:latin typeface="Calibri" pitchFamily="34" charset="0"/>
                <a:ea typeface="Calibri" pitchFamily="34" charset="-122"/>
                <a:cs typeface="Calibri" pitchFamily="34" charset="-120"/>
              </a:rPr>
              <a:t>Does: </a:t>
            </a:r>
            <a:pPr indent="0" marL="0">
              <a:lnSpc>
                <a:spcPts val="1600"/>
              </a:lnSpc>
              <a:buNone/>
            </a:pPr>
            <a:r>
              <a:rPr lang="en-US" sz="1200" dirty="0">
                <a:solidFill>
                  <a:srgbClr val="C9AEB8"/>
                </a:solidFill>
                <a:latin typeface="Calibri" pitchFamily="34" charset="0"/>
                <a:ea typeface="Calibri" pitchFamily="34" charset="-122"/>
                <a:cs typeface="Calibri" pitchFamily="34" charset="-120"/>
              </a:rPr>
              <a:t>gets found in search, for years — not 72 hours.</a:t>
            </a:r>
            <a:endParaRPr lang="en-US" sz="1200" dirty="0"/>
          </a:p>
        </p:txBody>
      </p:sp>
      <p:sp>
        <p:nvSpPr>
          <p:cNvPr id="29" name="Text 27"/>
          <p:cNvSpPr/>
          <p:nvPr/>
        </p:nvSpPr>
        <p:spPr>
          <a:xfrm>
            <a:off x="713232" y="6144768"/>
            <a:ext cx="10735056" cy="640080"/>
          </a:xfrm>
          <a:prstGeom prst="rect">
            <a:avLst/>
          </a:prstGeom>
          <a:noFill/>
          <a:ln/>
        </p:spPr>
        <p:txBody>
          <a:bodyPr wrap="square" lIns="0" tIns="0" rIns="0" bIns="0" rtlCol="0" anchor="ctr"/>
          <a:lstStyle/>
          <a:p>
            <a:pPr indent="0" marL="0">
              <a:lnSpc>
                <a:spcPts val="2400"/>
              </a:lnSpc>
              <a:buNone/>
            </a:pPr>
            <a:r>
              <a:rPr lang="en-US" sz="1700" i="1" dirty="0">
                <a:solidFill>
                  <a:srgbClr val="D9A441"/>
                </a:solidFill>
                <a:latin typeface="Cambria" pitchFamily="34" charset="0"/>
                <a:ea typeface="Cambria" pitchFamily="34" charset="-122"/>
                <a:cs typeface="Cambria" pitchFamily="34" charset="-120"/>
              </a:rPr>
              <a:t>Not one of these needs a crew, a studio or a lighting setup. All of it is you, on your phone, at home.</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3232" y="420624"/>
            <a:ext cx="10735056" cy="274320"/>
          </a:xfrm>
          <a:prstGeom prst="rect">
            <a:avLst/>
          </a:prstGeom>
          <a:noFill/>
          <a:ln/>
        </p:spPr>
        <p:txBody>
          <a:bodyPr wrap="square" lIns="0" tIns="0" rIns="0" bIns="0" rtlCol="0" anchor="ctr"/>
          <a:lstStyle/>
          <a:p>
            <a:pPr indent="0" marL="0">
              <a:buNone/>
            </a:pPr>
            <a:r>
              <a:rPr lang="en-US" sz="1200" b="1" spc="220" kern="0" dirty="0">
                <a:solidFill>
                  <a:srgbClr val="A26769"/>
                </a:solidFill>
                <a:latin typeface="Calibri" pitchFamily="34" charset="0"/>
                <a:ea typeface="Calibri" pitchFamily="34" charset="-122"/>
                <a:cs typeface="Calibri" pitchFamily="34" charset="-120"/>
              </a:rPr>
              <a:t>HOW IT RUNS</a:t>
            </a:r>
            <a:endParaRPr lang="en-US" sz="1200" dirty="0"/>
          </a:p>
        </p:txBody>
      </p:sp>
      <p:sp>
        <p:nvSpPr>
          <p:cNvPr id="3" name="Text 1"/>
          <p:cNvSpPr/>
          <p:nvPr/>
        </p:nvSpPr>
        <p:spPr>
          <a:xfrm>
            <a:off x="713232" y="768096"/>
            <a:ext cx="10735056" cy="960120"/>
          </a:xfrm>
          <a:prstGeom prst="rect">
            <a:avLst/>
          </a:prstGeom>
          <a:noFill/>
          <a:ln/>
        </p:spPr>
        <p:txBody>
          <a:bodyPr wrap="square" lIns="0" tIns="0" rIns="0" bIns="0" rtlCol="0" anchor="ctr"/>
          <a:lstStyle/>
          <a:p>
            <a:pPr indent="0" marL="0">
              <a:lnSpc>
                <a:spcPts val="4500"/>
              </a:lnSpc>
              <a:buNone/>
            </a:pPr>
            <a:r>
              <a:rPr lang="en-US" sz="3900" b="1" dirty="0">
                <a:solidFill>
                  <a:srgbClr val="2B1620"/>
                </a:solidFill>
                <a:latin typeface="Cambria" pitchFamily="34" charset="0"/>
                <a:ea typeface="Cambria" pitchFamily="34" charset="-122"/>
                <a:cs typeface="Cambria" pitchFamily="34" charset="-120"/>
              </a:rPr>
              <a:t>What a week actually looks like</a:t>
            </a:r>
            <a:endParaRPr lang="en-US" sz="3900" dirty="0"/>
          </a:p>
        </p:txBody>
      </p:sp>
      <p:sp>
        <p:nvSpPr>
          <p:cNvPr id="4" name="Shape 2"/>
          <p:cNvSpPr/>
          <p:nvPr/>
        </p:nvSpPr>
        <p:spPr>
          <a:xfrm>
            <a:off x="713232" y="1828800"/>
            <a:ext cx="10735056" cy="685800"/>
          </a:xfrm>
          <a:prstGeom prst="roundRect">
            <a:avLst>
              <a:gd name="adj" fmla="val 13333"/>
            </a:avLst>
          </a:prstGeom>
          <a:solidFill>
            <a:srgbClr val="F7F2F4"/>
          </a:solidFill>
          <a:ln/>
        </p:spPr>
      </p:sp>
      <p:sp>
        <p:nvSpPr>
          <p:cNvPr id="5" name="Text 3"/>
          <p:cNvSpPr/>
          <p:nvPr/>
        </p:nvSpPr>
        <p:spPr>
          <a:xfrm>
            <a:off x="1005840" y="1828800"/>
            <a:ext cx="1600200" cy="685800"/>
          </a:xfrm>
          <a:prstGeom prst="rect">
            <a:avLst/>
          </a:prstGeom>
          <a:noFill/>
          <a:ln/>
        </p:spPr>
        <p:txBody>
          <a:bodyPr wrap="square" lIns="0" tIns="0" rIns="0" bIns="0" rtlCol="0" anchor="ctr"/>
          <a:lstStyle/>
          <a:p>
            <a:pPr indent="0" marL="0">
              <a:buNone/>
            </a:pPr>
            <a:r>
              <a:rPr lang="en-US" sz="1350" b="1" dirty="0">
                <a:solidFill>
                  <a:srgbClr val="6D2E46"/>
                </a:solidFill>
                <a:latin typeface="Calibri" pitchFamily="34" charset="0"/>
                <a:ea typeface="Calibri" pitchFamily="34" charset="-122"/>
                <a:cs typeface="Calibri" pitchFamily="34" charset="-120"/>
              </a:rPr>
              <a:t>SUNDAY</a:t>
            </a:r>
            <a:endParaRPr lang="en-US" sz="1350" dirty="0"/>
          </a:p>
        </p:txBody>
      </p:sp>
      <p:sp>
        <p:nvSpPr>
          <p:cNvPr id="6" name="Text 4"/>
          <p:cNvSpPr/>
          <p:nvPr/>
        </p:nvSpPr>
        <p:spPr>
          <a:xfrm>
            <a:off x="2679192" y="1828800"/>
            <a:ext cx="8449056" cy="685800"/>
          </a:xfrm>
          <a:prstGeom prst="rect">
            <a:avLst/>
          </a:prstGeom>
          <a:noFill/>
          <a:ln/>
        </p:spPr>
        <p:txBody>
          <a:bodyPr wrap="square" lIns="0" tIns="0" rIns="0" bIns="0" rtlCol="0" anchor="ctr"/>
          <a:lstStyle/>
          <a:p>
            <a:pPr indent="0" marL="0">
              <a:lnSpc>
                <a:spcPts val="2000"/>
              </a:lnSpc>
              <a:buNone/>
            </a:pPr>
            <a:r>
              <a:rPr lang="en-US" sz="1500" dirty="0">
                <a:solidFill>
                  <a:srgbClr val="2B1620"/>
                </a:solidFill>
                <a:latin typeface="Calibri" pitchFamily="34" charset="0"/>
                <a:ea typeface="Calibri" pitchFamily="34" charset="-122"/>
                <a:cs typeface="Calibri" pitchFamily="34" charset="-120"/>
              </a:rPr>
              <a:t>We send you the week's shot list — what to say, in what order. Ten lines, no scripts to memorise.</a:t>
            </a:r>
            <a:endParaRPr lang="en-US" sz="1500" dirty="0"/>
          </a:p>
        </p:txBody>
      </p:sp>
      <p:sp>
        <p:nvSpPr>
          <p:cNvPr id="7" name="Shape 5"/>
          <p:cNvSpPr/>
          <p:nvPr/>
        </p:nvSpPr>
        <p:spPr>
          <a:xfrm>
            <a:off x="713232" y="2615184"/>
            <a:ext cx="10735056" cy="685800"/>
          </a:xfrm>
          <a:prstGeom prst="roundRect">
            <a:avLst>
              <a:gd name="adj" fmla="val 13333"/>
            </a:avLst>
          </a:prstGeom>
          <a:solidFill>
            <a:srgbClr val="6D2E46"/>
          </a:solidFill>
          <a:ln/>
        </p:spPr>
      </p:sp>
      <p:sp>
        <p:nvSpPr>
          <p:cNvPr id="8" name="Text 6"/>
          <p:cNvSpPr/>
          <p:nvPr/>
        </p:nvSpPr>
        <p:spPr>
          <a:xfrm>
            <a:off x="1005840" y="2615184"/>
            <a:ext cx="1600200" cy="685800"/>
          </a:xfrm>
          <a:prstGeom prst="rect">
            <a:avLst/>
          </a:prstGeom>
          <a:noFill/>
          <a:ln/>
        </p:spPr>
        <p:txBody>
          <a:bodyPr wrap="square" lIns="0" tIns="0" rIns="0" bIns="0" rtlCol="0" anchor="ctr"/>
          <a:lstStyle/>
          <a:p>
            <a:pPr indent="0" marL="0">
              <a:buNone/>
            </a:pPr>
            <a:r>
              <a:rPr lang="en-US" sz="1350" b="1" dirty="0">
                <a:solidFill>
                  <a:srgbClr val="D9A441"/>
                </a:solidFill>
                <a:latin typeface="Calibri" pitchFamily="34" charset="0"/>
                <a:ea typeface="Calibri" pitchFamily="34" charset="-122"/>
                <a:cs typeface="Calibri" pitchFamily="34" charset="-120"/>
              </a:rPr>
              <a:t>MONDAY</a:t>
            </a:r>
            <a:endParaRPr lang="en-US" sz="1350" dirty="0"/>
          </a:p>
        </p:txBody>
      </p:sp>
      <p:sp>
        <p:nvSpPr>
          <p:cNvPr id="9" name="Text 7"/>
          <p:cNvSpPr/>
          <p:nvPr/>
        </p:nvSpPr>
        <p:spPr>
          <a:xfrm>
            <a:off x="2679192" y="2615184"/>
            <a:ext cx="8449056" cy="685800"/>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Your 30 minutes. You record everything for the week on your phone and send it across. Filming done.</a:t>
            </a:r>
            <a:endParaRPr lang="en-US" sz="1500" dirty="0"/>
          </a:p>
        </p:txBody>
      </p:sp>
      <p:sp>
        <p:nvSpPr>
          <p:cNvPr id="10" name="Shape 8"/>
          <p:cNvSpPr/>
          <p:nvPr/>
        </p:nvSpPr>
        <p:spPr>
          <a:xfrm>
            <a:off x="713232" y="3401568"/>
            <a:ext cx="10735056" cy="685800"/>
          </a:xfrm>
          <a:prstGeom prst="roundRect">
            <a:avLst>
              <a:gd name="adj" fmla="val 13333"/>
            </a:avLst>
          </a:prstGeom>
          <a:solidFill>
            <a:srgbClr val="F7F2F4"/>
          </a:solidFill>
          <a:ln/>
        </p:spPr>
      </p:sp>
      <p:sp>
        <p:nvSpPr>
          <p:cNvPr id="11" name="Text 9"/>
          <p:cNvSpPr/>
          <p:nvPr/>
        </p:nvSpPr>
        <p:spPr>
          <a:xfrm>
            <a:off x="1005840" y="3401568"/>
            <a:ext cx="1600200" cy="685800"/>
          </a:xfrm>
          <a:prstGeom prst="rect">
            <a:avLst/>
          </a:prstGeom>
          <a:noFill/>
          <a:ln/>
        </p:spPr>
        <p:txBody>
          <a:bodyPr wrap="square" lIns="0" tIns="0" rIns="0" bIns="0" rtlCol="0" anchor="ctr"/>
          <a:lstStyle/>
          <a:p>
            <a:pPr indent="0" marL="0">
              <a:buNone/>
            </a:pPr>
            <a:r>
              <a:rPr lang="en-US" sz="1350" b="1" dirty="0">
                <a:solidFill>
                  <a:srgbClr val="6D2E46"/>
                </a:solidFill>
                <a:latin typeface="Calibri" pitchFamily="34" charset="0"/>
                <a:ea typeface="Calibri" pitchFamily="34" charset="-122"/>
                <a:cs typeface="Calibri" pitchFamily="34" charset="-120"/>
              </a:rPr>
              <a:t>MON–TUE</a:t>
            </a:r>
            <a:endParaRPr lang="en-US" sz="1350" dirty="0"/>
          </a:p>
        </p:txBody>
      </p:sp>
      <p:sp>
        <p:nvSpPr>
          <p:cNvPr id="12" name="Text 10"/>
          <p:cNvSpPr/>
          <p:nvPr/>
        </p:nvSpPr>
        <p:spPr>
          <a:xfrm>
            <a:off x="2679192" y="3401568"/>
            <a:ext cx="8449056" cy="685800"/>
          </a:xfrm>
          <a:prstGeom prst="rect">
            <a:avLst/>
          </a:prstGeom>
          <a:noFill/>
          <a:ln/>
        </p:spPr>
        <p:txBody>
          <a:bodyPr wrap="square" lIns="0" tIns="0" rIns="0" bIns="0" rtlCol="0" anchor="ctr"/>
          <a:lstStyle/>
          <a:p>
            <a:pPr indent="0" marL="0">
              <a:lnSpc>
                <a:spcPts val="2000"/>
              </a:lnSpc>
              <a:buNone/>
            </a:pPr>
            <a:r>
              <a:rPr lang="en-US" sz="1500" dirty="0">
                <a:solidFill>
                  <a:srgbClr val="2B1620"/>
                </a:solidFill>
                <a:latin typeface="Calibri" pitchFamily="34" charset="0"/>
                <a:ea typeface="Calibri" pitchFamily="34" charset="-122"/>
                <a:cs typeface="Calibri" pitchFamily="34" charset="-120"/>
              </a:rPr>
              <a:t>We edit, subtitle, design covers, and write captions in your voice — not in AI voice.</a:t>
            </a:r>
            <a:endParaRPr lang="en-US" sz="1500" dirty="0"/>
          </a:p>
        </p:txBody>
      </p:sp>
      <p:sp>
        <p:nvSpPr>
          <p:cNvPr id="13" name="Shape 11"/>
          <p:cNvSpPr/>
          <p:nvPr/>
        </p:nvSpPr>
        <p:spPr>
          <a:xfrm>
            <a:off x="713232" y="4187952"/>
            <a:ext cx="10735056" cy="685800"/>
          </a:xfrm>
          <a:prstGeom prst="roundRect">
            <a:avLst>
              <a:gd name="adj" fmla="val 13333"/>
            </a:avLst>
          </a:prstGeom>
          <a:solidFill>
            <a:srgbClr val="F7F2F4"/>
          </a:solidFill>
          <a:ln/>
        </p:spPr>
      </p:sp>
      <p:sp>
        <p:nvSpPr>
          <p:cNvPr id="14" name="Text 12"/>
          <p:cNvSpPr/>
          <p:nvPr/>
        </p:nvSpPr>
        <p:spPr>
          <a:xfrm>
            <a:off x="1005840" y="4187952"/>
            <a:ext cx="1600200" cy="685800"/>
          </a:xfrm>
          <a:prstGeom prst="rect">
            <a:avLst/>
          </a:prstGeom>
          <a:noFill/>
          <a:ln/>
        </p:spPr>
        <p:txBody>
          <a:bodyPr wrap="square" lIns="0" tIns="0" rIns="0" bIns="0" rtlCol="0" anchor="ctr"/>
          <a:lstStyle/>
          <a:p>
            <a:pPr indent="0" marL="0">
              <a:buNone/>
            </a:pPr>
            <a:r>
              <a:rPr lang="en-US" sz="1350" b="1" dirty="0">
                <a:solidFill>
                  <a:srgbClr val="6D2E46"/>
                </a:solidFill>
                <a:latin typeface="Calibri" pitchFamily="34" charset="0"/>
                <a:ea typeface="Calibri" pitchFamily="34" charset="-122"/>
                <a:cs typeface="Calibri" pitchFamily="34" charset="-120"/>
              </a:rPr>
              <a:t>TUE–SAT</a:t>
            </a:r>
            <a:endParaRPr lang="en-US" sz="1350" dirty="0"/>
          </a:p>
        </p:txBody>
      </p:sp>
      <p:sp>
        <p:nvSpPr>
          <p:cNvPr id="15" name="Text 13"/>
          <p:cNvSpPr/>
          <p:nvPr/>
        </p:nvSpPr>
        <p:spPr>
          <a:xfrm>
            <a:off x="2679192" y="4187952"/>
            <a:ext cx="8449056" cy="685800"/>
          </a:xfrm>
          <a:prstGeom prst="rect">
            <a:avLst/>
          </a:prstGeom>
          <a:noFill/>
          <a:ln/>
        </p:spPr>
        <p:txBody>
          <a:bodyPr wrap="square" lIns="0" tIns="0" rIns="0" bIns="0" rtlCol="0" anchor="ctr"/>
          <a:lstStyle/>
          <a:p>
            <a:pPr indent="0" marL="0">
              <a:lnSpc>
                <a:spcPts val="2000"/>
              </a:lnSpc>
              <a:buNone/>
            </a:pPr>
            <a:r>
              <a:rPr lang="en-US" sz="1500" dirty="0">
                <a:solidFill>
                  <a:srgbClr val="2B1620"/>
                </a:solidFill>
                <a:latin typeface="Calibri" pitchFamily="34" charset="0"/>
                <a:ea typeface="Calibri" pitchFamily="34" charset="-122"/>
                <a:cs typeface="Calibri" pitchFamily="34" charset="-120"/>
              </a:rPr>
              <a:t>Five posts go out. We publish and schedule. One long-form goes to YouTube from the same footage.</a:t>
            </a:r>
            <a:endParaRPr lang="en-US" sz="1500" dirty="0"/>
          </a:p>
        </p:txBody>
      </p:sp>
      <p:sp>
        <p:nvSpPr>
          <p:cNvPr id="16" name="Shape 14"/>
          <p:cNvSpPr/>
          <p:nvPr/>
        </p:nvSpPr>
        <p:spPr>
          <a:xfrm>
            <a:off x="713232" y="4974336"/>
            <a:ext cx="10735056" cy="685800"/>
          </a:xfrm>
          <a:prstGeom prst="roundRect">
            <a:avLst>
              <a:gd name="adj" fmla="val 13333"/>
            </a:avLst>
          </a:prstGeom>
          <a:solidFill>
            <a:srgbClr val="F7F2F4"/>
          </a:solidFill>
          <a:ln/>
        </p:spPr>
      </p:sp>
      <p:sp>
        <p:nvSpPr>
          <p:cNvPr id="17" name="Text 15"/>
          <p:cNvSpPr/>
          <p:nvPr/>
        </p:nvSpPr>
        <p:spPr>
          <a:xfrm>
            <a:off x="1005840" y="4974336"/>
            <a:ext cx="1600200" cy="685800"/>
          </a:xfrm>
          <a:prstGeom prst="rect">
            <a:avLst/>
          </a:prstGeom>
          <a:noFill/>
          <a:ln/>
        </p:spPr>
        <p:txBody>
          <a:bodyPr wrap="square" lIns="0" tIns="0" rIns="0" bIns="0" rtlCol="0" anchor="ctr"/>
          <a:lstStyle/>
          <a:p>
            <a:pPr indent="0" marL="0">
              <a:buNone/>
            </a:pPr>
            <a:r>
              <a:rPr lang="en-US" sz="1350" b="1" dirty="0">
                <a:solidFill>
                  <a:srgbClr val="6D2E46"/>
                </a:solidFill>
                <a:latin typeface="Calibri" pitchFamily="34" charset="0"/>
                <a:ea typeface="Calibri" pitchFamily="34" charset="-122"/>
                <a:cs typeface="Calibri" pitchFamily="34" charset="-120"/>
              </a:rPr>
              <a:t>EVERY DAY</a:t>
            </a:r>
            <a:endParaRPr lang="en-US" sz="1350" dirty="0"/>
          </a:p>
        </p:txBody>
      </p:sp>
      <p:sp>
        <p:nvSpPr>
          <p:cNvPr id="18" name="Text 16"/>
          <p:cNvSpPr/>
          <p:nvPr/>
        </p:nvSpPr>
        <p:spPr>
          <a:xfrm>
            <a:off x="2679192" y="4974336"/>
            <a:ext cx="8449056" cy="685800"/>
          </a:xfrm>
          <a:prstGeom prst="rect">
            <a:avLst/>
          </a:prstGeom>
          <a:noFill/>
          <a:ln/>
        </p:spPr>
        <p:txBody>
          <a:bodyPr wrap="square" lIns="0" tIns="0" rIns="0" bIns="0" rtlCol="0" anchor="ctr"/>
          <a:lstStyle/>
          <a:p>
            <a:pPr indent="0" marL="0">
              <a:lnSpc>
                <a:spcPts val="2000"/>
              </a:lnSpc>
              <a:buNone/>
            </a:pPr>
            <a:r>
              <a:rPr lang="en-US" sz="1500" dirty="0">
                <a:solidFill>
                  <a:srgbClr val="2B1620"/>
                </a:solidFill>
                <a:latin typeface="Calibri" pitchFamily="34" charset="0"/>
                <a:ea typeface="Calibri" pitchFamily="34" charset="-122"/>
                <a:cs typeface="Calibri" pitchFamily="34" charset="-120"/>
              </a:rPr>
              <a:t>You spend 20 minutes in your own DMs and comments. We draft the repetitive replies.</a:t>
            </a:r>
            <a:endParaRPr lang="en-US" sz="1500" dirty="0"/>
          </a:p>
        </p:txBody>
      </p:sp>
      <p:sp>
        <p:nvSpPr>
          <p:cNvPr id="19" name="Shape 17"/>
          <p:cNvSpPr/>
          <p:nvPr/>
        </p:nvSpPr>
        <p:spPr>
          <a:xfrm>
            <a:off x="713232" y="5760720"/>
            <a:ext cx="10735056" cy="685800"/>
          </a:xfrm>
          <a:prstGeom prst="roundRect">
            <a:avLst>
              <a:gd name="adj" fmla="val 13333"/>
            </a:avLst>
          </a:prstGeom>
          <a:solidFill>
            <a:srgbClr val="3D1B2E"/>
          </a:solidFill>
          <a:ln/>
        </p:spPr>
      </p:sp>
      <p:sp>
        <p:nvSpPr>
          <p:cNvPr id="20" name="Text 18"/>
          <p:cNvSpPr/>
          <p:nvPr/>
        </p:nvSpPr>
        <p:spPr>
          <a:xfrm>
            <a:off x="1005840" y="5760720"/>
            <a:ext cx="1600200" cy="685800"/>
          </a:xfrm>
          <a:prstGeom prst="rect">
            <a:avLst/>
          </a:prstGeom>
          <a:noFill/>
          <a:ln/>
        </p:spPr>
        <p:txBody>
          <a:bodyPr wrap="square" lIns="0" tIns="0" rIns="0" bIns="0" rtlCol="0" anchor="ctr"/>
          <a:lstStyle/>
          <a:p>
            <a:pPr indent="0" marL="0">
              <a:buNone/>
            </a:pPr>
            <a:r>
              <a:rPr lang="en-US" sz="1350" b="1" dirty="0">
                <a:solidFill>
                  <a:srgbClr val="D9A441"/>
                </a:solidFill>
                <a:latin typeface="Calibri" pitchFamily="34" charset="0"/>
                <a:ea typeface="Calibri" pitchFamily="34" charset="-122"/>
                <a:cs typeface="Calibri" pitchFamily="34" charset="-120"/>
              </a:rPr>
              <a:t>FRIDAY</a:t>
            </a:r>
            <a:endParaRPr lang="en-US" sz="1350" dirty="0"/>
          </a:p>
        </p:txBody>
      </p:sp>
      <p:sp>
        <p:nvSpPr>
          <p:cNvPr id="21" name="Text 19"/>
          <p:cNvSpPr/>
          <p:nvPr/>
        </p:nvSpPr>
        <p:spPr>
          <a:xfrm>
            <a:off x="2679192" y="5760720"/>
            <a:ext cx="8449056" cy="685800"/>
          </a:xfrm>
          <a:prstGeom prst="rect">
            <a:avLst/>
          </a:prstGeom>
          <a:noFill/>
          <a:ln/>
        </p:spPr>
        <p:txBody>
          <a:bodyPr wrap="square" lIns="0" tIns="0" rIns="0" bIns="0" rtlCol="0" anchor="ctr"/>
          <a:lstStyle/>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One page from us: what worked, what didn't, and what we're changing next week.</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3232" y="420624"/>
            <a:ext cx="10735056" cy="274320"/>
          </a:xfrm>
          <a:prstGeom prst="rect">
            <a:avLst/>
          </a:prstGeom>
          <a:noFill/>
          <a:ln/>
        </p:spPr>
        <p:txBody>
          <a:bodyPr wrap="square" lIns="0" tIns="0" rIns="0" bIns="0" rtlCol="0" anchor="ctr"/>
          <a:lstStyle/>
          <a:p>
            <a:pPr indent="0" marL="0">
              <a:buNone/>
            </a:pPr>
            <a:r>
              <a:rPr lang="en-US" sz="1200" b="1" spc="220" kern="0" dirty="0">
                <a:solidFill>
                  <a:srgbClr val="A26769"/>
                </a:solidFill>
                <a:latin typeface="Calibri" pitchFamily="34" charset="0"/>
                <a:ea typeface="Calibri" pitchFamily="34" charset="-122"/>
                <a:cs typeface="Calibri" pitchFamily="34" charset="-120"/>
              </a:rPr>
              <a:t>ONE SHOOT, THREE HOMES</a:t>
            </a:r>
            <a:endParaRPr lang="en-US" sz="1200" dirty="0"/>
          </a:p>
        </p:txBody>
      </p:sp>
      <p:sp>
        <p:nvSpPr>
          <p:cNvPr id="3" name="Text 1"/>
          <p:cNvSpPr/>
          <p:nvPr/>
        </p:nvSpPr>
        <p:spPr>
          <a:xfrm>
            <a:off x="713232" y="768096"/>
            <a:ext cx="10735056" cy="960120"/>
          </a:xfrm>
          <a:prstGeom prst="rect">
            <a:avLst/>
          </a:prstGeom>
          <a:noFill/>
          <a:ln/>
        </p:spPr>
        <p:txBody>
          <a:bodyPr wrap="square" lIns="0" tIns="0" rIns="0" bIns="0" rtlCol="0" anchor="ctr"/>
          <a:lstStyle/>
          <a:p>
            <a:pPr indent="0" marL="0">
              <a:lnSpc>
                <a:spcPts val="4500"/>
              </a:lnSpc>
              <a:buNone/>
            </a:pPr>
            <a:r>
              <a:rPr lang="en-US" sz="3900" b="1" dirty="0">
                <a:solidFill>
                  <a:srgbClr val="2B1620"/>
                </a:solidFill>
                <a:latin typeface="Cambria" pitchFamily="34" charset="0"/>
                <a:ea typeface="Cambria" pitchFamily="34" charset="-122"/>
                <a:cs typeface="Cambria" pitchFamily="34" charset="-120"/>
              </a:rPr>
              <a:t>Where the content goes, and why</a:t>
            </a:r>
            <a:endParaRPr lang="en-US" sz="3900" dirty="0"/>
          </a:p>
        </p:txBody>
      </p:sp>
      <p:sp>
        <p:nvSpPr>
          <p:cNvPr id="4" name="Shape 2"/>
          <p:cNvSpPr/>
          <p:nvPr/>
        </p:nvSpPr>
        <p:spPr>
          <a:xfrm>
            <a:off x="713232" y="1874520"/>
            <a:ext cx="3419856" cy="2651760"/>
          </a:xfrm>
          <a:prstGeom prst="roundRect">
            <a:avLst>
              <a:gd name="adj" fmla="val 4828"/>
            </a:avLst>
          </a:prstGeom>
          <a:solidFill>
            <a:srgbClr val="F7F2F4"/>
          </a:solidFill>
          <a:ln/>
        </p:spPr>
      </p:sp>
      <p:sp>
        <p:nvSpPr>
          <p:cNvPr id="5" name="Text 3"/>
          <p:cNvSpPr/>
          <p:nvPr/>
        </p:nvSpPr>
        <p:spPr>
          <a:xfrm>
            <a:off x="1005840" y="2084832"/>
            <a:ext cx="2834640" cy="320040"/>
          </a:xfrm>
          <a:prstGeom prst="rect">
            <a:avLst/>
          </a:prstGeom>
          <a:noFill/>
          <a:ln/>
        </p:spPr>
        <p:txBody>
          <a:bodyPr wrap="square" lIns="0" tIns="0" rIns="0" bIns="0" rtlCol="0" anchor="ctr"/>
          <a:lstStyle/>
          <a:p>
            <a:pPr indent="0" marL="0">
              <a:buNone/>
            </a:pPr>
            <a:r>
              <a:rPr lang="en-US" sz="1800" b="1" dirty="0">
                <a:solidFill>
                  <a:srgbClr val="6D2E46"/>
                </a:solidFill>
                <a:latin typeface="Calibri" pitchFamily="34" charset="0"/>
                <a:ea typeface="Calibri" pitchFamily="34" charset="-122"/>
                <a:cs typeface="Calibri" pitchFamily="34" charset="-120"/>
              </a:rPr>
              <a:t>Instagram</a:t>
            </a:r>
            <a:endParaRPr lang="en-US" sz="1800" dirty="0"/>
          </a:p>
        </p:txBody>
      </p:sp>
      <p:sp>
        <p:nvSpPr>
          <p:cNvPr id="6" name="Text 4"/>
          <p:cNvSpPr/>
          <p:nvPr/>
        </p:nvSpPr>
        <p:spPr>
          <a:xfrm>
            <a:off x="1005840" y="2414016"/>
            <a:ext cx="2926080" cy="274320"/>
          </a:xfrm>
          <a:prstGeom prst="rect">
            <a:avLst/>
          </a:prstGeom>
          <a:noFill/>
          <a:ln/>
        </p:spPr>
        <p:txBody>
          <a:bodyPr wrap="square" lIns="0" tIns="0" rIns="0" bIns="0" rtlCol="0" anchor="ctr"/>
          <a:lstStyle/>
          <a:p>
            <a:pPr indent="0" marL="0">
              <a:buNone/>
            </a:pPr>
            <a:r>
              <a:rPr lang="en-US" sz="1100" spc="100" kern="0" dirty="0">
                <a:solidFill>
                  <a:srgbClr val="7A6068"/>
                </a:solidFill>
                <a:latin typeface="Calibri" pitchFamily="34" charset="0"/>
                <a:ea typeface="Calibri" pitchFamily="34" charset="-122"/>
                <a:cs typeface="Calibri" pitchFamily="34" charset="-120"/>
              </a:rPr>
              <a:t>DISCOVERY</a:t>
            </a:r>
            <a:endParaRPr lang="en-US" sz="1100" dirty="0"/>
          </a:p>
        </p:txBody>
      </p:sp>
      <p:sp>
        <p:nvSpPr>
          <p:cNvPr id="7" name="Text 5"/>
          <p:cNvSpPr/>
          <p:nvPr/>
        </p:nvSpPr>
        <p:spPr>
          <a:xfrm>
            <a:off x="1005840" y="2761488"/>
            <a:ext cx="2834640" cy="822960"/>
          </a:xfrm>
          <a:prstGeom prst="rect">
            <a:avLst/>
          </a:prstGeom>
          <a:noFill/>
          <a:ln/>
        </p:spPr>
        <p:txBody>
          <a:bodyPr wrap="square" lIns="0" tIns="0" rIns="0" bIns="0" rtlCol="0" anchor="ctr"/>
          <a:lstStyle/>
          <a:p>
            <a:pPr indent="0" marL="0">
              <a:lnSpc>
                <a:spcPts val="1900"/>
              </a:lnSpc>
              <a:buNone/>
            </a:pPr>
            <a:r>
              <a:rPr lang="en-US" sz="1350" dirty="0">
                <a:solidFill>
                  <a:srgbClr val="2B1620"/>
                </a:solidFill>
                <a:latin typeface="Calibri" pitchFamily="34" charset="0"/>
                <a:ea typeface="Calibri" pitchFamily="34" charset="-122"/>
                <a:cs typeface="Calibri" pitchFamily="34" charset="-120"/>
              </a:rPr>
              <a:t>Where strangers find you. Reels travel fastest and engage harder than Shorts do.</a:t>
            </a:r>
            <a:endParaRPr lang="en-US" sz="1350" dirty="0"/>
          </a:p>
        </p:txBody>
      </p:sp>
      <p:sp>
        <p:nvSpPr>
          <p:cNvPr id="8" name="Text 6"/>
          <p:cNvSpPr/>
          <p:nvPr/>
        </p:nvSpPr>
        <p:spPr>
          <a:xfrm>
            <a:off x="1005840" y="3639312"/>
            <a:ext cx="2834640" cy="777240"/>
          </a:xfrm>
          <a:prstGeom prst="rect">
            <a:avLst/>
          </a:prstGeom>
          <a:noFill/>
          <a:ln/>
        </p:spPr>
        <p:txBody>
          <a:bodyPr wrap="square" lIns="0" tIns="0" rIns="0" bIns="0" rtlCol="0" anchor="ctr"/>
          <a:lstStyle/>
          <a:p>
            <a:pPr indent="0" marL="0">
              <a:lnSpc>
                <a:spcPts val="1800"/>
              </a:lnSpc>
              <a:buNone/>
            </a:pPr>
            <a:r>
              <a:rPr lang="en-US" sz="1250" dirty="0">
                <a:solidFill>
                  <a:srgbClr val="6D2E46"/>
                </a:solidFill>
                <a:latin typeface="Calibri" pitchFamily="34" charset="0"/>
                <a:ea typeface="Calibri" pitchFamily="34" charset="-122"/>
                <a:cs typeface="Calibri" pitchFamily="34" charset="-120"/>
              </a:rPr>
              <a:t>But: around 60% of Reels viewers in India are 18–24. Younger than the women you're built for.</a:t>
            </a:r>
            <a:endParaRPr lang="en-US" sz="1250" dirty="0"/>
          </a:p>
        </p:txBody>
      </p:sp>
      <p:sp>
        <p:nvSpPr>
          <p:cNvPr id="9" name="Shape 7"/>
          <p:cNvSpPr/>
          <p:nvPr/>
        </p:nvSpPr>
        <p:spPr>
          <a:xfrm>
            <a:off x="4315968" y="1874520"/>
            <a:ext cx="3419856" cy="2651760"/>
          </a:xfrm>
          <a:prstGeom prst="roundRect">
            <a:avLst>
              <a:gd name="adj" fmla="val 4828"/>
            </a:avLst>
          </a:prstGeom>
          <a:solidFill>
            <a:srgbClr val="6D2E46"/>
          </a:solidFill>
          <a:ln/>
        </p:spPr>
      </p:sp>
      <p:sp>
        <p:nvSpPr>
          <p:cNvPr id="10" name="Text 8"/>
          <p:cNvSpPr/>
          <p:nvPr/>
        </p:nvSpPr>
        <p:spPr>
          <a:xfrm>
            <a:off x="4608576" y="2084832"/>
            <a:ext cx="2834640" cy="320040"/>
          </a:xfrm>
          <a:prstGeom prst="rect">
            <a:avLst/>
          </a:prstGeom>
          <a:noFill/>
          <a:ln/>
        </p:spPr>
        <p:txBody>
          <a:bodyPr wrap="square" lIns="0" tIns="0" rIns="0" bIns="0" rtlCol="0" anchor="ctr"/>
          <a:lstStyle/>
          <a:p>
            <a:pPr indent="0" marL="0">
              <a:buNone/>
            </a:pPr>
            <a:r>
              <a:rPr lang="en-US" sz="1800" b="1" dirty="0">
                <a:solidFill>
                  <a:srgbClr val="D9A441"/>
                </a:solidFill>
                <a:latin typeface="Calibri" pitchFamily="34" charset="0"/>
                <a:ea typeface="Calibri" pitchFamily="34" charset="-122"/>
                <a:cs typeface="Calibri" pitchFamily="34" charset="-120"/>
              </a:rPr>
              <a:t>YouTube</a:t>
            </a:r>
            <a:endParaRPr lang="en-US" sz="1800" dirty="0"/>
          </a:p>
        </p:txBody>
      </p:sp>
      <p:sp>
        <p:nvSpPr>
          <p:cNvPr id="11" name="Text 9"/>
          <p:cNvSpPr/>
          <p:nvPr/>
        </p:nvSpPr>
        <p:spPr>
          <a:xfrm>
            <a:off x="4608576" y="2414016"/>
            <a:ext cx="2926080" cy="274320"/>
          </a:xfrm>
          <a:prstGeom prst="rect">
            <a:avLst/>
          </a:prstGeom>
          <a:noFill/>
          <a:ln/>
        </p:spPr>
        <p:txBody>
          <a:bodyPr wrap="square" lIns="0" tIns="0" rIns="0" bIns="0" rtlCol="0" anchor="ctr"/>
          <a:lstStyle/>
          <a:p>
            <a:pPr indent="0" marL="0">
              <a:buNone/>
            </a:pPr>
            <a:r>
              <a:rPr lang="en-US" sz="1100" spc="100" kern="0" dirty="0">
                <a:solidFill>
                  <a:srgbClr val="C9AEB8"/>
                </a:solidFill>
                <a:latin typeface="Calibri" pitchFamily="34" charset="0"/>
                <a:ea typeface="Calibri" pitchFamily="34" charset="-122"/>
                <a:cs typeface="Calibri" pitchFamily="34" charset="-120"/>
              </a:rPr>
              <a:t>WHERE YOUR AUDIENCE ACTUALLY IS</a:t>
            </a:r>
            <a:endParaRPr lang="en-US" sz="1100" dirty="0"/>
          </a:p>
        </p:txBody>
      </p:sp>
      <p:sp>
        <p:nvSpPr>
          <p:cNvPr id="12" name="Text 10"/>
          <p:cNvSpPr/>
          <p:nvPr/>
        </p:nvSpPr>
        <p:spPr>
          <a:xfrm>
            <a:off x="4608576" y="2761488"/>
            <a:ext cx="2834640" cy="822960"/>
          </a:xfrm>
          <a:prstGeom prst="rect">
            <a:avLst/>
          </a:prstGeom>
          <a:noFill/>
          <a:ln/>
        </p:spPr>
        <p:txBody>
          <a:bodyPr wrap="square" lIns="0" tIns="0" rIns="0" bIns="0" rtlCol="0" anchor="ctr"/>
          <a:lstStyle/>
          <a:p>
            <a:pPr indent="0" marL="0">
              <a:lnSpc>
                <a:spcPts val="1900"/>
              </a:lnSpc>
              <a:buNone/>
            </a:pPr>
            <a:r>
              <a:rPr lang="en-US" sz="1350" dirty="0">
                <a:solidFill>
                  <a:srgbClr val="FFFFFF"/>
                </a:solidFill>
                <a:latin typeface="Calibri" pitchFamily="34" charset="0"/>
                <a:ea typeface="Calibri" pitchFamily="34" charset="-122"/>
                <a:cs typeface="Calibri" pitchFamily="34" charset="-120"/>
              </a:rPr>
              <a:t>467 million monthly users in India — behind only WhatsApp and Facebook. And it reaches the 25–34 group far more strongly.</a:t>
            </a:r>
            <a:endParaRPr lang="en-US" sz="1350" dirty="0"/>
          </a:p>
        </p:txBody>
      </p:sp>
      <p:sp>
        <p:nvSpPr>
          <p:cNvPr id="13" name="Text 11"/>
          <p:cNvSpPr/>
          <p:nvPr/>
        </p:nvSpPr>
        <p:spPr>
          <a:xfrm>
            <a:off x="4608576" y="3639312"/>
            <a:ext cx="2834640" cy="777240"/>
          </a:xfrm>
          <a:prstGeom prst="rect">
            <a:avLst/>
          </a:prstGeom>
          <a:noFill/>
          <a:ln/>
        </p:spPr>
        <p:txBody>
          <a:bodyPr wrap="square" lIns="0" tIns="0" rIns="0" bIns="0" rtlCol="0" anchor="ctr"/>
          <a:lstStyle/>
          <a:p>
            <a:pPr indent="0" marL="0">
              <a:lnSpc>
                <a:spcPts val="1800"/>
              </a:lnSpc>
              <a:buNone/>
            </a:pPr>
            <a:r>
              <a:rPr lang="en-US" sz="1250" dirty="0">
                <a:solidFill>
                  <a:srgbClr val="D9A441"/>
                </a:solidFill>
                <a:latin typeface="Calibri" pitchFamily="34" charset="0"/>
                <a:ea typeface="Calibri" pitchFamily="34" charset="-122"/>
                <a:cs typeface="Calibri" pitchFamily="34" charset="-120"/>
              </a:rPr>
              <a:t>And: a reel dies in 72 hours. A YouTube video keeps being found for years, because people search it.</a:t>
            </a:r>
            <a:endParaRPr lang="en-US" sz="1250" dirty="0"/>
          </a:p>
        </p:txBody>
      </p:sp>
      <p:sp>
        <p:nvSpPr>
          <p:cNvPr id="14" name="Shape 12"/>
          <p:cNvSpPr/>
          <p:nvPr/>
        </p:nvSpPr>
        <p:spPr>
          <a:xfrm>
            <a:off x="7918704" y="1874520"/>
            <a:ext cx="3419856" cy="2651760"/>
          </a:xfrm>
          <a:prstGeom prst="roundRect">
            <a:avLst>
              <a:gd name="adj" fmla="val 4828"/>
            </a:avLst>
          </a:prstGeom>
          <a:solidFill>
            <a:srgbClr val="F7F2F4"/>
          </a:solidFill>
          <a:ln/>
        </p:spPr>
      </p:sp>
      <p:sp>
        <p:nvSpPr>
          <p:cNvPr id="15" name="Text 13"/>
          <p:cNvSpPr/>
          <p:nvPr/>
        </p:nvSpPr>
        <p:spPr>
          <a:xfrm>
            <a:off x="8211312" y="2084832"/>
            <a:ext cx="2834640" cy="320040"/>
          </a:xfrm>
          <a:prstGeom prst="rect">
            <a:avLst/>
          </a:prstGeom>
          <a:noFill/>
          <a:ln/>
        </p:spPr>
        <p:txBody>
          <a:bodyPr wrap="square" lIns="0" tIns="0" rIns="0" bIns="0" rtlCol="0" anchor="ctr"/>
          <a:lstStyle/>
          <a:p>
            <a:pPr indent="0" marL="0">
              <a:buNone/>
            </a:pPr>
            <a:r>
              <a:rPr lang="en-US" sz="1800" b="1" dirty="0">
                <a:solidFill>
                  <a:srgbClr val="6D2E46"/>
                </a:solidFill>
                <a:latin typeface="Calibri" pitchFamily="34" charset="0"/>
                <a:ea typeface="Calibri" pitchFamily="34" charset="-122"/>
                <a:cs typeface="Calibri" pitchFamily="34" charset="-120"/>
              </a:rPr>
              <a:t>WhatsApp</a:t>
            </a:r>
            <a:endParaRPr lang="en-US" sz="1800" dirty="0"/>
          </a:p>
        </p:txBody>
      </p:sp>
      <p:sp>
        <p:nvSpPr>
          <p:cNvPr id="16" name="Text 14"/>
          <p:cNvSpPr/>
          <p:nvPr/>
        </p:nvSpPr>
        <p:spPr>
          <a:xfrm>
            <a:off x="8211312" y="2414016"/>
            <a:ext cx="2926080" cy="274320"/>
          </a:xfrm>
          <a:prstGeom prst="rect">
            <a:avLst/>
          </a:prstGeom>
          <a:noFill/>
          <a:ln/>
        </p:spPr>
        <p:txBody>
          <a:bodyPr wrap="square" lIns="0" tIns="0" rIns="0" bIns="0" rtlCol="0" anchor="ctr"/>
          <a:lstStyle/>
          <a:p>
            <a:pPr indent="0" marL="0">
              <a:buNone/>
            </a:pPr>
            <a:r>
              <a:rPr lang="en-US" sz="1100" spc="100" kern="0" dirty="0">
                <a:solidFill>
                  <a:srgbClr val="7A6068"/>
                </a:solidFill>
                <a:latin typeface="Calibri" pitchFamily="34" charset="0"/>
                <a:ea typeface="Calibri" pitchFamily="34" charset="-122"/>
                <a:cs typeface="Calibri" pitchFamily="34" charset="-120"/>
              </a:rPr>
              <a:t>THE RELATIONSHIP</a:t>
            </a:r>
            <a:endParaRPr lang="en-US" sz="1100" dirty="0"/>
          </a:p>
        </p:txBody>
      </p:sp>
      <p:sp>
        <p:nvSpPr>
          <p:cNvPr id="17" name="Text 15"/>
          <p:cNvSpPr/>
          <p:nvPr/>
        </p:nvSpPr>
        <p:spPr>
          <a:xfrm>
            <a:off x="8211312" y="2761488"/>
            <a:ext cx="2834640" cy="822960"/>
          </a:xfrm>
          <a:prstGeom prst="rect">
            <a:avLst/>
          </a:prstGeom>
          <a:noFill/>
          <a:ln/>
        </p:spPr>
        <p:txBody>
          <a:bodyPr wrap="square" lIns="0" tIns="0" rIns="0" bIns="0" rtlCol="0" anchor="ctr"/>
          <a:lstStyle/>
          <a:p>
            <a:pPr indent="0" marL="0">
              <a:lnSpc>
                <a:spcPts val="1900"/>
              </a:lnSpc>
              <a:buNone/>
            </a:pPr>
            <a:r>
              <a:rPr lang="en-US" sz="1350" dirty="0">
                <a:solidFill>
                  <a:srgbClr val="2B1620"/>
                </a:solidFill>
                <a:latin typeface="Calibri" pitchFamily="34" charset="0"/>
                <a:ea typeface="Calibri" pitchFamily="34" charset="-122"/>
                <a:cs typeface="Calibri" pitchFamily="34" charset="-120"/>
              </a:rPr>
              <a:t>In India, this is where people actually reply. Not email.</a:t>
            </a:r>
            <a:endParaRPr lang="en-US" sz="1350" dirty="0"/>
          </a:p>
        </p:txBody>
      </p:sp>
      <p:sp>
        <p:nvSpPr>
          <p:cNvPr id="18" name="Text 16"/>
          <p:cNvSpPr/>
          <p:nvPr/>
        </p:nvSpPr>
        <p:spPr>
          <a:xfrm>
            <a:off x="8211312" y="3639312"/>
            <a:ext cx="2834640" cy="777240"/>
          </a:xfrm>
          <a:prstGeom prst="rect">
            <a:avLst/>
          </a:prstGeom>
          <a:noFill/>
          <a:ln/>
        </p:spPr>
        <p:txBody>
          <a:bodyPr wrap="square" lIns="0" tIns="0" rIns="0" bIns="0" rtlCol="0" anchor="ctr"/>
          <a:lstStyle/>
          <a:p>
            <a:pPr indent="0" marL="0">
              <a:lnSpc>
                <a:spcPts val="1800"/>
              </a:lnSpc>
              <a:buNone/>
            </a:pPr>
            <a:r>
              <a:rPr lang="en-US" sz="1250" dirty="0">
                <a:solidFill>
                  <a:srgbClr val="6D2E46"/>
                </a:solidFill>
                <a:latin typeface="Calibri" pitchFamily="34" charset="0"/>
                <a:ea typeface="Calibri" pitchFamily="34" charset="-122"/>
                <a:cs typeface="Calibri" pitchFamily="34" charset="-120"/>
              </a:rPr>
              <a:t>And it's yours. If Instagram changes its mind tomorrow, this list still exists.</a:t>
            </a:r>
            <a:endParaRPr lang="en-US" sz="1250" dirty="0"/>
          </a:p>
        </p:txBody>
      </p:sp>
      <p:sp>
        <p:nvSpPr>
          <p:cNvPr id="19" name="Shape 17"/>
          <p:cNvSpPr/>
          <p:nvPr/>
        </p:nvSpPr>
        <p:spPr>
          <a:xfrm>
            <a:off x="713232" y="4892040"/>
            <a:ext cx="10735056" cy="1005840"/>
          </a:xfrm>
          <a:prstGeom prst="roundRect">
            <a:avLst>
              <a:gd name="adj" fmla="val 12727"/>
            </a:avLst>
          </a:prstGeom>
          <a:solidFill>
            <a:srgbClr val="3D1B2E"/>
          </a:solidFill>
          <a:ln/>
        </p:spPr>
      </p:sp>
      <p:sp>
        <p:nvSpPr>
          <p:cNvPr id="20" name="Text 18"/>
          <p:cNvSpPr/>
          <p:nvPr/>
        </p:nvSpPr>
        <p:spPr>
          <a:xfrm>
            <a:off x="1170432" y="4892040"/>
            <a:ext cx="9820656" cy="1005840"/>
          </a:xfrm>
          <a:prstGeom prst="rect">
            <a:avLst/>
          </a:prstGeom>
          <a:noFill/>
          <a:ln/>
        </p:spPr>
        <p:txBody>
          <a:bodyPr wrap="square" lIns="0" tIns="0" rIns="0" bIns="0" rtlCol="0" anchor="ctr"/>
          <a:lstStyle/>
          <a:p>
            <a:pPr indent="0" marL="0">
              <a:lnSpc>
                <a:spcPts val="2500"/>
              </a:lnSpc>
              <a:buNone/>
            </a:pPr>
            <a:r>
              <a:rPr lang="en-US" sz="1750" dirty="0">
                <a:solidFill>
                  <a:srgbClr val="FFFFFF"/>
                </a:solidFill>
                <a:latin typeface="Calibri" pitchFamily="34" charset="0"/>
                <a:ea typeface="Calibri" pitchFamily="34" charset="-122"/>
                <a:cs typeface="Calibri" pitchFamily="34" charset="-120"/>
              </a:rPr>
              <a:t>Same 30 minutes of filming. Three destinations. That's the whole argument for having a production partner rather than posting to one app.</a:t>
            </a:r>
            <a:endParaRPr lang="en-US" sz="1750" dirty="0"/>
          </a:p>
        </p:txBody>
      </p:sp>
      <p:sp>
        <p:nvSpPr>
          <p:cNvPr id="21" name="Text 19"/>
          <p:cNvSpPr/>
          <p:nvPr/>
        </p:nvSpPr>
        <p:spPr>
          <a:xfrm>
            <a:off x="713232" y="6309360"/>
            <a:ext cx="10735056" cy="320040"/>
          </a:xfrm>
          <a:prstGeom prst="rect">
            <a:avLst/>
          </a:prstGeom>
          <a:noFill/>
          <a:ln/>
        </p:spPr>
        <p:txBody>
          <a:bodyPr wrap="square" lIns="0" tIns="0" rIns="0" bIns="0" rtlCol="0" anchor="ctr"/>
          <a:lstStyle/>
          <a:p>
            <a:pPr indent="0" marL="0">
              <a:buNone/>
            </a:pPr>
            <a:r>
              <a:rPr lang="en-US" sz="1050" i="1" dirty="0">
                <a:solidFill>
                  <a:srgbClr val="7A6068"/>
                </a:solidFill>
                <a:latin typeface="Calibri" pitchFamily="34" charset="0"/>
                <a:ea typeface="Calibri" pitchFamily="34" charset="-122"/>
                <a:cs typeface="Calibri" pitchFamily="34" charset="-120"/>
              </a:rPr>
              <a:t>Platform figures: YouTube India monthly users and age skew, 2026 industry reporting.</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3232" y="420624"/>
            <a:ext cx="10735056" cy="274320"/>
          </a:xfrm>
          <a:prstGeom prst="rect">
            <a:avLst/>
          </a:prstGeom>
          <a:noFill/>
          <a:ln/>
        </p:spPr>
        <p:txBody>
          <a:bodyPr wrap="square" lIns="0" tIns="0" rIns="0" bIns="0" rtlCol="0" anchor="ctr"/>
          <a:lstStyle/>
          <a:p>
            <a:pPr indent="0" marL="0">
              <a:buNone/>
            </a:pPr>
            <a:r>
              <a:rPr lang="en-US" sz="1200" b="1" spc="220" kern="0" dirty="0">
                <a:solidFill>
                  <a:srgbClr val="A26769"/>
                </a:solidFill>
                <a:latin typeface="Calibri" pitchFamily="34" charset="0"/>
                <a:ea typeface="Calibri" pitchFamily="34" charset="-122"/>
                <a:cs typeface="Calibri" pitchFamily="34" charset="-120"/>
              </a:rPr>
              <a:t>THE PART EVERYTHING ELSE EXISTS FOR</a:t>
            </a:r>
            <a:endParaRPr lang="en-US" sz="1200" dirty="0"/>
          </a:p>
        </p:txBody>
      </p:sp>
      <p:sp>
        <p:nvSpPr>
          <p:cNvPr id="3" name="Text 1"/>
          <p:cNvSpPr/>
          <p:nvPr/>
        </p:nvSpPr>
        <p:spPr>
          <a:xfrm>
            <a:off x="713232" y="768096"/>
            <a:ext cx="10735056" cy="960120"/>
          </a:xfrm>
          <a:prstGeom prst="rect">
            <a:avLst/>
          </a:prstGeom>
          <a:noFill/>
          <a:ln/>
        </p:spPr>
        <p:txBody>
          <a:bodyPr wrap="square" lIns="0" tIns="0" rIns="0" bIns="0" rtlCol="0" anchor="ctr"/>
          <a:lstStyle/>
          <a:p>
            <a:pPr indent="0" marL="0">
              <a:lnSpc>
                <a:spcPts val="4500"/>
              </a:lnSpc>
              <a:buNone/>
            </a:pPr>
            <a:r>
              <a:rPr lang="en-US" sz="3900" b="1" dirty="0">
                <a:solidFill>
                  <a:srgbClr val="2B1620"/>
                </a:solidFill>
                <a:latin typeface="Cambria" pitchFamily="34" charset="0"/>
                <a:ea typeface="Cambria" pitchFamily="34" charset="-122"/>
                <a:cs typeface="Cambria" pitchFamily="34" charset="-120"/>
              </a:rPr>
              <a:t>How this actually turns into money</a:t>
            </a:r>
            <a:endParaRPr lang="en-US" sz="3900" dirty="0"/>
          </a:p>
        </p:txBody>
      </p:sp>
      <p:sp>
        <p:nvSpPr>
          <p:cNvPr id="4" name="Text 2"/>
          <p:cNvSpPr/>
          <p:nvPr/>
        </p:nvSpPr>
        <p:spPr>
          <a:xfrm>
            <a:off x="713232" y="1737360"/>
            <a:ext cx="10735056" cy="320040"/>
          </a:xfrm>
          <a:prstGeom prst="rect">
            <a:avLst/>
          </a:prstGeom>
          <a:noFill/>
          <a:ln/>
        </p:spPr>
        <p:txBody>
          <a:bodyPr wrap="square" lIns="0" tIns="0" rIns="0" bIns="0" rtlCol="0" anchor="ctr"/>
          <a:lstStyle/>
          <a:p>
            <a:pPr indent="0" marL="0">
              <a:buNone/>
            </a:pPr>
            <a:r>
              <a:rPr lang="en-US" sz="1600" dirty="0">
                <a:solidFill>
                  <a:srgbClr val="7A6068"/>
                </a:solidFill>
                <a:latin typeface="Calibri" pitchFamily="34" charset="0"/>
                <a:ea typeface="Calibri" pitchFamily="34" charset="-122"/>
                <a:cs typeface="Calibri" pitchFamily="34" charset="-120"/>
              </a:rPr>
              <a:t>Nobody buys from a stranger. This is the path from someone who scrolls past you to someone who pays you.</a:t>
            </a:r>
            <a:endParaRPr lang="en-US" sz="1600" dirty="0"/>
          </a:p>
        </p:txBody>
      </p:sp>
      <p:sp>
        <p:nvSpPr>
          <p:cNvPr id="5" name="Shape 3"/>
          <p:cNvSpPr/>
          <p:nvPr/>
        </p:nvSpPr>
        <p:spPr>
          <a:xfrm>
            <a:off x="713232" y="2194560"/>
            <a:ext cx="2048256" cy="1627632"/>
          </a:xfrm>
          <a:prstGeom prst="roundRect">
            <a:avLst>
              <a:gd name="adj" fmla="val 7865"/>
            </a:avLst>
          </a:prstGeom>
          <a:solidFill>
            <a:srgbClr val="F7F2F4"/>
          </a:solidFill>
          <a:ln/>
        </p:spPr>
      </p:sp>
      <p:sp>
        <p:nvSpPr>
          <p:cNvPr id="6" name="Shape 4"/>
          <p:cNvSpPr/>
          <p:nvPr/>
        </p:nvSpPr>
        <p:spPr>
          <a:xfrm>
            <a:off x="932688" y="2377440"/>
            <a:ext cx="329184" cy="329184"/>
          </a:xfrm>
          <a:prstGeom prst="ellipse">
            <a:avLst/>
          </a:prstGeom>
          <a:solidFill>
            <a:srgbClr val="6D2E46"/>
          </a:solidFill>
          <a:ln/>
        </p:spPr>
      </p:sp>
      <p:sp>
        <p:nvSpPr>
          <p:cNvPr id="7" name="Text 5"/>
          <p:cNvSpPr/>
          <p:nvPr/>
        </p:nvSpPr>
        <p:spPr>
          <a:xfrm>
            <a:off x="932688" y="23774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932688" y="2798064"/>
            <a:ext cx="1691640" cy="384048"/>
          </a:xfrm>
          <a:prstGeom prst="rect">
            <a:avLst/>
          </a:prstGeom>
          <a:noFill/>
          <a:ln/>
        </p:spPr>
        <p:txBody>
          <a:bodyPr wrap="square" lIns="0" tIns="0" rIns="0" bIns="0" rtlCol="0" anchor="ctr"/>
          <a:lstStyle/>
          <a:p>
            <a:pPr indent="0" marL="0">
              <a:lnSpc>
                <a:spcPts val="1800"/>
              </a:lnSpc>
              <a:buNone/>
            </a:pPr>
            <a:r>
              <a:rPr lang="en-US" sz="1400" b="1" dirty="0">
                <a:solidFill>
                  <a:srgbClr val="2B1620"/>
                </a:solidFill>
                <a:latin typeface="Calibri" pitchFamily="34" charset="0"/>
                <a:ea typeface="Calibri" pitchFamily="34" charset="-122"/>
                <a:cs typeface="Calibri" pitchFamily="34" charset="-120"/>
              </a:rPr>
              <a:t>She sees a reel</a:t>
            </a:r>
            <a:endParaRPr lang="en-US" sz="1400" dirty="0"/>
          </a:p>
        </p:txBody>
      </p:sp>
      <p:sp>
        <p:nvSpPr>
          <p:cNvPr id="9" name="Text 7"/>
          <p:cNvSpPr/>
          <p:nvPr/>
        </p:nvSpPr>
        <p:spPr>
          <a:xfrm>
            <a:off x="932688" y="3182112"/>
            <a:ext cx="1737360" cy="566928"/>
          </a:xfrm>
          <a:prstGeom prst="rect">
            <a:avLst/>
          </a:prstGeom>
          <a:noFill/>
          <a:ln/>
        </p:spPr>
        <p:txBody>
          <a:bodyPr wrap="square" lIns="0" tIns="0" rIns="0" bIns="0" rtlCol="0" anchor="ctr"/>
          <a:lstStyle/>
          <a:p>
            <a:pPr indent="0" marL="0">
              <a:lnSpc>
                <a:spcPts val="1400"/>
              </a:lnSpc>
              <a:buNone/>
            </a:pPr>
            <a:r>
              <a:rPr lang="en-US" sz="1100" dirty="0">
                <a:solidFill>
                  <a:srgbClr val="7A6068"/>
                </a:solidFill>
                <a:latin typeface="Calibri" pitchFamily="34" charset="0"/>
                <a:ea typeface="Calibri" pitchFamily="34" charset="-122"/>
                <a:cs typeface="Calibri" pitchFamily="34" charset="-120"/>
              </a:rPr>
              <a:t>You show a result. You hold back the method.</a:t>
            </a:r>
            <a:endParaRPr lang="en-US" sz="1100" dirty="0"/>
          </a:p>
        </p:txBody>
      </p:sp>
      <p:sp>
        <p:nvSpPr>
          <p:cNvPr id="10" name="Shape 8"/>
          <p:cNvSpPr/>
          <p:nvPr/>
        </p:nvSpPr>
        <p:spPr>
          <a:xfrm>
            <a:off x="2889504" y="2194560"/>
            <a:ext cx="2048256" cy="1627632"/>
          </a:xfrm>
          <a:prstGeom prst="roundRect">
            <a:avLst>
              <a:gd name="adj" fmla="val 7865"/>
            </a:avLst>
          </a:prstGeom>
          <a:solidFill>
            <a:srgbClr val="F7F2F4"/>
          </a:solidFill>
          <a:ln/>
        </p:spPr>
      </p:sp>
      <p:sp>
        <p:nvSpPr>
          <p:cNvPr id="11" name="Shape 9"/>
          <p:cNvSpPr/>
          <p:nvPr/>
        </p:nvSpPr>
        <p:spPr>
          <a:xfrm>
            <a:off x="3108960" y="2377440"/>
            <a:ext cx="329184" cy="329184"/>
          </a:xfrm>
          <a:prstGeom prst="ellipse">
            <a:avLst/>
          </a:prstGeom>
          <a:solidFill>
            <a:srgbClr val="6D2E46"/>
          </a:solidFill>
          <a:ln/>
        </p:spPr>
      </p:sp>
      <p:sp>
        <p:nvSpPr>
          <p:cNvPr id="12" name="Text 10"/>
          <p:cNvSpPr/>
          <p:nvPr/>
        </p:nvSpPr>
        <p:spPr>
          <a:xfrm>
            <a:off x="3108960" y="23774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3108960" y="2798064"/>
            <a:ext cx="1691640" cy="384048"/>
          </a:xfrm>
          <a:prstGeom prst="rect">
            <a:avLst/>
          </a:prstGeom>
          <a:noFill/>
          <a:ln/>
        </p:spPr>
        <p:txBody>
          <a:bodyPr wrap="square" lIns="0" tIns="0" rIns="0" bIns="0" rtlCol="0" anchor="ctr"/>
          <a:lstStyle/>
          <a:p>
            <a:pPr indent="0" marL="0">
              <a:lnSpc>
                <a:spcPts val="1800"/>
              </a:lnSpc>
              <a:buNone/>
            </a:pPr>
            <a:r>
              <a:rPr lang="en-US" sz="1400" b="1" dirty="0">
                <a:solidFill>
                  <a:srgbClr val="2B1620"/>
                </a:solidFill>
                <a:latin typeface="Calibri" pitchFamily="34" charset="0"/>
                <a:ea typeface="Calibri" pitchFamily="34" charset="-122"/>
                <a:cs typeface="Calibri" pitchFamily="34" charset="-120"/>
              </a:rPr>
              <a:t>She asks for it</a:t>
            </a:r>
            <a:endParaRPr lang="en-US" sz="1400" dirty="0"/>
          </a:p>
        </p:txBody>
      </p:sp>
      <p:sp>
        <p:nvSpPr>
          <p:cNvPr id="14" name="Text 12"/>
          <p:cNvSpPr/>
          <p:nvPr/>
        </p:nvSpPr>
        <p:spPr>
          <a:xfrm>
            <a:off x="3108960" y="3182112"/>
            <a:ext cx="1737360" cy="566928"/>
          </a:xfrm>
          <a:prstGeom prst="rect">
            <a:avLst/>
          </a:prstGeom>
          <a:noFill/>
          <a:ln/>
        </p:spPr>
        <p:txBody>
          <a:bodyPr wrap="square" lIns="0" tIns="0" rIns="0" bIns="0" rtlCol="0" anchor="ctr"/>
          <a:lstStyle/>
          <a:p>
            <a:pPr indent="0" marL="0">
              <a:lnSpc>
                <a:spcPts val="1400"/>
              </a:lnSpc>
              <a:buNone/>
            </a:pPr>
            <a:r>
              <a:rPr lang="en-US" sz="1100" dirty="0">
                <a:solidFill>
                  <a:srgbClr val="7A6068"/>
                </a:solidFill>
                <a:latin typeface="Calibri" pitchFamily="34" charset="0"/>
                <a:ea typeface="Calibri" pitchFamily="34" charset="-122"/>
                <a:cs typeface="Calibri" pitchFamily="34" charset="-120"/>
              </a:rPr>
              <a:t>A comment or a DM. This is the moment we design for.</a:t>
            </a:r>
            <a:endParaRPr lang="en-US" sz="1100" dirty="0"/>
          </a:p>
        </p:txBody>
      </p:sp>
      <p:sp>
        <p:nvSpPr>
          <p:cNvPr id="15" name="Shape 13"/>
          <p:cNvSpPr/>
          <p:nvPr/>
        </p:nvSpPr>
        <p:spPr>
          <a:xfrm>
            <a:off x="5065776" y="2194560"/>
            <a:ext cx="2048256" cy="1627632"/>
          </a:xfrm>
          <a:prstGeom prst="roundRect">
            <a:avLst>
              <a:gd name="adj" fmla="val 7865"/>
            </a:avLst>
          </a:prstGeom>
          <a:solidFill>
            <a:srgbClr val="6D2E46"/>
          </a:solidFill>
          <a:ln/>
        </p:spPr>
      </p:sp>
      <p:sp>
        <p:nvSpPr>
          <p:cNvPr id="16" name="Shape 14"/>
          <p:cNvSpPr/>
          <p:nvPr/>
        </p:nvSpPr>
        <p:spPr>
          <a:xfrm>
            <a:off x="5285232" y="2377440"/>
            <a:ext cx="329184" cy="329184"/>
          </a:xfrm>
          <a:prstGeom prst="ellipse">
            <a:avLst/>
          </a:prstGeom>
          <a:solidFill>
            <a:srgbClr val="D9A441"/>
          </a:solidFill>
          <a:ln/>
        </p:spPr>
      </p:sp>
      <p:sp>
        <p:nvSpPr>
          <p:cNvPr id="17" name="Text 15"/>
          <p:cNvSpPr/>
          <p:nvPr/>
        </p:nvSpPr>
        <p:spPr>
          <a:xfrm>
            <a:off x="5285232" y="2377440"/>
            <a:ext cx="329184" cy="329184"/>
          </a:xfrm>
          <a:prstGeom prst="rect">
            <a:avLst/>
          </a:prstGeom>
          <a:noFill/>
          <a:ln/>
        </p:spPr>
        <p:txBody>
          <a:bodyPr wrap="square" lIns="0" tIns="0" rIns="0" bIns="0" rtlCol="0" anchor="ctr"/>
          <a:lstStyle/>
          <a:p>
            <a:pPr algn="ctr" indent="0" marL="0">
              <a:buNone/>
            </a:pPr>
            <a:r>
              <a:rPr lang="en-US" sz="1300" b="1" dirty="0">
                <a:solidFill>
                  <a:srgbClr val="3D1B2E"/>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5285232" y="2798064"/>
            <a:ext cx="1691640" cy="384048"/>
          </a:xfrm>
          <a:prstGeom prst="rect">
            <a:avLst/>
          </a:prstGeom>
          <a:noFill/>
          <a:ln/>
        </p:spPr>
        <p:txBody>
          <a:bodyPr wrap="square" lIns="0" tIns="0" rIns="0" bIns="0" rtlCol="0" anchor="ctr"/>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She joins your WhatsApp</a:t>
            </a:r>
            <a:endParaRPr lang="en-US" sz="1400" dirty="0"/>
          </a:p>
        </p:txBody>
      </p:sp>
      <p:sp>
        <p:nvSpPr>
          <p:cNvPr id="19" name="Text 17"/>
          <p:cNvSpPr/>
          <p:nvPr/>
        </p:nvSpPr>
        <p:spPr>
          <a:xfrm>
            <a:off x="5285232" y="3182112"/>
            <a:ext cx="1737360" cy="566928"/>
          </a:xfrm>
          <a:prstGeom prst="rect">
            <a:avLst/>
          </a:prstGeom>
          <a:noFill/>
          <a:ln/>
        </p:spPr>
        <p:txBody>
          <a:bodyPr wrap="square" lIns="0" tIns="0" rIns="0" bIns="0" rtlCol="0" anchor="ctr"/>
          <a:lstStyle/>
          <a:p>
            <a:pPr indent="0" marL="0">
              <a:lnSpc>
                <a:spcPts val="1400"/>
              </a:lnSpc>
              <a:buNone/>
            </a:pPr>
            <a:r>
              <a:rPr lang="en-US" sz="1100" dirty="0">
                <a:solidFill>
                  <a:srgbClr val="C9AEB8"/>
                </a:solidFill>
                <a:latin typeface="Calibri" pitchFamily="34" charset="0"/>
                <a:ea typeface="Calibri" pitchFamily="34" charset="-122"/>
                <a:cs typeface="Calibri" pitchFamily="34" charset="-120"/>
              </a:rPr>
              <a:t>Now she's yours, not Instagram's.</a:t>
            </a:r>
            <a:endParaRPr lang="en-US" sz="1100" dirty="0"/>
          </a:p>
        </p:txBody>
      </p:sp>
      <p:sp>
        <p:nvSpPr>
          <p:cNvPr id="20" name="Shape 18"/>
          <p:cNvSpPr/>
          <p:nvPr/>
        </p:nvSpPr>
        <p:spPr>
          <a:xfrm>
            <a:off x="7242048" y="2194560"/>
            <a:ext cx="2048256" cy="1627632"/>
          </a:xfrm>
          <a:prstGeom prst="roundRect">
            <a:avLst>
              <a:gd name="adj" fmla="val 7865"/>
            </a:avLst>
          </a:prstGeom>
          <a:solidFill>
            <a:srgbClr val="F7F2F4"/>
          </a:solidFill>
          <a:ln/>
        </p:spPr>
      </p:sp>
      <p:sp>
        <p:nvSpPr>
          <p:cNvPr id="21" name="Shape 19"/>
          <p:cNvSpPr/>
          <p:nvPr/>
        </p:nvSpPr>
        <p:spPr>
          <a:xfrm>
            <a:off x="7461504" y="2377440"/>
            <a:ext cx="329184" cy="329184"/>
          </a:xfrm>
          <a:prstGeom prst="ellipse">
            <a:avLst/>
          </a:prstGeom>
          <a:solidFill>
            <a:srgbClr val="6D2E46"/>
          </a:solidFill>
          <a:ln/>
        </p:spPr>
      </p:sp>
      <p:sp>
        <p:nvSpPr>
          <p:cNvPr id="22" name="Text 20"/>
          <p:cNvSpPr/>
          <p:nvPr/>
        </p:nvSpPr>
        <p:spPr>
          <a:xfrm>
            <a:off x="7461504" y="23774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7461504" y="2798064"/>
            <a:ext cx="1691640" cy="384048"/>
          </a:xfrm>
          <a:prstGeom prst="rect">
            <a:avLst/>
          </a:prstGeom>
          <a:noFill/>
          <a:ln/>
        </p:spPr>
        <p:txBody>
          <a:bodyPr wrap="square" lIns="0" tIns="0" rIns="0" bIns="0" rtlCol="0" anchor="ctr"/>
          <a:lstStyle/>
          <a:p>
            <a:pPr indent="0" marL="0">
              <a:lnSpc>
                <a:spcPts val="1800"/>
              </a:lnSpc>
              <a:buNone/>
            </a:pPr>
            <a:r>
              <a:rPr lang="en-US" sz="1400" b="1" dirty="0">
                <a:solidFill>
                  <a:srgbClr val="2B1620"/>
                </a:solidFill>
                <a:latin typeface="Calibri" pitchFamily="34" charset="0"/>
                <a:ea typeface="Calibri" pitchFamily="34" charset="-122"/>
                <a:cs typeface="Calibri" pitchFamily="34" charset="-120"/>
              </a:rPr>
              <a:t>She hears from you weekly</a:t>
            </a:r>
            <a:endParaRPr lang="en-US" sz="1400" dirty="0"/>
          </a:p>
        </p:txBody>
      </p:sp>
      <p:sp>
        <p:nvSpPr>
          <p:cNvPr id="24" name="Text 22"/>
          <p:cNvSpPr/>
          <p:nvPr/>
        </p:nvSpPr>
        <p:spPr>
          <a:xfrm>
            <a:off x="7461504" y="3182112"/>
            <a:ext cx="1737360" cy="566928"/>
          </a:xfrm>
          <a:prstGeom prst="rect">
            <a:avLst/>
          </a:prstGeom>
          <a:noFill/>
          <a:ln/>
        </p:spPr>
        <p:txBody>
          <a:bodyPr wrap="square" lIns="0" tIns="0" rIns="0" bIns="0" rtlCol="0" anchor="ctr"/>
          <a:lstStyle/>
          <a:p>
            <a:pPr indent="0" marL="0">
              <a:lnSpc>
                <a:spcPts val="1400"/>
              </a:lnSpc>
              <a:buNone/>
            </a:pPr>
            <a:r>
              <a:rPr lang="en-US" sz="1100" dirty="0">
                <a:solidFill>
                  <a:srgbClr val="7A6068"/>
                </a:solidFill>
                <a:latin typeface="Calibri" pitchFamily="34" charset="0"/>
                <a:ea typeface="Calibri" pitchFamily="34" charset="-122"/>
                <a:cs typeface="Calibri" pitchFamily="34" charset="-120"/>
              </a:rPr>
              <a:t>Useful things. Not selling. Trust is built here.</a:t>
            </a:r>
            <a:endParaRPr lang="en-US" sz="1100" dirty="0"/>
          </a:p>
        </p:txBody>
      </p:sp>
      <p:sp>
        <p:nvSpPr>
          <p:cNvPr id="25" name="Shape 23"/>
          <p:cNvSpPr/>
          <p:nvPr/>
        </p:nvSpPr>
        <p:spPr>
          <a:xfrm>
            <a:off x="9418320" y="2194560"/>
            <a:ext cx="2048256" cy="1627632"/>
          </a:xfrm>
          <a:prstGeom prst="roundRect">
            <a:avLst>
              <a:gd name="adj" fmla="val 7865"/>
            </a:avLst>
          </a:prstGeom>
          <a:solidFill>
            <a:srgbClr val="3D1B2E"/>
          </a:solidFill>
          <a:ln/>
        </p:spPr>
      </p:sp>
      <p:sp>
        <p:nvSpPr>
          <p:cNvPr id="26" name="Shape 24"/>
          <p:cNvSpPr/>
          <p:nvPr/>
        </p:nvSpPr>
        <p:spPr>
          <a:xfrm>
            <a:off x="9637776" y="2377440"/>
            <a:ext cx="329184" cy="329184"/>
          </a:xfrm>
          <a:prstGeom prst="ellipse">
            <a:avLst/>
          </a:prstGeom>
          <a:solidFill>
            <a:srgbClr val="D9A441"/>
          </a:solidFill>
          <a:ln/>
        </p:spPr>
      </p:sp>
      <p:sp>
        <p:nvSpPr>
          <p:cNvPr id="27" name="Text 25"/>
          <p:cNvSpPr/>
          <p:nvPr/>
        </p:nvSpPr>
        <p:spPr>
          <a:xfrm>
            <a:off x="9637776" y="2377440"/>
            <a:ext cx="329184" cy="329184"/>
          </a:xfrm>
          <a:prstGeom prst="rect">
            <a:avLst/>
          </a:prstGeom>
          <a:noFill/>
          <a:ln/>
        </p:spPr>
        <p:txBody>
          <a:bodyPr wrap="square" lIns="0" tIns="0" rIns="0" bIns="0" rtlCol="0" anchor="ctr"/>
          <a:lstStyle/>
          <a:p>
            <a:pPr algn="ctr" indent="0" marL="0">
              <a:buNone/>
            </a:pPr>
            <a:r>
              <a:rPr lang="en-US" sz="1300" b="1" dirty="0">
                <a:solidFill>
                  <a:srgbClr val="3D1B2E"/>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9637776" y="2798064"/>
            <a:ext cx="1691640" cy="384048"/>
          </a:xfrm>
          <a:prstGeom prst="rect">
            <a:avLst/>
          </a:prstGeom>
          <a:noFill/>
          <a:ln/>
        </p:spPr>
        <p:txBody>
          <a:bodyPr wrap="square" lIns="0" tIns="0" rIns="0" bIns="0" rtlCol="0" anchor="ctr"/>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She buys</a:t>
            </a:r>
            <a:endParaRPr lang="en-US" sz="1400" dirty="0"/>
          </a:p>
        </p:txBody>
      </p:sp>
      <p:sp>
        <p:nvSpPr>
          <p:cNvPr id="29" name="Text 27"/>
          <p:cNvSpPr/>
          <p:nvPr/>
        </p:nvSpPr>
        <p:spPr>
          <a:xfrm>
            <a:off x="9637776" y="3182112"/>
            <a:ext cx="1737360" cy="566928"/>
          </a:xfrm>
          <a:prstGeom prst="rect">
            <a:avLst/>
          </a:prstGeom>
          <a:noFill/>
          <a:ln/>
        </p:spPr>
        <p:txBody>
          <a:bodyPr wrap="square" lIns="0" tIns="0" rIns="0" bIns="0" rtlCol="0" anchor="ctr"/>
          <a:lstStyle/>
          <a:p>
            <a:pPr indent="0" marL="0">
              <a:lnSpc>
                <a:spcPts val="1400"/>
              </a:lnSpc>
              <a:buNone/>
            </a:pPr>
            <a:r>
              <a:rPr lang="en-US" sz="1100" dirty="0">
                <a:solidFill>
                  <a:srgbClr val="C9AEB8"/>
                </a:solidFill>
                <a:latin typeface="Calibri" pitchFamily="34" charset="0"/>
                <a:ea typeface="Calibri" pitchFamily="34" charset="-122"/>
                <a:cs typeface="Calibri" pitchFamily="34" charset="-120"/>
              </a:rPr>
              <a:t>Something small first. Then the real thing.</a:t>
            </a:r>
            <a:endParaRPr lang="en-US" sz="1100" dirty="0"/>
          </a:p>
        </p:txBody>
      </p:sp>
      <p:sp>
        <p:nvSpPr>
          <p:cNvPr id="30" name="Shape 28"/>
          <p:cNvSpPr/>
          <p:nvPr/>
        </p:nvSpPr>
        <p:spPr>
          <a:xfrm>
            <a:off x="713232" y="4160520"/>
            <a:ext cx="10735056" cy="1078992"/>
          </a:xfrm>
          <a:prstGeom prst="roundRect">
            <a:avLst>
              <a:gd name="adj" fmla="val 11864"/>
            </a:avLst>
          </a:prstGeom>
          <a:solidFill>
            <a:srgbClr val="6D2E46"/>
          </a:solidFill>
          <a:ln/>
        </p:spPr>
      </p:sp>
      <p:sp>
        <p:nvSpPr>
          <p:cNvPr id="31" name="Text 29"/>
          <p:cNvSpPr/>
          <p:nvPr/>
        </p:nvSpPr>
        <p:spPr>
          <a:xfrm>
            <a:off x="1170432" y="4160520"/>
            <a:ext cx="9820656" cy="1078992"/>
          </a:xfrm>
          <a:prstGeom prst="rect">
            <a:avLst/>
          </a:prstGeom>
          <a:noFill/>
          <a:ln/>
        </p:spPr>
        <p:txBody>
          <a:bodyPr wrap="square" lIns="0" tIns="0" rIns="0" bIns="0" rtlCol="0" anchor="ctr"/>
          <a:lstStyle/>
          <a:p>
            <a:pPr indent="0" marL="0">
              <a:lnSpc>
                <a:spcPts val="2500"/>
              </a:lnSpc>
              <a:buNone/>
            </a:pPr>
            <a:r>
              <a:rPr lang="en-US" sz="1800" dirty="0">
                <a:solidFill>
                  <a:srgbClr val="FFFFFF"/>
                </a:solidFill>
                <a:latin typeface="Calibri" pitchFamily="34" charset="0"/>
                <a:ea typeface="Calibri" pitchFamily="34" charset="-122"/>
                <a:cs typeface="Calibri" pitchFamily="34" charset="-120"/>
              </a:rPr>
              <a:t>We're not bringing you clients from outside. We're building the machine that turns the women already watching you into women who pay you.</a:t>
            </a:r>
            <a:endParaRPr lang="en-US" sz="1800" dirty="0"/>
          </a:p>
        </p:txBody>
      </p:sp>
      <p:sp>
        <p:nvSpPr>
          <p:cNvPr id="32" name="Text 30"/>
          <p:cNvSpPr/>
          <p:nvPr/>
        </p:nvSpPr>
        <p:spPr>
          <a:xfrm>
            <a:off x="713232" y="5532120"/>
            <a:ext cx="10735056" cy="640080"/>
          </a:xfrm>
          <a:prstGeom prst="rect">
            <a:avLst/>
          </a:prstGeom>
          <a:noFill/>
          <a:ln/>
        </p:spPr>
        <p:txBody>
          <a:bodyPr wrap="square" lIns="0" tIns="0" rIns="0" bIns="0" rtlCol="0" anchor="ctr"/>
          <a:lstStyle/>
          <a:p>
            <a:pPr indent="0" marL="0">
              <a:lnSpc>
                <a:spcPts val="2400"/>
              </a:lnSpc>
              <a:buNone/>
            </a:pPr>
            <a:r>
              <a:rPr lang="en-US" sz="1700" i="1" dirty="0">
                <a:solidFill>
                  <a:srgbClr val="D9A441"/>
                </a:solidFill>
                <a:latin typeface="Cambria" pitchFamily="34" charset="0"/>
                <a:ea typeface="Cambria" pitchFamily="34" charset="-122"/>
                <a:cs typeface="Cambria" pitchFamily="34" charset="-120"/>
              </a:rPr>
              <a:t>Right now that machine doesn't exist. There's no free thing, no list, no first step — so even the people who love your posts have nowhere to go.</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3232" y="420624"/>
            <a:ext cx="10735056" cy="274320"/>
          </a:xfrm>
          <a:prstGeom prst="rect">
            <a:avLst/>
          </a:prstGeom>
          <a:noFill/>
          <a:ln/>
        </p:spPr>
        <p:txBody>
          <a:bodyPr wrap="square" lIns="0" tIns="0" rIns="0" bIns="0" rtlCol="0" anchor="ctr"/>
          <a:lstStyle/>
          <a:p>
            <a:pPr indent="0" marL="0">
              <a:buNone/>
            </a:pPr>
            <a:r>
              <a:rPr lang="en-US" sz="1200" b="1" spc="220" kern="0" dirty="0">
                <a:solidFill>
                  <a:srgbClr val="A26769"/>
                </a:solidFill>
                <a:latin typeface="Calibri" pitchFamily="34" charset="0"/>
                <a:ea typeface="Calibri" pitchFamily="34" charset="-122"/>
                <a:cs typeface="Calibri" pitchFamily="34" charset="-120"/>
              </a:rPr>
              <a:t>THE OFFER</a:t>
            </a:r>
            <a:endParaRPr lang="en-US" sz="1200" dirty="0"/>
          </a:p>
        </p:txBody>
      </p:sp>
      <p:sp>
        <p:nvSpPr>
          <p:cNvPr id="3" name="Text 1"/>
          <p:cNvSpPr/>
          <p:nvPr/>
        </p:nvSpPr>
        <p:spPr>
          <a:xfrm>
            <a:off x="713232" y="768096"/>
            <a:ext cx="10735056" cy="960120"/>
          </a:xfrm>
          <a:prstGeom prst="rect">
            <a:avLst/>
          </a:prstGeom>
          <a:noFill/>
          <a:ln/>
        </p:spPr>
        <p:txBody>
          <a:bodyPr wrap="square" lIns="0" tIns="0" rIns="0" bIns="0" rtlCol="0" anchor="ctr"/>
          <a:lstStyle/>
          <a:p>
            <a:pPr indent="0" marL="0">
              <a:lnSpc>
                <a:spcPts val="4500"/>
              </a:lnSpc>
              <a:buNone/>
            </a:pPr>
            <a:r>
              <a:rPr lang="en-US" sz="3900" b="1" dirty="0">
                <a:solidFill>
                  <a:srgbClr val="2B1620"/>
                </a:solidFill>
                <a:latin typeface="Cambria" pitchFamily="34" charset="0"/>
                <a:ea typeface="Cambria" pitchFamily="34" charset="-122"/>
                <a:cs typeface="Cambria" pitchFamily="34" charset="-120"/>
              </a:rPr>
              <a:t>What you'd actually sell</a:t>
            </a:r>
            <a:endParaRPr lang="en-US" sz="3900" dirty="0"/>
          </a:p>
        </p:txBody>
      </p:sp>
      <p:sp>
        <p:nvSpPr>
          <p:cNvPr id="4" name="Text 2"/>
          <p:cNvSpPr/>
          <p:nvPr/>
        </p:nvSpPr>
        <p:spPr>
          <a:xfrm>
            <a:off x="713232" y="1737360"/>
            <a:ext cx="10735056" cy="320040"/>
          </a:xfrm>
          <a:prstGeom prst="rect">
            <a:avLst/>
          </a:prstGeom>
          <a:noFill/>
          <a:ln/>
        </p:spPr>
        <p:txBody>
          <a:bodyPr wrap="square" lIns="0" tIns="0" rIns="0" bIns="0" rtlCol="0" anchor="ctr"/>
          <a:lstStyle/>
          <a:p>
            <a:pPr indent="0" marL="0">
              <a:buNone/>
            </a:pPr>
            <a:r>
              <a:rPr lang="en-US" sz="1600" dirty="0">
                <a:solidFill>
                  <a:srgbClr val="7A6068"/>
                </a:solidFill>
                <a:latin typeface="Calibri" pitchFamily="34" charset="0"/>
                <a:ea typeface="Calibri" pitchFamily="34" charset="-122"/>
                <a:cs typeface="Calibri" pitchFamily="34" charset="-120"/>
              </a:rPr>
              <a:t>You may already have this planned — if so, tell me and I'll build around it. This is simply how I'd think about it.</a:t>
            </a:r>
            <a:endParaRPr lang="en-US" sz="1600" dirty="0"/>
          </a:p>
        </p:txBody>
      </p:sp>
      <p:sp>
        <p:nvSpPr>
          <p:cNvPr id="5" name="Shape 3"/>
          <p:cNvSpPr/>
          <p:nvPr/>
        </p:nvSpPr>
        <p:spPr>
          <a:xfrm>
            <a:off x="713232" y="2240280"/>
            <a:ext cx="10735056" cy="841248"/>
          </a:xfrm>
          <a:prstGeom prst="roundRect">
            <a:avLst>
              <a:gd name="adj" fmla="val 10870"/>
            </a:avLst>
          </a:prstGeom>
          <a:solidFill>
            <a:srgbClr val="F7F2F4"/>
          </a:solidFill>
          <a:ln/>
        </p:spPr>
      </p:sp>
      <p:sp>
        <p:nvSpPr>
          <p:cNvPr id="6" name="Text 4"/>
          <p:cNvSpPr/>
          <p:nvPr/>
        </p:nvSpPr>
        <p:spPr>
          <a:xfrm>
            <a:off x="1005840" y="2386584"/>
            <a:ext cx="2103120" cy="274320"/>
          </a:xfrm>
          <a:prstGeom prst="rect">
            <a:avLst/>
          </a:prstGeom>
          <a:noFill/>
          <a:ln/>
        </p:spPr>
        <p:txBody>
          <a:bodyPr wrap="square" lIns="0" tIns="0" rIns="0" bIns="0" rtlCol="0" anchor="ctr"/>
          <a:lstStyle/>
          <a:p>
            <a:pPr indent="0" marL="0">
              <a:buNone/>
            </a:pPr>
            <a:r>
              <a:rPr lang="en-US" sz="1500" b="1" dirty="0">
                <a:solidFill>
                  <a:srgbClr val="6D2E46"/>
                </a:solidFill>
                <a:latin typeface="Calibri" pitchFamily="34" charset="0"/>
                <a:ea typeface="Calibri" pitchFamily="34" charset="-122"/>
                <a:cs typeface="Calibri" pitchFamily="34" charset="-120"/>
              </a:rPr>
              <a:t>Free</a:t>
            </a:r>
            <a:endParaRPr lang="en-US" sz="1500" dirty="0"/>
          </a:p>
        </p:txBody>
      </p:sp>
      <p:sp>
        <p:nvSpPr>
          <p:cNvPr id="7" name="Text 5"/>
          <p:cNvSpPr/>
          <p:nvPr/>
        </p:nvSpPr>
        <p:spPr>
          <a:xfrm>
            <a:off x="1005840" y="2660904"/>
            <a:ext cx="2240280" cy="384048"/>
          </a:xfrm>
          <a:prstGeom prst="rect">
            <a:avLst/>
          </a:prstGeom>
          <a:noFill/>
          <a:ln/>
        </p:spPr>
        <p:txBody>
          <a:bodyPr wrap="square" lIns="0" tIns="0" rIns="0" bIns="0" rtlCol="0" anchor="ctr"/>
          <a:lstStyle/>
          <a:p>
            <a:pPr indent="0" marL="0">
              <a:lnSpc>
                <a:spcPts val="1400"/>
              </a:lnSpc>
              <a:buNone/>
            </a:pPr>
            <a:r>
              <a:rPr lang="en-US" sz="1150" dirty="0">
                <a:solidFill>
                  <a:srgbClr val="7A6068"/>
                </a:solidFill>
                <a:latin typeface="Calibri" pitchFamily="34" charset="0"/>
                <a:ea typeface="Calibri" pitchFamily="34" charset="-122"/>
                <a:cs typeface="Calibri" pitchFamily="34" charset="-120"/>
              </a:rPr>
              <a:t>a prompt pack she can use tonight</a:t>
            </a:r>
            <a:endParaRPr lang="en-US" sz="1150" dirty="0"/>
          </a:p>
        </p:txBody>
      </p:sp>
      <p:sp>
        <p:nvSpPr>
          <p:cNvPr id="8" name="Text 6"/>
          <p:cNvSpPr/>
          <p:nvPr/>
        </p:nvSpPr>
        <p:spPr>
          <a:xfrm>
            <a:off x="3456432" y="2240280"/>
            <a:ext cx="7671816" cy="841248"/>
          </a:xfrm>
          <a:prstGeom prst="rect">
            <a:avLst/>
          </a:prstGeom>
          <a:noFill/>
          <a:ln/>
        </p:spPr>
        <p:txBody>
          <a:bodyPr wrap="square" lIns="0" tIns="0" rIns="0" bIns="0" rtlCol="0" anchor="ctr"/>
          <a:lstStyle/>
          <a:p>
            <a:pPr indent="0" marL="0">
              <a:lnSpc>
                <a:spcPts val="2000"/>
              </a:lnSpc>
              <a:buNone/>
            </a:pPr>
            <a:r>
              <a:rPr lang="en-US" sz="1500" b="1" dirty="0">
                <a:solidFill>
                  <a:srgbClr val="2B1620"/>
                </a:solidFill>
                <a:latin typeface="Calibri" pitchFamily="34" charset="0"/>
                <a:ea typeface="Calibri" pitchFamily="34" charset="-122"/>
                <a:cs typeface="Calibri" pitchFamily="34" charset="-120"/>
              </a:rPr>
              <a:t>Its job: </a:t>
            </a:r>
            <a:pPr indent="0" marL="0">
              <a:lnSpc>
                <a:spcPts val="2000"/>
              </a:lnSpc>
              <a:buNone/>
            </a:pPr>
            <a:r>
              <a:rPr lang="en-US" sz="1500" dirty="0">
                <a:solidFill>
                  <a:srgbClr val="2B1620"/>
                </a:solidFill>
                <a:latin typeface="Calibri" pitchFamily="34" charset="0"/>
                <a:ea typeface="Calibri" pitchFamily="34" charset="-122"/>
                <a:cs typeface="Calibri" pitchFamily="34" charset="-120"/>
              </a:rPr>
              <a:t>to get her WhatsApp number. Nothing else.</a:t>
            </a:r>
            <a:endParaRPr lang="en-US" sz="1500" dirty="0"/>
          </a:p>
        </p:txBody>
      </p:sp>
      <p:sp>
        <p:nvSpPr>
          <p:cNvPr id="9" name="Shape 7"/>
          <p:cNvSpPr/>
          <p:nvPr/>
        </p:nvSpPr>
        <p:spPr>
          <a:xfrm>
            <a:off x="713232" y="3182112"/>
            <a:ext cx="10735056" cy="841248"/>
          </a:xfrm>
          <a:prstGeom prst="roundRect">
            <a:avLst>
              <a:gd name="adj" fmla="val 10870"/>
            </a:avLst>
          </a:prstGeom>
          <a:solidFill>
            <a:srgbClr val="F7F2F4"/>
          </a:solidFill>
          <a:ln/>
        </p:spPr>
      </p:sp>
      <p:sp>
        <p:nvSpPr>
          <p:cNvPr id="10" name="Text 8"/>
          <p:cNvSpPr/>
          <p:nvPr/>
        </p:nvSpPr>
        <p:spPr>
          <a:xfrm>
            <a:off x="1005840" y="3328416"/>
            <a:ext cx="2103120" cy="274320"/>
          </a:xfrm>
          <a:prstGeom prst="rect">
            <a:avLst/>
          </a:prstGeom>
          <a:noFill/>
          <a:ln/>
        </p:spPr>
        <p:txBody>
          <a:bodyPr wrap="square" lIns="0" tIns="0" rIns="0" bIns="0" rtlCol="0" anchor="ctr"/>
          <a:lstStyle/>
          <a:p>
            <a:pPr indent="0" marL="0">
              <a:buNone/>
            </a:pPr>
            <a:r>
              <a:rPr lang="en-US" sz="1500" b="1" dirty="0">
                <a:solidFill>
                  <a:srgbClr val="6D2E46"/>
                </a:solidFill>
                <a:latin typeface="Calibri" pitchFamily="34" charset="0"/>
                <a:ea typeface="Calibri" pitchFamily="34" charset="-122"/>
                <a:cs typeface="Calibri" pitchFamily="34" charset="-120"/>
              </a:rPr>
              <a:t>One evening</a:t>
            </a:r>
            <a:endParaRPr lang="en-US" sz="1500" dirty="0"/>
          </a:p>
        </p:txBody>
      </p:sp>
      <p:sp>
        <p:nvSpPr>
          <p:cNvPr id="11" name="Text 9"/>
          <p:cNvSpPr/>
          <p:nvPr/>
        </p:nvSpPr>
        <p:spPr>
          <a:xfrm>
            <a:off x="1005840" y="3602736"/>
            <a:ext cx="2240280" cy="384048"/>
          </a:xfrm>
          <a:prstGeom prst="rect">
            <a:avLst/>
          </a:prstGeom>
          <a:noFill/>
          <a:ln/>
        </p:spPr>
        <p:txBody>
          <a:bodyPr wrap="square" lIns="0" tIns="0" rIns="0" bIns="0" rtlCol="0" anchor="ctr"/>
          <a:lstStyle/>
          <a:p>
            <a:pPr indent="0" marL="0">
              <a:lnSpc>
                <a:spcPts val="1400"/>
              </a:lnSpc>
              <a:buNone/>
            </a:pPr>
            <a:r>
              <a:rPr lang="en-US" sz="1150" dirty="0">
                <a:solidFill>
                  <a:srgbClr val="7A6068"/>
                </a:solidFill>
                <a:latin typeface="Calibri" pitchFamily="34" charset="0"/>
                <a:ea typeface="Calibri" pitchFamily="34" charset="-122"/>
                <a:cs typeface="Calibri" pitchFamily="34" charset="-120"/>
              </a:rPr>
              <a:t>a live workshop, 90 minutes</a:t>
            </a:r>
            <a:endParaRPr lang="en-US" sz="1150" dirty="0"/>
          </a:p>
        </p:txBody>
      </p:sp>
      <p:sp>
        <p:nvSpPr>
          <p:cNvPr id="12" name="Text 10"/>
          <p:cNvSpPr/>
          <p:nvPr/>
        </p:nvSpPr>
        <p:spPr>
          <a:xfrm>
            <a:off x="3456432" y="3182112"/>
            <a:ext cx="7671816" cy="841248"/>
          </a:xfrm>
          <a:prstGeom prst="rect">
            <a:avLst/>
          </a:prstGeom>
          <a:noFill/>
          <a:ln/>
        </p:spPr>
        <p:txBody>
          <a:bodyPr wrap="square" lIns="0" tIns="0" rIns="0" bIns="0" rtlCol="0" anchor="ctr"/>
          <a:lstStyle/>
          <a:p>
            <a:pPr indent="0" marL="0">
              <a:lnSpc>
                <a:spcPts val="2000"/>
              </a:lnSpc>
              <a:buNone/>
            </a:pPr>
            <a:r>
              <a:rPr lang="en-US" sz="1500" b="1" dirty="0">
                <a:solidFill>
                  <a:srgbClr val="2B1620"/>
                </a:solidFill>
                <a:latin typeface="Calibri" pitchFamily="34" charset="0"/>
                <a:ea typeface="Calibri" pitchFamily="34" charset="-122"/>
                <a:cs typeface="Calibri" pitchFamily="34" charset="-120"/>
              </a:rPr>
              <a:t>Its job: </a:t>
            </a:r>
            <a:pPr indent="0" marL="0">
              <a:lnSpc>
                <a:spcPts val="2000"/>
              </a:lnSpc>
              <a:buNone/>
            </a:pPr>
            <a:r>
              <a:rPr lang="en-US" sz="1500" dirty="0">
                <a:solidFill>
                  <a:srgbClr val="2B1620"/>
                </a:solidFill>
                <a:latin typeface="Calibri" pitchFamily="34" charset="0"/>
                <a:ea typeface="Calibri" pitchFamily="34" charset="-122"/>
                <a:cs typeface="Calibri" pitchFamily="34" charset="-120"/>
              </a:rPr>
              <a:t>the first time she pays you. Small enough to say yes to, real enough to prove she's serious.</a:t>
            </a:r>
            <a:endParaRPr lang="en-US" sz="1500" dirty="0"/>
          </a:p>
        </p:txBody>
      </p:sp>
      <p:sp>
        <p:nvSpPr>
          <p:cNvPr id="13" name="Shape 11"/>
          <p:cNvSpPr/>
          <p:nvPr/>
        </p:nvSpPr>
        <p:spPr>
          <a:xfrm>
            <a:off x="713232" y="4123944"/>
            <a:ext cx="10735056" cy="841248"/>
          </a:xfrm>
          <a:prstGeom prst="roundRect">
            <a:avLst>
              <a:gd name="adj" fmla="val 10870"/>
            </a:avLst>
          </a:prstGeom>
          <a:solidFill>
            <a:srgbClr val="6D2E46"/>
          </a:solidFill>
          <a:ln/>
        </p:spPr>
      </p:sp>
      <p:sp>
        <p:nvSpPr>
          <p:cNvPr id="14" name="Text 12"/>
          <p:cNvSpPr/>
          <p:nvPr/>
        </p:nvSpPr>
        <p:spPr>
          <a:xfrm>
            <a:off x="1005840" y="4270248"/>
            <a:ext cx="2103120" cy="274320"/>
          </a:xfrm>
          <a:prstGeom prst="rect">
            <a:avLst/>
          </a:prstGeom>
          <a:noFill/>
          <a:ln/>
        </p:spPr>
        <p:txBody>
          <a:bodyPr wrap="square" lIns="0" tIns="0" rIns="0" bIns="0" rtlCol="0" anchor="ctr"/>
          <a:lstStyle/>
          <a:p>
            <a:pPr indent="0" marL="0">
              <a:buNone/>
            </a:pPr>
            <a:r>
              <a:rPr lang="en-US" sz="1500" b="1" dirty="0">
                <a:solidFill>
                  <a:srgbClr val="D9A441"/>
                </a:solidFill>
                <a:latin typeface="Calibri" pitchFamily="34" charset="0"/>
                <a:ea typeface="Calibri" pitchFamily="34" charset="-122"/>
                <a:cs typeface="Calibri" pitchFamily="34" charset="-120"/>
              </a:rPr>
              <a:t>Six weeks</a:t>
            </a:r>
            <a:endParaRPr lang="en-US" sz="1500" dirty="0"/>
          </a:p>
        </p:txBody>
      </p:sp>
      <p:sp>
        <p:nvSpPr>
          <p:cNvPr id="15" name="Text 13"/>
          <p:cNvSpPr/>
          <p:nvPr/>
        </p:nvSpPr>
        <p:spPr>
          <a:xfrm>
            <a:off x="1005840" y="4544568"/>
            <a:ext cx="2240280" cy="384048"/>
          </a:xfrm>
          <a:prstGeom prst="rect">
            <a:avLst/>
          </a:prstGeom>
          <a:noFill/>
          <a:ln/>
        </p:spPr>
        <p:txBody>
          <a:bodyPr wrap="square" lIns="0" tIns="0" rIns="0" bIns="0" rtlCol="0" anchor="ctr"/>
          <a:lstStyle/>
          <a:p>
            <a:pPr indent="0" marL="0">
              <a:lnSpc>
                <a:spcPts val="1400"/>
              </a:lnSpc>
              <a:buNone/>
            </a:pPr>
            <a:r>
              <a:rPr lang="en-US" sz="1150" dirty="0">
                <a:solidFill>
                  <a:srgbClr val="C9AEB8"/>
                </a:solidFill>
                <a:latin typeface="Calibri" pitchFamily="34" charset="0"/>
                <a:ea typeface="Calibri" pitchFamily="34" charset="-122"/>
                <a:cs typeface="Calibri" pitchFamily="34" charset="-120"/>
              </a:rPr>
              <a:t>a group programme with live calls</a:t>
            </a:r>
            <a:endParaRPr lang="en-US" sz="1150" dirty="0"/>
          </a:p>
        </p:txBody>
      </p:sp>
      <p:sp>
        <p:nvSpPr>
          <p:cNvPr id="16" name="Text 14"/>
          <p:cNvSpPr/>
          <p:nvPr/>
        </p:nvSpPr>
        <p:spPr>
          <a:xfrm>
            <a:off x="3456432" y="4123944"/>
            <a:ext cx="7671816" cy="841248"/>
          </a:xfrm>
          <a:prstGeom prst="rect">
            <a:avLst/>
          </a:prstGeom>
          <a:noFill/>
          <a:ln/>
        </p:spPr>
        <p:txBody>
          <a:bodyPr wrap="square" lIns="0" tIns="0" rIns="0" bIns="0" rtlCol="0" anchor="ctr"/>
          <a:lstStyle/>
          <a:p>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Its job: </a:t>
            </a:r>
            <a:pPr indent="0" marL="0">
              <a:lnSpc>
                <a:spcPts val="2000"/>
              </a:lnSpc>
              <a:buNone/>
            </a:pPr>
            <a:r>
              <a:rPr lang="en-US" sz="1500" dirty="0">
                <a:solidFill>
                  <a:srgbClr val="FFFFFF"/>
                </a:solidFill>
                <a:latin typeface="Calibri" pitchFamily="34" charset="0"/>
                <a:ea typeface="Calibri" pitchFamily="34" charset="-122"/>
                <a:cs typeface="Calibri" pitchFamily="34" charset="-120"/>
              </a:rPr>
              <a:t>your real income. Taught once, to a room — so it doesn't eat your calendar the way 1:1 does.</a:t>
            </a:r>
            <a:endParaRPr lang="en-US" sz="1500" dirty="0"/>
          </a:p>
        </p:txBody>
      </p:sp>
      <p:sp>
        <p:nvSpPr>
          <p:cNvPr id="17" name="Shape 15"/>
          <p:cNvSpPr/>
          <p:nvPr/>
        </p:nvSpPr>
        <p:spPr>
          <a:xfrm>
            <a:off x="713232" y="5065776"/>
            <a:ext cx="10735056" cy="841248"/>
          </a:xfrm>
          <a:prstGeom prst="roundRect">
            <a:avLst>
              <a:gd name="adj" fmla="val 10870"/>
            </a:avLst>
          </a:prstGeom>
          <a:solidFill>
            <a:srgbClr val="3D1B2E"/>
          </a:solidFill>
          <a:ln/>
        </p:spPr>
      </p:sp>
      <p:sp>
        <p:nvSpPr>
          <p:cNvPr id="18" name="Text 16"/>
          <p:cNvSpPr/>
          <p:nvPr/>
        </p:nvSpPr>
        <p:spPr>
          <a:xfrm>
            <a:off x="1005840" y="5212080"/>
            <a:ext cx="2103120" cy="274320"/>
          </a:xfrm>
          <a:prstGeom prst="rect">
            <a:avLst/>
          </a:prstGeom>
          <a:noFill/>
          <a:ln/>
        </p:spPr>
        <p:txBody>
          <a:bodyPr wrap="square" lIns="0" tIns="0" rIns="0" bIns="0" rtlCol="0" anchor="ctr"/>
          <a:lstStyle/>
          <a:p>
            <a:pPr indent="0" marL="0">
              <a:buNone/>
            </a:pPr>
            <a:r>
              <a:rPr lang="en-US" sz="1500" b="1" dirty="0">
                <a:solidFill>
                  <a:srgbClr val="D9A441"/>
                </a:solidFill>
                <a:latin typeface="Calibri" pitchFamily="34" charset="0"/>
                <a:ea typeface="Calibri" pitchFamily="34" charset="-122"/>
                <a:cs typeface="Calibri" pitchFamily="34" charset="-120"/>
              </a:rPr>
              <a:t>Every month</a:t>
            </a:r>
            <a:endParaRPr lang="en-US" sz="1500" dirty="0"/>
          </a:p>
        </p:txBody>
      </p:sp>
      <p:sp>
        <p:nvSpPr>
          <p:cNvPr id="19" name="Text 17"/>
          <p:cNvSpPr/>
          <p:nvPr/>
        </p:nvSpPr>
        <p:spPr>
          <a:xfrm>
            <a:off x="1005840" y="5486400"/>
            <a:ext cx="2240280" cy="384048"/>
          </a:xfrm>
          <a:prstGeom prst="rect">
            <a:avLst/>
          </a:prstGeom>
          <a:noFill/>
          <a:ln/>
        </p:spPr>
        <p:txBody>
          <a:bodyPr wrap="square" lIns="0" tIns="0" rIns="0" bIns="0" rtlCol="0" anchor="ctr"/>
          <a:lstStyle/>
          <a:p>
            <a:pPr indent="0" marL="0">
              <a:lnSpc>
                <a:spcPts val="1400"/>
              </a:lnSpc>
              <a:buNone/>
            </a:pPr>
            <a:r>
              <a:rPr lang="en-US" sz="1150" dirty="0">
                <a:solidFill>
                  <a:srgbClr val="C9AEB8"/>
                </a:solidFill>
                <a:latin typeface="Calibri" pitchFamily="34" charset="0"/>
                <a:ea typeface="Calibri" pitchFamily="34" charset="-122"/>
                <a:cs typeface="Calibri" pitchFamily="34" charset="-120"/>
              </a:rPr>
              <a:t>a membership, billed monthly</a:t>
            </a:r>
            <a:endParaRPr lang="en-US" sz="1150" dirty="0"/>
          </a:p>
        </p:txBody>
      </p:sp>
      <p:sp>
        <p:nvSpPr>
          <p:cNvPr id="20" name="Text 18"/>
          <p:cNvSpPr/>
          <p:nvPr/>
        </p:nvSpPr>
        <p:spPr>
          <a:xfrm>
            <a:off x="3456432" y="5065776"/>
            <a:ext cx="7671816" cy="841248"/>
          </a:xfrm>
          <a:prstGeom prst="rect">
            <a:avLst/>
          </a:prstGeom>
          <a:noFill/>
          <a:ln/>
        </p:spPr>
        <p:txBody>
          <a:bodyPr wrap="square" lIns="0" tIns="0" rIns="0" bIns="0" rtlCol="0" anchor="ctr"/>
          <a:lstStyle/>
          <a:p>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Its job: </a:t>
            </a:r>
            <a:pPr indent="0" marL="0">
              <a:lnSpc>
                <a:spcPts val="2000"/>
              </a:lnSpc>
              <a:buNone/>
            </a:pPr>
            <a:r>
              <a:rPr lang="en-US" sz="1500" dirty="0">
                <a:solidFill>
                  <a:srgbClr val="FFFFFF"/>
                </a:solidFill>
                <a:latin typeface="Calibri" pitchFamily="34" charset="0"/>
                <a:ea typeface="Calibri" pitchFamily="34" charset="-122"/>
                <a:cs typeface="Calibri" pitchFamily="34" charset="-120"/>
              </a:rPr>
              <a:t>money that arrives without a launch. The most valuable thing you can build.</a:t>
            </a:r>
            <a:endParaRPr lang="en-US" sz="1500" dirty="0"/>
          </a:p>
        </p:txBody>
      </p:sp>
      <p:sp>
        <p:nvSpPr>
          <p:cNvPr id="21" name="Text 19"/>
          <p:cNvSpPr/>
          <p:nvPr/>
        </p:nvSpPr>
        <p:spPr>
          <a:xfrm>
            <a:off x="713232" y="6080760"/>
            <a:ext cx="10607040" cy="457200"/>
          </a:xfrm>
          <a:prstGeom prst="rect">
            <a:avLst/>
          </a:prstGeom>
          <a:noFill/>
          <a:ln/>
        </p:spPr>
        <p:txBody>
          <a:bodyPr wrap="square" lIns="0" tIns="0" rIns="0" bIns="0" rtlCol="0" anchor="ctr"/>
          <a:lstStyle/>
          <a:p>
            <a:pPr indent="0" marL="0">
              <a:buNone/>
            </a:pPr>
            <a:r>
              <a:rPr lang="en-US" sz="1650" b="1" dirty="0">
                <a:solidFill>
                  <a:srgbClr val="6D2E46"/>
                </a:solidFill>
                <a:latin typeface="Calibri" pitchFamily="34" charset="0"/>
                <a:ea typeface="Calibri" pitchFamily="34" charset="-122"/>
                <a:cs typeface="Calibri" pitchFamily="34" charset="-120"/>
              </a:rPr>
              <a:t>And here's the neat part: the monthly challenge we'd film anyway </a:t>
            </a:r>
            <a:pPr indent="0" marL="0">
              <a:buNone/>
            </a:pPr>
            <a:r>
              <a:rPr lang="en-US" sz="1650" b="1" i="1" dirty="0">
                <a:solidFill>
                  <a:srgbClr val="6D2E46"/>
                </a:solidFill>
                <a:latin typeface="Calibri" pitchFamily="34" charset="0"/>
                <a:ea typeface="Calibri" pitchFamily="34" charset="-122"/>
                <a:cs typeface="Calibri" pitchFamily="34" charset="-120"/>
              </a:rPr>
              <a:t>is</a:t>
            </a:r>
            <a:pPr indent="0" marL="0">
              <a:buNone/>
            </a:pPr>
            <a:r>
              <a:rPr lang="en-US" sz="1650" b="1" dirty="0">
                <a:solidFill>
                  <a:srgbClr val="6D2E46"/>
                </a:solidFill>
                <a:latin typeface="Calibri" pitchFamily="34" charset="0"/>
                <a:ea typeface="Calibri" pitchFamily="34" charset="-122"/>
                <a:cs typeface="Calibri" pitchFamily="34" charset="-120"/>
              </a:rPr>
              <a:t> the membership. Same work, twice the use.</a:t>
            </a:r>
            <a:endParaRPr lang="en-US" sz="1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3232" y="420624"/>
            <a:ext cx="10735056" cy="274320"/>
          </a:xfrm>
          <a:prstGeom prst="rect">
            <a:avLst/>
          </a:prstGeom>
          <a:noFill/>
          <a:ln/>
        </p:spPr>
        <p:txBody>
          <a:bodyPr wrap="square" lIns="0" tIns="0" rIns="0" bIns="0" rtlCol="0" anchor="ctr"/>
          <a:lstStyle/>
          <a:p>
            <a:pPr indent="0" marL="0">
              <a:buNone/>
            </a:pPr>
            <a:r>
              <a:rPr lang="en-US" sz="1200" b="1" spc="220" kern="0" dirty="0">
                <a:solidFill>
                  <a:srgbClr val="A26769"/>
                </a:solidFill>
                <a:latin typeface="Calibri" pitchFamily="34" charset="0"/>
                <a:ea typeface="Calibri" pitchFamily="34" charset="-122"/>
                <a:cs typeface="Calibri" pitchFamily="34" charset="-120"/>
              </a:rPr>
              <a:t>THE ENGINE ROOM</a:t>
            </a:r>
            <a:endParaRPr lang="en-US" sz="1200" dirty="0"/>
          </a:p>
        </p:txBody>
      </p:sp>
      <p:sp>
        <p:nvSpPr>
          <p:cNvPr id="3" name="Text 1"/>
          <p:cNvSpPr/>
          <p:nvPr/>
        </p:nvSpPr>
        <p:spPr>
          <a:xfrm>
            <a:off x="713232" y="768096"/>
            <a:ext cx="10735056" cy="960120"/>
          </a:xfrm>
          <a:prstGeom prst="rect">
            <a:avLst/>
          </a:prstGeom>
          <a:noFill/>
          <a:ln/>
        </p:spPr>
        <p:txBody>
          <a:bodyPr wrap="square" lIns="0" tIns="0" rIns="0" bIns="0" rtlCol="0" anchor="ctr"/>
          <a:lstStyle/>
          <a:p>
            <a:pPr indent="0" marL="0">
              <a:lnSpc>
                <a:spcPts val="4500"/>
              </a:lnSpc>
              <a:buNone/>
            </a:pPr>
            <a:r>
              <a:rPr lang="en-US" sz="3900" b="1" dirty="0">
                <a:solidFill>
                  <a:srgbClr val="2B1620"/>
                </a:solidFill>
                <a:latin typeface="Cambria" pitchFamily="34" charset="0"/>
                <a:ea typeface="Cambria" pitchFamily="34" charset="-122"/>
                <a:cs typeface="Cambria" pitchFamily="34" charset="-120"/>
              </a:rPr>
              <a:t>Why WhatsApp, and how we'd run it</a:t>
            </a:r>
            <a:endParaRPr lang="en-US" sz="3900" dirty="0"/>
          </a:p>
        </p:txBody>
      </p:sp>
      <p:sp>
        <p:nvSpPr>
          <p:cNvPr id="4" name="Shape 2"/>
          <p:cNvSpPr/>
          <p:nvPr/>
        </p:nvSpPr>
        <p:spPr>
          <a:xfrm>
            <a:off x="713232" y="1783080"/>
            <a:ext cx="2532888" cy="1371600"/>
          </a:xfrm>
          <a:prstGeom prst="roundRect">
            <a:avLst>
              <a:gd name="adj" fmla="val 9333"/>
            </a:avLst>
          </a:prstGeom>
          <a:solidFill>
            <a:srgbClr val="3D1B2E"/>
          </a:solidFill>
          <a:ln/>
        </p:spPr>
      </p:sp>
      <p:sp>
        <p:nvSpPr>
          <p:cNvPr id="5" name="Text 3"/>
          <p:cNvSpPr/>
          <p:nvPr/>
        </p:nvSpPr>
        <p:spPr>
          <a:xfrm>
            <a:off x="969264" y="1956816"/>
            <a:ext cx="2103120" cy="475488"/>
          </a:xfrm>
          <a:prstGeom prst="rect">
            <a:avLst/>
          </a:prstGeom>
          <a:noFill/>
          <a:ln/>
        </p:spPr>
        <p:txBody>
          <a:bodyPr wrap="square" lIns="0" tIns="0" rIns="0" bIns="0" rtlCol="0" anchor="ctr"/>
          <a:lstStyle/>
          <a:p>
            <a:pPr indent="0" marL="0">
              <a:buNone/>
            </a:pPr>
            <a:r>
              <a:rPr lang="en-US" sz="2900" b="1" dirty="0">
                <a:solidFill>
                  <a:srgbClr val="D9A441"/>
                </a:solidFill>
                <a:latin typeface="Cambria" pitchFamily="34" charset="0"/>
                <a:ea typeface="Cambria" pitchFamily="34" charset="-122"/>
                <a:cs typeface="Cambria" pitchFamily="34" charset="-120"/>
              </a:rPr>
              <a:t>535M</a:t>
            </a:r>
            <a:endParaRPr lang="en-US" sz="2900" dirty="0"/>
          </a:p>
        </p:txBody>
      </p:sp>
      <p:sp>
        <p:nvSpPr>
          <p:cNvPr id="6" name="Text 4"/>
          <p:cNvSpPr/>
          <p:nvPr/>
        </p:nvSpPr>
        <p:spPr>
          <a:xfrm>
            <a:off x="969264" y="2450592"/>
            <a:ext cx="2103120" cy="621792"/>
          </a:xfrm>
          <a:prstGeom prst="rect">
            <a:avLst/>
          </a:prstGeom>
          <a:noFill/>
          <a:ln/>
        </p:spPr>
        <p:txBody>
          <a:bodyPr wrap="square" lIns="0" tIns="0" rIns="0" bIns="0" rtlCol="0" anchor="ctr"/>
          <a:lstStyle/>
          <a:p>
            <a:pPr indent="0" marL="0">
              <a:lnSpc>
                <a:spcPts val="1500"/>
              </a:lnSpc>
              <a:buNone/>
            </a:pPr>
            <a:r>
              <a:rPr lang="en-US" sz="1150" dirty="0">
                <a:solidFill>
                  <a:srgbClr val="C9AEB8"/>
                </a:solidFill>
                <a:latin typeface="Calibri" pitchFamily="34" charset="0"/>
                <a:ea typeface="Calibri" pitchFamily="34" charset="-122"/>
                <a:cs typeface="Calibri" pitchFamily="34" charset="-120"/>
              </a:rPr>
              <a:t>Indians on WhatsApp. Your audience is already there, every day.</a:t>
            </a:r>
            <a:endParaRPr lang="en-US" sz="1150" dirty="0"/>
          </a:p>
        </p:txBody>
      </p:sp>
      <p:sp>
        <p:nvSpPr>
          <p:cNvPr id="7" name="Shape 5"/>
          <p:cNvSpPr/>
          <p:nvPr/>
        </p:nvSpPr>
        <p:spPr>
          <a:xfrm>
            <a:off x="3429000" y="1783080"/>
            <a:ext cx="2532888" cy="1371600"/>
          </a:xfrm>
          <a:prstGeom prst="roundRect">
            <a:avLst>
              <a:gd name="adj" fmla="val 9333"/>
            </a:avLst>
          </a:prstGeom>
          <a:solidFill>
            <a:srgbClr val="3D1B2E"/>
          </a:solidFill>
          <a:ln/>
        </p:spPr>
      </p:sp>
      <p:sp>
        <p:nvSpPr>
          <p:cNvPr id="8" name="Text 6"/>
          <p:cNvSpPr/>
          <p:nvPr/>
        </p:nvSpPr>
        <p:spPr>
          <a:xfrm>
            <a:off x="3685032" y="1956816"/>
            <a:ext cx="2103120" cy="475488"/>
          </a:xfrm>
          <a:prstGeom prst="rect">
            <a:avLst/>
          </a:prstGeom>
          <a:noFill/>
          <a:ln/>
        </p:spPr>
        <p:txBody>
          <a:bodyPr wrap="square" lIns="0" tIns="0" rIns="0" bIns="0" rtlCol="0" anchor="ctr"/>
          <a:lstStyle/>
          <a:p>
            <a:pPr indent="0" marL="0">
              <a:buNone/>
            </a:pPr>
            <a:r>
              <a:rPr lang="en-US" sz="2900" b="1" dirty="0">
                <a:solidFill>
                  <a:srgbClr val="D9A441"/>
                </a:solidFill>
                <a:latin typeface="Cambria" pitchFamily="34" charset="0"/>
                <a:ea typeface="Cambria" pitchFamily="34" charset="-122"/>
                <a:cs typeface="Cambria" pitchFamily="34" charset="-120"/>
              </a:rPr>
              <a:t>90%+</a:t>
            </a:r>
            <a:endParaRPr lang="en-US" sz="2900" dirty="0"/>
          </a:p>
        </p:txBody>
      </p:sp>
      <p:sp>
        <p:nvSpPr>
          <p:cNvPr id="9" name="Text 7"/>
          <p:cNvSpPr/>
          <p:nvPr/>
        </p:nvSpPr>
        <p:spPr>
          <a:xfrm>
            <a:off x="3685032" y="2450592"/>
            <a:ext cx="2103120" cy="621792"/>
          </a:xfrm>
          <a:prstGeom prst="rect">
            <a:avLst/>
          </a:prstGeom>
          <a:noFill/>
          <a:ln/>
        </p:spPr>
        <p:txBody>
          <a:bodyPr wrap="square" lIns="0" tIns="0" rIns="0" bIns="0" rtlCol="0" anchor="ctr"/>
          <a:lstStyle/>
          <a:p>
            <a:pPr indent="0" marL="0">
              <a:lnSpc>
                <a:spcPts val="1500"/>
              </a:lnSpc>
              <a:buNone/>
            </a:pPr>
            <a:r>
              <a:rPr lang="en-US" sz="1150" dirty="0">
                <a:solidFill>
                  <a:srgbClr val="C9AEB8"/>
                </a:solidFill>
                <a:latin typeface="Calibri" pitchFamily="34" charset="0"/>
                <a:ea typeface="Calibri" pitchFamily="34" charset="-122"/>
                <a:cs typeface="Calibri" pitchFamily="34" charset="-120"/>
              </a:rPr>
              <a:t>read rate on a properly opted-in list. Email sits around 20–25%.</a:t>
            </a:r>
            <a:endParaRPr lang="en-US" sz="1150" dirty="0"/>
          </a:p>
        </p:txBody>
      </p:sp>
      <p:sp>
        <p:nvSpPr>
          <p:cNvPr id="10" name="Shape 8"/>
          <p:cNvSpPr/>
          <p:nvPr/>
        </p:nvSpPr>
        <p:spPr>
          <a:xfrm>
            <a:off x="6144768" y="1783080"/>
            <a:ext cx="2532888" cy="1371600"/>
          </a:xfrm>
          <a:prstGeom prst="roundRect">
            <a:avLst>
              <a:gd name="adj" fmla="val 9333"/>
            </a:avLst>
          </a:prstGeom>
          <a:solidFill>
            <a:srgbClr val="3D1B2E"/>
          </a:solidFill>
          <a:ln/>
        </p:spPr>
      </p:sp>
      <p:sp>
        <p:nvSpPr>
          <p:cNvPr id="11" name="Text 9"/>
          <p:cNvSpPr/>
          <p:nvPr/>
        </p:nvSpPr>
        <p:spPr>
          <a:xfrm>
            <a:off x="6400800" y="1956816"/>
            <a:ext cx="2103120" cy="475488"/>
          </a:xfrm>
          <a:prstGeom prst="rect">
            <a:avLst/>
          </a:prstGeom>
          <a:noFill/>
          <a:ln/>
        </p:spPr>
        <p:txBody>
          <a:bodyPr wrap="square" lIns="0" tIns="0" rIns="0" bIns="0" rtlCol="0" anchor="ctr"/>
          <a:lstStyle/>
          <a:p>
            <a:pPr indent="0" marL="0">
              <a:buNone/>
            </a:pPr>
            <a:r>
              <a:rPr lang="en-US" sz="2900" b="1" dirty="0">
                <a:solidFill>
                  <a:srgbClr val="D9A441"/>
                </a:solidFill>
                <a:latin typeface="Cambria" pitchFamily="34" charset="0"/>
                <a:ea typeface="Cambria" pitchFamily="34" charset="-122"/>
                <a:cs typeface="Cambria" pitchFamily="34" charset="-120"/>
              </a:rPr>
              <a:t>~45%</a:t>
            </a:r>
            <a:endParaRPr lang="en-US" sz="2900" dirty="0"/>
          </a:p>
        </p:txBody>
      </p:sp>
      <p:sp>
        <p:nvSpPr>
          <p:cNvPr id="12" name="Text 10"/>
          <p:cNvSpPr/>
          <p:nvPr/>
        </p:nvSpPr>
        <p:spPr>
          <a:xfrm>
            <a:off x="6400800" y="2450592"/>
            <a:ext cx="2103120" cy="621792"/>
          </a:xfrm>
          <a:prstGeom prst="rect">
            <a:avLst/>
          </a:prstGeom>
          <a:noFill/>
          <a:ln/>
        </p:spPr>
        <p:txBody>
          <a:bodyPr wrap="square" lIns="0" tIns="0" rIns="0" bIns="0" rtlCol="0" anchor="ctr"/>
          <a:lstStyle/>
          <a:p>
            <a:pPr indent="0" marL="0">
              <a:lnSpc>
                <a:spcPts val="1500"/>
              </a:lnSpc>
              <a:buNone/>
            </a:pPr>
            <a:r>
              <a:rPr lang="en-US" sz="1150" dirty="0">
                <a:solidFill>
                  <a:srgbClr val="C9AEB8"/>
                </a:solidFill>
                <a:latin typeface="Calibri" pitchFamily="34" charset="0"/>
                <a:ea typeface="Calibri" pitchFamily="34" charset="-122"/>
                <a:cs typeface="Calibri" pitchFamily="34" charset="-120"/>
              </a:rPr>
              <a:t>reply rate, against about 6% on email. People actually answer.</a:t>
            </a:r>
            <a:endParaRPr lang="en-US" sz="1150" dirty="0"/>
          </a:p>
        </p:txBody>
      </p:sp>
      <p:sp>
        <p:nvSpPr>
          <p:cNvPr id="13" name="Shape 11"/>
          <p:cNvSpPr/>
          <p:nvPr/>
        </p:nvSpPr>
        <p:spPr>
          <a:xfrm>
            <a:off x="8860536" y="1783080"/>
            <a:ext cx="2532888" cy="1371600"/>
          </a:xfrm>
          <a:prstGeom prst="roundRect">
            <a:avLst>
              <a:gd name="adj" fmla="val 9333"/>
            </a:avLst>
          </a:prstGeom>
          <a:solidFill>
            <a:srgbClr val="6D2E46"/>
          </a:solidFill>
          <a:ln/>
        </p:spPr>
      </p:sp>
      <p:sp>
        <p:nvSpPr>
          <p:cNvPr id="14" name="Text 12"/>
          <p:cNvSpPr/>
          <p:nvPr/>
        </p:nvSpPr>
        <p:spPr>
          <a:xfrm>
            <a:off x="9116568" y="1956816"/>
            <a:ext cx="2103120" cy="475488"/>
          </a:xfrm>
          <a:prstGeom prst="rect">
            <a:avLst/>
          </a:prstGeom>
          <a:noFill/>
          <a:ln/>
        </p:spPr>
        <p:txBody>
          <a:bodyPr wrap="square" lIns="0" tIns="0" rIns="0" bIns="0" rtlCol="0" anchor="ctr"/>
          <a:lstStyle/>
          <a:p>
            <a:pPr indent="0" marL="0">
              <a:buNone/>
            </a:pPr>
            <a:r>
              <a:rPr lang="en-US" sz="2900" b="1" dirty="0">
                <a:solidFill>
                  <a:srgbClr val="D9A441"/>
                </a:solidFill>
                <a:latin typeface="Cambria" pitchFamily="34" charset="0"/>
                <a:ea typeface="Cambria" pitchFamily="34" charset="-122"/>
                <a:cs typeface="Cambria" pitchFamily="34" charset="-120"/>
              </a:rPr>
              <a:t>Yours</a:t>
            </a:r>
            <a:endParaRPr lang="en-US" sz="2900" dirty="0"/>
          </a:p>
        </p:txBody>
      </p:sp>
      <p:sp>
        <p:nvSpPr>
          <p:cNvPr id="15" name="Text 13"/>
          <p:cNvSpPr/>
          <p:nvPr/>
        </p:nvSpPr>
        <p:spPr>
          <a:xfrm>
            <a:off x="9116568" y="2450592"/>
            <a:ext cx="2103120" cy="621792"/>
          </a:xfrm>
          <a:prstGeom prst="rect">
            <a:avLst/>
          </a:prstGeom>
          <a:noFill/>
          <a:ln/>
        </p:spPr>
        <p:txBody>
          <a:bodyPr wrap="square" lIns="0" tIns="0" rIns="0" bIns="0" rtlCol="0" anchor="ctr"/>
          <a:lstStyle/>
          <a:p>
            <a:pPr indent="0" marL="0">
              <a:lnSpc>
                <a:spcPts val="1500"/>
              </a:lnSpc>
              <a:buNone/>
            </a:pPr>
            <a:r>
              <a:rPr lang="en-US" sz="1150" dirty="0">
                <a:solidFill>
                  <a:srgbClr val="C9AEB8"/>
                </a:solidFill>
                <a:latin typeface="Calibri" pitchFamily="34" charset="0"/>
                <a:ea typeface="Calibri" pitchFamily="34" charset="-122"/>
                <a:cs typeface="Calibri" pitchFamily="34" charset="-120"/>
              </a:rPr>
              <a:t>If Instagram changes tomorrow, this list still exists.</a:t>
            </a:r>
            <a:endParaRPr lang="en-US" sz="1150" dirty="0"/>
          </a:p>
        </p:txBody>
      </p:sp>
      <p:sp>
        <p:nvSpPr>
          <p:cNvPr id="16" name="Shape 14"/>
          <p:cNvSpPr/>
          <p:nvPr/>
        </p:nvSpPr>
        <p:spPr>
          <a:xfrm>
            <a:off x="713232" y="3429000"/>
            <a:ext cx="10735056" cy="713232"/>
          </a:xfrm>
          <a:prstGeom prst="roundRect">
            <a:avLst>
              <a:gd name="adj" fmla="val 12821"/>
            </a:avLst>
          </a:prstGeom>
          <a:solidFill>
            <a:srgbClr val="F7F2F4"/>
          </a:solidFill>
          <a:ln/>
        </p:spPr>
      </p:sp>
      <p:sp>
        <p:nvSpPr>
          <p:cNvPr id="17" name="Text 15"/>
          <p:cNvSpPr/>
          <p:nvPr/>
        </p:nvSpPr>
        <p:spPr>
          <a:xfrm>
            <a:off x="1005840" y="3429000"/>
            <a:ext cx="2194560" cy="713232"/>
          </a:xfrm>
          <a:prstGeom prst="rect">
            <a:avLst/>
          </a:prstGeom>
          <a:noFill/>
          <a:ln/>
        </p:spPr>
        <p:txBody>
          <a:bodyPr wrap="square" lIns="0" tIns="0" rIns="0" bIns="0" rtlCol="0" anchor="ctr"/>
          <a:lstStyle/>
          <a:p>
            <a:pPr indent="0" marL="0">
              <a:buNone/>
            </a:pPr>
            <a:r>
              <a:rPr lang="en-US" sz="1300" b="1" dirty="0">
                <a:solidFill>
                  <a:srgbClr val="6D2E46"/>
                </a:solidFill>
                <a:latin typeface="Calibri" pitchFamily="34" charset="0"/>
                <a:ea typeface="Calibri" pitchFamily="34" charset="-122"/>
                <a:cs typeface="Calibri" pitchFamily="34" charset="-120"/>
              </a:rPr>
              <a:t>GETTING THEM ON</a:t>
            </a:r>
            <a:endParaRPr lang="en-US" sz="1300" dirty="0"/>
          </a:p>
        </p:txBody>
      </p:sp>
      <p:sp>
        <p:nvSpPr>
          <p:cNvPr id="18" name="Text 16"/>
          <p:cNvSpPr/>
          <p:nvPr/>
        </p:nvSpPr>
        <p:spPr>
          <a:xfrm>
            <a:off x="3410712" y="3429000"/>
            <a:ext cx="7717536" cy="713232"/>
          </a:xfrm>
          <a:prstGeom prst="rect">
            <a:avLst/>
          </a:prstGeom>
          <a:noFill/>
          <a:ln/>
        </p:spPr>
        <p:txBody>
          <a:bodyPr wrap="square" lIns="0" tIns="0" rIns="0" bIns="0" rtlCol="0" anchor="ctr"/>
          <a:lstStyle/>
          <a:p>
            <a:pPr indent="0" marL="0">
              <a:lnSpc>
                <a:spcPts val="2000"/>
              </a:lnSpc>
              <a:buNone/>
            </a:pPr>
            <a:r>
              <a:rPr lang="en-US" sz="1450" dirty="0">
                <a:solidFill>
                  <a:srgbClr val="2B1620"/>
                </a:solidFill>
                <a:latin typeface="Calibri" pitchFamily="34" charset="0"/>
                <a:ea typeface="Calibri" pitchFamily="34" charset="-122"/>
                <a:cs typeface="Calibri" pitchFamily="34" charset="-120"/>
              </a:rPr>
              <a:t>A keyword in the reel — "comment PROMPT" — triggers an automatic reply that asks for her number. We set it up and maintain it.</a:t>
            </a:r>
            <a:endParaRPr lang="en-US" sz="1450" dirty="0"/>
          </a:p>
        </p:txBody>
      </p:sp>
      <p:sp>
        <p:nvSpPr>
          <p:cNvPr id="19" name="Shape 17"/>
          <p:cNvSpPr/>
          <p:nvPr/>
        </p:nvSpPr>
        <p:spPr>
          <a:xfrm>
            <a:off x="713232" y="4242816"/>
            <a:ext cx="10735056" cy="713232"/>
          </a:xfrm>
          <a:prstGeom prst="roundRect">
            <a:avLst>
              <a:gd name="adj" fmla="val 12821"/>
            </a:avLst>
          </a:prstGeom>
          <a:solidFill>
            <a:srgbClr val="F7F2F4"/>
          </a:solidFill>
          <a:ln/>
        </p:spPr>
      </p:sp>
      <p:sp>
        <p:nvSpPr>
          <p:cNvPr id="20" name="Text 18"/>
          <p:cNvSpPr/>
          <p:nvPr/>
        </p:nvSpPr>
        <p:spPr>
          <a:xfrm>
            <a:off x="1005840" y="4242816"/>
            <a:ext cx="2194560" cy="713232"/>
          </a:xfrm>
          <a:prstGeom prst="rect">
            <a:avLst/>
          </a:prstGeom>
          <a:noFill/>
          <a:ln/>
        </p:spPr>
        <p:txBody>
          <a:bodyPr wrap="square" lIns="0" tIns="0" rIns="0" bIns="0" rtlCol="0" anchor="ctr"/>
          <a:lstStyle/>
          <a:p>
            <a:pPr indent="0" marL="0">
              <a:buNone/>
            </a:pPr>
            <a:r>
              <a:rPr lang="en-US" sz="1300" b="1" dirty="0">
                <a:solidFill>
                  <a:srgbClr val="6D2E46"/>
                </a:solidFill>
                <a:latin typeface="Calibri" pitchFamily="34" charset="0"/>
                <a:ea typeface="Calibri" pitchFamily="34" charset="-122"/>
                <a:cs typeface="Calibri" pitchFamily="34" charset="-120"/>
              </a:rPr>
              <a:t>KEEPING THEM WARM</a:t>
            </a:r>
            <a:endParaRPr lang="en-US" sz="1300" dirty="0"/>
          </a:p>
        </p:txBody>
      </p:sp>
      <p:sp>
        <p:nvSpPr>
          <p:cNvPr id="21" name="Text 19"/>
          <p:cNvSpPr/>
          <p:nvPr/>
        </p:nvSpPr>
        <p:spPr>
          <a:xfrm>
            <a:off x="3410712" y="4242816"/>
            <a:ext cx="7717536" cy="713232"/>
          </a:xfrm>
          <a:prstGeom prst="rect">
            <a:avLst/>
          </a:prstGeom>
          <a:noFill/>
          <a:ln/>
        </p:spPr>
        <p:txBody>
          <a:bodyPr wrap="square" lIns="0" tIns="0" rIns="0" bIns="0" rtlCol="0" anchor="ctr"/>
          <a:lstStyle/>
          <a:p>
            <a:pPr indent="0" marL="0">
              <a:lnSpc>
                <a:spcPts val="2000"/>
              </a:lnSpc>
              <a:buNone/>
            </a:pPr>
            <a:r>
              <a:rPr lang="en-US" sz="1450" dirty="0">
                <a:solidFill>
                  <a:srgbClr val="2B1620"/>
                </a:solidFill>
                <a:latin typeface="Calibri" pitchFamily="34" charset="0"/>
                <a:ea typeface="Calibri" pitchFamily="34" charset="-122"/>
                <a:cs typeface="Calibri" pitchFamily="34" charset="-120"/>
              </a:rPr>
              <a:t>One genuinely useful message a week. Written by us, in your voice, approved by you. No selling.</a:t>
            </a:r>
            <a:endParaRPr lang="en-US" sz="1450" dirty="0"/>
          </a:p>
        </p:txBody>
      </p:sp>
      <p:sp>
        <p:nvSpPr>
          <p:cNvPr id="22" name="Shape 20"/>
          <p:cNvSpPr/>
          <p:nvPr/>
        </p:nvSpPr>
        <p:spPr>
          <a:xfrm>
            <a:off x="713232" y="5056632"/>
            <a:ext cx="10735056" cy="713232"/>
          </a:xfrm>
          <a:prstGeom prst="roundRect">
            <a:avLst>
              <a:gd name="adj" fmla="val 12821"/>
            </a:avLst>
          </a:prstGeom>
          <a:solidFill>
            <a:srgbClr val="6D2E46"/>
          </a:solidFill>
          <a:ln/>
        </p:spPr>
      </p:sp>
      <p:sp>
        <p:nvSpPr>
          <p:cNvPr id="23" name="Text 21"/>
          <p:cNvSpPr/>
          <p:nvPr/>
        </p:nvSpPr>
        <p:spPr>
          <a:xfrm>
            <a:off x="1005840" y="5056632"/>
            <a:ext cx="2194560" cy="713232"/>
          </a:xfrm>
          <a:prstGeom prst="rect">
            <a:avLst/>
          </a:prstGeom>
          <a:noFill/>
          <a:ln/>
        </p:spPr>
        <p:txBody>
          <a:bodyPr wrap="square" lIns="0" tIns="0" rIns="0" bIns="0" rtlCol="0" anchor="ctr"/>
          <a:lstStyle/>
          <a:p>
            <a:pPr indent="0" marL="0">
              <a:buNone/>
            </a:pPr>
            <a:r>
              <a:rPr lang="en-US" sz="1300" b="1" dirty="0">
                <a:solidFill>
                  <a:srgbClr val="D9A441"/>
                </a:solidFill>
                <a:latin typeface="Calibri" pitchFamily="34" charset="0"/>
                <a:ea typeface="Calibri" pitchFamily="34" charset="-122"/>
                <a:cs typeface="Calibri" pitchFamily="34" charset="-120"/>
              </a:rPr>
              <a:t>WHEN YOU LAUNCH</a:t>
            </a:r>
            <a:endParaRPr lang="en-US" sz="1300" dirty="0"/>
          </a:p>
        </p:txBody>
      </p:sp>
      <p:sp>
        <p:nvSpPr>
          <p:cNvPr id="24" name="Text 22"/>
          <p:cNvSpPr/>
          <p:nvPr/>
        </p:nvSpPr>
        <p:spPr>
          <a:xfrm>
            <a:off x="3410712" y="5056632"/>
            <a:ext cx="7717536" cy="713232"/>
          </a:xfrm>
          <a:prstGeom prst="rect">
            <a:avLst/>
          </a:prstGeom>
          <a:noFill/>
          <a:ln/>
        </p:spPr>
        <p:txBody>
          <a:bodyPr wrap="square" lIns="0" tIns="0" rIns="0" bIns="0" rtlCol="0" anchor="ctr"/>
          <a:lstStyle/>
          <a:p>
            <a:pPr indent="0" marL="0">
              <a:lnSpc>
                <a:spcPts val="2000"/>
              </a:lnSpc>
              <a:buNone/>
            </a:pPr>
            <a:r>
              <a:rPr lang="en-US" sz="1450" dirty="0">
                <a:solidFill>
                  <a:srgbClr val="FFFFFF"/>
                </a:solidFill>
                <a:latin typeface="Calibri" pitchFamily="34" charset="0"/>
                <a:ea typeface="Calibri" pitchFamily="34" charset="-122"/>
                <a:cs typeface="Calibri" pitchFamily="34" charset="-120"/>
              </a:rPr>
              <a:t>A short sequence over five or six days before a workshop or intake opens. This is where the sales actually happen.</a:t>
            </a:r>
            <a:endParaRPr lang="en-US" sz="1450" dirty="0"/>
          </a:p>
        </p:txBody>
      </p:sp>
      <p:sp>
        <p:nvSpPr>
          <p:cNvPr id="25" name="Text 23"/>
          <p:cNvSpPr/>
          <p:nvPr/>
        </p:nvSpPr>
        <p:spPr>
          <a:xfrm>
            <a:off x="713232" y="6309360"/>
            <a:ext cx="10735056" cy="320040"/>
          </a:xfrm>
          <a:prstGeom prst="rect">
            <a:avLst/>
          </a:prstGeom>
          <a:noFill/>
          <a:ln/>
        </p:spPr>
        <p:txBody>
          <a:bodyPr wrap="square" lIns="0" tIns="0" rIns="0" bIns="0" rtlCol="0" anchor="ctr"/>
          <a:lstStyle/>
          <a:p>
            <a:pPr indent="0" marL="0">
              <a:buNone/>
            </a:pPr>
            <a:r>
              <a:rPr lang="en-US" sz="1050" i="1" dirty="0">
                <a:solidFill>
                  <a:srgbClr val="7A6068"/>
                </a:solidFill>
                <a:latin typeface="Calibri" pitchFamily="34" charset="0"/>
                <a:ea typeface="Calibri" pitchFamily="34" charset="-122"/>
                <a:cs typeface="Calibri" pitchFamily="34" charset="-120"/>
              </a:rPr>
              <a:t>WhatsApp benchmarks: India marketing reporting, 2026. Figures are for opted-in lists, not bought contacts — we would never buy contacts.</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3232" y="420624"/>
            <a:ext cx="10735056" cy="274320"/>
          </a:xfrm>
          <a:prstGeom prst="rect">
            <a:avLst/>
          </a:prstGeom>
          <a:noFill/>
          <a:ln/>
        </p:spPr>
        <p:txBody>
          <a:bodyPr wrap="square" lIns="0" tIns="0" rIns="0" bIns="0" rtlCol="0" anchor="ctr"/>
          <a:lstStyle/>
          <a:p>
            <a:pPr indent="0" marL="0">
              <a:buNone/>
            </a:pPr>
            <a:r>
              <a:rPr lang="en-US" sz="1200" b="1" spc="220" kern="0" dirty="0">
                <a:solidFill>
                  <a:srgbClr val="A26769"/>
                </a:solidFill>
                <a:latin typeface="Calibri" pitchFamily="34" charset="0"/>
                <a:ea typeface="Calibri" pitchFamily="34" charset="-122"/>
                <a:cs typeface="Calibri" pitchFamily="34" charset="-120"/>
              </a:rPr>
              <a:t>TWO WAYS WE CAN WORK</a:t>
            </a:r>
            <a:endParaRPr lang="en-US" sz="1200" dirty="0"/>
          </a:p>
        </p:txBody>
      </p:sp>
      <p:sp>
        <p:nvSpPr>
          <p:cNvPr id="3" name="Text 1"/>
          <p:cNvSpPr/>
          <p:nvPr/>
        </p:nvSpPr>
        <p:spPr>
          <a:xfrm>
            <a:off x="713232" y="768096"/>
            <a:ext cx="10735056" cy="960120"/>
          </a:xfrm>
          <a:prstGeom prst="rect">
            <a:avLst/>
          </a:prstGeom>
          <a:noFill/>
          <a:ln/>
        </p:spPr>
        <p:txBody>
          <a:bodyPr wrap="square" lIns="0" tIns="0" rIns="0" bIns="0" rtlCol="0" anchor="ctr"/>
          <a:lstStyle/>
          <a:p>
            <a:pPr indent="0" marL="0">
              <a:lnSpc>
                <a:spcPts val="4500"/>
              </a:lnSpc>
              <a:buNone/>
            </a:pPr>
            <a:r>
              <a:rPr lang="en-US" sz="3900" b="1" dirty="0">
                <a:solidFill>
                  <a:srgbClr val="2B1620"/>
                </a:solidFill>
                <a:latin typeface="Cambria" pitchFamily="34" charset="0"/>
                <a:ea typeface="Cambria" pitchFamily="34" charset="-122"/>
                <a:cs typeface="Cambria" pitchFamily="34" charset="-120"/>
              </a:rPr>
              <a:t>Both are real. They do different jobs.</a:t>
            </a:r>
            <a:endParaRPr lang="en-US" sz="3900" dirty="0"/>
          </a:p>
        </p:txBody>
      </p:sp>
      <p:sp>
        <p:nvSpPr>
          <p:cNvPr id="4" name="Shape 2"/>
          <p:cNvSpPr/>
          <p:nvPr/>
        </p:nvSpPr>
        <p:spPr>
          <a:xfrm>
            <a:off x="713232" y="1783080"/>
            <a:ext cx="5257800" cy="3566160"/>
          </a:xfrm>
          <a:prstGeom prst="roundRect">
            <a:avLst>
              <a:gd name="adj" fmla="val 3590"/>
            </a:avLst>
          </a:prstGeom>
          <a:solidFill>
            <a:srgbClr val="F7F2F4"/>
          </a:solidFill>
          <a:ln/>
        </p:spPr>
      </p:sp>
      <p:sp>
        <p:nvSpPr>
          <p:cNvPr id="5" name="Text 3"/>
          <p:cNvSpPr/>
          <p:nvPr/>
        </p:nvSpPr>
        <p:spPr>
          <a:xfrm>
            <a:off x="1060704" y="1993392"/>
            <a:ext cx="4572000" cy="256032"/>
          </a:xfrm>
          <a:prstGeom prst="rect">
            <a:avLst/>
          </a:prstGeom>
          <a:noFill/>
          <a:ln/>
        </p:spPr>
        <p:txBody>
          <a:bodyPr wrap="square" lIns="0" tIns="0" rIns="0" bIns="0" rtlCol="0" anchor="ctr"/>
          <a:lstStyle/>
          <a:p>
            <a:pPr indent="0" marL="0">
              <a:buNone/>
            </a:pPr>
            <a:r>
              <a:rPr lang="en-US" sz="1250" b="1" spc="160" kern="0" dirty="0">
                <a:solidFill>
                  <a:srgbClr val="7A6068"/>
                </a:solidFill>
                <a:latin typeface="Calibri" pitchFamily="34" charset="0"/>
                <a:ea typeface="Calibri" pitchFamily="34" charset="-122"/>
                <a:cs typeface="Calibri" pitchFamily="34" charset="-120"/>
              </a:rPr>
              <a:t>OPTION 1</a:t>
            </a:r>
            <a:endParaRPr lang="en-US" sz="1250" dirty="0"/>
          </a:p>
        </p:txBody>
      </p:sp>
      <p:sp>
        <p:nvSpPr>
          <p:cNvPr id="6" name="Text 4"/>
          <p:cNvSpPr/>
          <p:nvPr/>
        </p:nvSpPr>
        <p:spPr>
          <a:xfrm>
            <a:off x="1060704" y="2286000"/>
            <a:ext cx="4572000" cy="411480"/>
          </a:xfrm>
          <a:prstGeom prst="rect">
            <a:avLst/>
          </a:prstGeom>
          <a:noFill/>
          <a:ln/>
        </p:spPr>
        <p:txBody>
          <a:bodyPr wrap="square" lIns="0" tIns="0" rIns="0" bIns="0" rtlCol="0" anchor="ctr"/>
          <a:lstStyle/>
          <a:p>
            <a:pPr indent="0" marL="0">
              <a:buNone/>
            </a:pPr>
            <a:r>
              <a:rPr lang="en-US" sz="2600" b="1" dirty="0">
                <a:solidFill>
                  <a:srgbClr val="2B1620"/>
                </a:solidFill>
                <a:latin typeface="Cambria" pitchFamily="34" charset="0"/>
                <a:ea typeface="Cambria" pitchFamily="34" charset="-122"/>
                <a:cs typeface="Cambria" pitchFamily="34" charset="-120"/>
              </a:rPr>
              <a:t>Production only</a:t>
            </a:r>
            <a:endParaRPr lang="en-US" sz="2600" dirty="0"/>
          </a:p>
        </p:txBody>
      </p:sp>
      <p:sp>
        <p:nvSpPr>
          <p:cNvPr id="7" name="Text 5"/>
          <p:cNvSpPr/>
          <p:nvPr/>
        </p:nvSpPr>
        <p:spPr>
          <a:xfrm>
            <a:off x="1060704" y="2743200"/>
            <a:ext cx="4572000" cy="274320"/>
          </a:xfrm>
          <a:prstGeom prst="rect">
            <a:avLst/>
          </a:prstGeom>
          <a:noFill/>
          <a:ln/>
        </p:spPr>
        <p:txBody>
          <a:bodyPr wrap="square" lIns="0" tIns="0" rIns="0" bIns="0" rtlCol="0" anchor="ctr"/>
          <a:lstStyle/>
          <a:p>
            <a:pPr indent="0" marL="0">
              <a:buNone/>
            </a:pPr>
            <a:r>
              <a:rPr lang="en-US" sz="1400" dirty="0">
                <a:solidFill>
                  <a:srgbClr val="7A6068"/>
                </a:solidFill>
                <a:latin typeface="Calibri" pitchFamily="34" charset="0"/>
                <a:ea typeface="Calibri" pitchFamily="34" charset="-122"/>
                <a:cs typeface="Calibri" pitchFamily="34" charset="-120"/>
              </a:rPr>
              <a:t>You direct. We shoot and edit.</a:t>
            </a:r>
            <a:endParaRPr lang="en-US" sz="1400" dirty="0"/>
          </a:p>
        </p:txBody>
      </p:sp>
      <p:sp>
        <p:nvSpPr>
          <p:cNvPr id="8" name="Text 6"/>
          <p:cNvSpPr/>
          <p:nvPr/>
        </p:nvSpPr>
        <p:spPr>
          <a:xfrm>
            <a:off x="1060704" y="3108960"/>
            <a:ext cx="4572000" cy="118872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2B1620"/>
                </a:solidFill>
                <a:latin typeface="Calibri" pitchFamily="34" charset="0"/>
                <a:ea typeface="Calibri" pitchFamily="34" charset="-122"/>
                <a:cs typeface="Calibri" pitchFamily="34" charset="-120"/>
              </a:rPr>
              <a:t>Shooting days and editing</a:t>
            </a:r>
            <a:endParaRPr lang="en-US" sz="1400" dirty="0"/>
          </a:p>
          <a:p>
            <a:pPr marL="342900" indent="-342900">
              <a:lnSpc>
                <a:spcPts val="2000"/>
              </a:lnSpc>
              <a:spcAft>
                <a:spcPts val="800"/>
              </a:spcAft>
              <a:buSzPct val="100000"/>
              <a:buChar char="•"/>
            </a:pPr>
            <a:r>
              <a:rPr lang="en-US" sz="1400" dirty="0">
                <a:solidFill>
                  <a:srgbClr val="2B1620"/>
                </a:solidFill>
                <a:latin typeface="Calibri" pitchFamily="34" charset="0"/>
                <a:ea typeface="Calibri" pitchFamily="34" charset="-122"/>
                <a:cs typeface="Calibri" pitchFamily="34" charset="-120"/>
              </a:rPr>
              <a:t>Covers, captions, subtitles</a:t>
            </a:r>
            <a:endParaRPr lang="en-US" sz="1400" dirty="0"/>
          </a:p>
          <a:p>
            <a:pPr marL="342900" indent="-342900">
              <a:lnSpc>
                <a:spcPts val="2000"/>
              </a:lnSpc>
              <a:spcAft>
                <a:spcPts val="800"/>
              </a:spcAft>
              <a:buSzPct val="100000"/>
              <a:buChar char="•"/>
            </a:pPr>
            <a:r>
              <a:rPr lang="en-US" sz="1400" dirty="0">
                <a:solidFill>
                  <a:srgbClr val="2B1620"/>
                </a:solidFill>
                <a:latin typeface="Calibri" pitchFamily="34" charset="0"/>
                <a:ea typeface="Calibri" pitchFamily="34" charset="-122"/>
                <a:cs typeface="Calibri" pitchFamily="34" charset="-120"/>
              </a:rPr>
              <a:t>You decide what to post and when</a:t>
            </a:r>
            <a:endParaRPr lang="en-US" sz="1400" dirty="0"/>
          </a:p>
          <a:p>
            <a:pPr marL="342900" indent="-342900">
              <a:lnSpc>
                <a:spcPts val="2000"/>
              </a:lnSpc>
              <a:spcAft>
                <a:spcPts val="800"/>
              </a:spcAft>
              <a:buSzPct val="100000"/>
              <a:buChar char="•"/>
            </a:pPr>
            <a:r>
              <a:rPr lang="en-US" sz="1400" dirty="0">
                <a:solidFill>
                  <a:srgbClr val="2B1620"/>
                </a:solidFill>
                <a:latin typeface="Calibri" pitchFamily="34" charset="0"/>
                <a:ea typeface="Calibri" pitchFamily="34" charset="-122"/>
                <a:cs typeface="Calibri" pitchFamily="34" charset="-120"/>
              </a:rPr>
              <a:t>Strategy, DMs and growth stay with you</a:t>
            </a:r>
            <a:endParaRPr lang="en-US" sz="1400" dirty="0"/>
          </a:p>
        </p:txBody>
      </p:sp>
      <p:sp>
        <p:nvSpPr>
          <p:cNvPr id="9" name="Text 7"/>
          <p:cNvSpPr/>
          <p:nvPr/>
        </p:nvSpPr>
        <p:spPr>
          <a:xfrm>
            <a:off x="1060704" y="4343400"/>
            <a:ext cx="4572000" cy="868680"/>
          </a:xfrm>
          <a:prstGeom prst="rect">
            <a:avLst/>
          </a:prstGeom>
          <a:noFill/>
          <a:ln/>
        </p:spPr>
        <p:txBody>
          <a:bodyPr wrap="square" lIns="0" tIns="0" rIns="0" bIns="0" rtlCol="0" anchor="ctr"/>
          <a:lstStyle/>
          <a:p>
            <a:pPr indent="0" marL="0">
              <a:lnSpc>
                <a:spcPts val="1900"/>
              </a:lnSpc>
              <a:buNone/>
            </a:pPr>
            <a:r>
              <a:rPr lang="en-US" sz="1300" b="1" dirty="0">
                <a:solidFill>
                  <a:srgbClr val="6D2E46"/>
                </a:solidFill>
                <a:latin typeface="Calibri" pitchFamily="34" charset="0"/>
                <a:ea typeface="Calibri" pitchFamily="34" charset="-122"/>
                <a:cs typeface="Calibri" pitchFamily="34" charset="-120"/>
              </a:rPr>
              <a:t>Straight answer: </a:t>
            </a:r>
            <a:pPr indent="0" marL="0">
              <a:lnSpc>
                <a:spcPts val="1900"/>
              </a:lnSpc>
              <a:buNone/>
            </a:pPr>
            <a:r>
              <a:rPr lang="en-US" sz="1300" dirty="0">
                <a:solidFill>
                  <a:srgbClr val="6D2E46"/>
                </a:solidFill>
                <a:latin typeface="Calibri" pitchFamily="34" charset="0"/>
                <a:ea typeface="Calibri" pitchFamily="34" charset="-122"/>
                <a:cs typeface="Calibri" pitchFamily="34" charset="-120"/>
              </a:rPr>
              <a:t>this works well if you already know exactly what neXtHer is. It makes your content look better. It won't fix the five-identities problem — that isn't a filming problem.</a:t>
            </a:r>
            <a:endParaRPr lang="en-US" sz="1300" dirty="0"/>
          </a:p>
        </p:txBody>
      </p:sp>
      <p:sp>
        <p:nvSpPr>
          <p:cNvPr id="10" name="Shape 8"/>
          <p:cNvSpPr/>
          <p:nvPr/>
        </p:nvSpPr>
        <p:spPr>
          <a:xfrm>
            <a:off x="6446520" y="1783080"/>
            <a:ext cx="5184648" cy="3566160"/>
          </a:xfrm>
          <a:prstGeom prst="roundRect">
            <a:avLst>
              <a:gd name="adj" fmla="val 3590"/>
            </a:avLst>
          </a:prstGeom>
          <a:solidFill>
            <a:srgbClr val="6D2E46"/>
          </a:solidFill>
          <a:ln/>
        </p:spPr>
      </p:sp>
      <p:sp>
        <p:nvSpPr>
          <p:cNvPr id="11" name="Text 9"/>
          <p:cNvSpPr/>
          <p:nvPr/>
        </p:nvSpPr>
        <p:spPr>
          <a:xfrm>
            <a:off x="6793992" y="1993392"/>
            <a:ext cx="4572000" cy="256032"/>
          </a:xfrm>
          <a:prstGeom prst="rect">
            <a:avLst/>
          </a:prstGeom>
          <a:noFill/>
          <a:ln/>
        </p:spPr>
        <p:txBody>
          <a:bodyPr wrap="square" lIns="0" tIns="0" rIns="0" bIns="0" rtlCol="0" anchor="ctr"/>
          <a:lstStyle/>
          <a:p>
            <a:pPr indent="0" marL="0">
              <a:buNone/>
            </a:pPr>
            <a:r>
              <a:rPr lang="en-US" sz="1250" b="1" spc="160" kern="0" dirty="0">
                <a:solidFill>
                  <a:srgbClr val="D9A441"/>
                </a:solidFill>
                <a:latin typeface="Calibri" pitchFamily="34" charset="0"/>
                <a:ea typeface="Calibri" pitchFamily="34" charset="-122"/>
                <a:cs typeface="Calibri" pitchFamily="34" charset="-120"/>
              </a:rPr>
              <a:t>OPTION 2 — WHAT I'D RECOMMEND</a:t>
            </a:r>
            <a:endParaRPr lang="en-US" sz="1250" dirty="0"/>
          </a:p>
        </p:txBody>
      </p:sp>
      <p:sp>
        <p:nvSpPr>
          <p:cNvPr id="12" name="Text 10"/>
          <p:cNvSpPr/>
          <p:nvPr/>
        </p:nvSpPr>
        <p:spPr>
          <a:xfrm>
            <a:off x="6793992" y="2286000"/>
            <a:ext cx="4572000" cy="41148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Production + the system</a:t>
            </a:r>
            <a:endParaRPr lang="en-US" sz="2600" dirty="0"/>
          </a:p>
        </p:txBody>
      </p:sp>
      <p:sp>
        <p:nvSpPr>
          <p:cNvPr id="13" name="Text 11"/>
          <p:cNvSpPr/>
          <p:nvPr/>
        </p:nvSpPr>
        <p:spPr>
          <a:xfrm>
            <a:off x="6793992" y="2743200"/>
            <a:ext cx="4572000" cy="274320"/>
          </a:xfrm>
          <a:prstGeom prst="rect">
            <a:avLst/>
          </a:prstGeom>
          <a:noFill/>
          <a:ln/>
        </p:spPr>
        <p:txBody>
          <a:bodyPr wrap="square" lIns="0" tIns="0" rIns="0" bIns="0" rtlCol="0" anchor="ctr"/>
          <a:lstStyle/>
          <a:p>
            <a:pPr indent="0" marL="0">
              <a:buNone/>
            </a:pPr>
            <a:r>
              <a:rPr lang="en-US" sz="1400" dirty="0">
                <a:solidFill>
                  <a:srgbClr val="C9AEB8"/>
                </a:solidFill>
                <a:latin typeface="Calibri" pitchFamily="34" charset="0"/>
                <a:ea typeface="Calibri" pitchFamily="34" charset="-122"/>
                <a:cs typeface="Calibri" pitchFamily="34" charset="-120"/>
              </a:rPr>
              <a:t>We build the brand with you, then run it every week.</a:t>
            </a:r>
            <a:endParaRPr lang="en-US" sz="1400" dirty="0"/>
          </a:p>
        </p:txBody>
      </p:sp>
      <p:sp>
        <p:nvSpPr>
          <p:cNvPr id="14" name="Text 12"/>
          <p:cNvSpPr/>
          <p:nvPr/>
        </p:nvSpPr>
        <p:spPr>
          <a:xfrm>
            <a:off x="6793992" y="3108960"/>
            <a:ext cx="4526280" cy="173736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Everything in Option 1</a:t>
            </a:r>
            <a:endParaRPr lang="en-US" sz="1400" dirty="0"/>
          </a:p>
          <a:p>
            <a:pPr marL="342900" indent="-342900">
              <a:lnSpc>
                <a:spcPts val="2000"/>
              </a:lnSpc>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The positioning decision and your named method</a:t>
            </a:r>
            <a:endParaRPr lang="en-US" sz="1400" dirty="0"/>
          </a:p>
          <a:p>
            <a:pPr marL="342900" indent="-342900">
              <a:lnSpc>
                <a:spcPts val="2000"/>
              </a:lnSpc>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Profile rebuilt — bio, pinned posts, highlights</a:t>
            </a:r>
            <a:endParaRPr lang="en-US" sz="1400" dirty="0"/>
          </a:p>
          <a:p>
            <a:pPr marL="342900" indent="-342900">
              <a:lnSpc>
                <a:spcPts val="2000"/>
              </a:lnSpc>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Five posts a week, published for you</a:t>
            </a:r>
            <a:endParaRPr lang="en-US" sz="1400" dirty="0"/>
          </a:p>
          <a:p>
            <a:pPr marL="342900" indent="-342900">
              <a:lnSpc>
                <a:spcPts val="2000"/>
              </a:lnSpc>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YouTube and WhatsApp from the same shoot</a:t>
            </a:r>
            <a:endParaRPr lang="en-US" sz="1400" dirty="0"/>
          </a:p>
          <a:p>
            <a:pPr marL="342900" indent="-342900">
              <a:lnSpc>
                <a:spcPts val="2000"/>
              </a:lnSpc>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Weekly numbers, so you always know what's working</a:t>
            </a:r>
            <a:endParaRPr lang="en-US" sz="1400" dirty="0"/>
          </a:p>
        </p:txBody>
      </p:sp>
      <p:sp>
        <p:nvSpPr>
          <p:cNvPr id="15" name="Text 13"/>
          <p:cNvSpPr/>
          <p:nvPr/>
        </p:nvSpPr>
        <p:spPr>
          <a:xfrm>
            <a:off x="6793992" y="4846320"/>
            <a:ext cx="4526280" cy="457200"/>
          </a:xfrm>
          <a:prstGeom prst="rect">
            <a:avLst/>
          </a:prstGeom>
          <a:noFill/>
          <a:ln/>
        </p:spPr>
        <p:txBody>
          <a:bodyPr wrap="square" lIns="0" tIns="0" rIns="0" bIns="0" rtlCol="0" anchor="ctr"/>
          <a:lstStyle/>
          <a:p>
            <a:pPr indent="0" marL="0">
              <a:lnSpc>
                <a:spcPts val="1900"/>
              </a:lnSpc>
              <a:buNone/>
            </a:pPr>
            <a:r>
              <a:rPr lang="en-US" sz="1300" b="1" dirty="0">
                <a:solidFill>
                  <a:srgbClr val="D9A441"/>
                </a:solidFill>
                <a:latin typeface="Calibri" pitchFamily="34" charset="0"/>
                <a:ea typeface="Calibri" pitchFamily="34" charset="-122"/>
                <a:cs typeface="Calibri" pitchFamily="34" charset="-120"/>
              </a:rPr>
              <a:t>This is the one that changes the outcome</a:t>
            </a:r>
            <a:pPr indent="0" marL="0">
              <a:lnSpc>
                <a:spcPts val="1900"/>
              </a:lnSpc>
              <a:buNone/>
            </a:pPr>
            <a:r>
              <a:rPr lang="en-US" sz="1300" dirty="0">
                <a:solidFill>
                  <a:srgbClr val="D9A441"/>
                </a:solidFill>
                <a:latin typeface="Calibri" pitchFamily="34" charset="0"/>
                <a:ea typeface="Calibri" pitchFamily="34" charset="-122"/>
                <a:cs typeface="Calibri" pitchFamily="34" charset="-120"/>
              </a:rPr>
              <a:t>, because it fixes what's actually holding the account back.</a:t>
            </a:r>
            <a:endParaRPr lang="en-US" sz="1300" dirty="0"/>
          </a:p>
        </p:txBody>
      </p:sp>
      <p:sp>
        <p:nvSpPr>
          <p:cNvPr id="16" name="Text 14"/>
          <p:cNvSpPr/>
          <p:nvPr/>
        </p:nvSpPr>
        <p:spPr>
          <a:xfrm>
            <a:off x="713232" y="5577840"/>
            <a:ext cx="10735056" cy="640080"/>
          </a:xfrm>
          <a:prstGeom prst="rect">
            <a:avLst/>
          </a:prstGeom>
          <a:noFill/>
          <a:ln/>
        </p:spPr>
        <p:txBody>
          <a:bodyPr wrap="square" lIns="0" tIns="0" rIns="0" bIns="0" rtlCol="0" anchor="ctr"/>
          <a:lstStyle/>
          <a:p>
            <a:pPr indent="0" marL="0">
              <a:lnSpc>
                <a:spcPts val="2400"/>
              </a:lnSpc>
              <a:buNone/>
            </a:pPr>
            <a:r>
              <a:rPr lang="en-US" sz="1700" i="1" dirty="0">
                <a:solidFill>
                  <a:srgbClr val="D9A441"/>
                </a:solidFill>
                <a:latin typeface="Cambria" pitchFamily="34" charset="0"/>
                <a:ea typeface="Cambria" pitchFamily="34" charset="-122"/>
                <a:cs typeface="Cambria" pitchFamily="34" charset="-120"/>
              </a:rPr>
              <a:t>If Option 1 is what you want, say so and we'll do it properly. I'd just rather you chose it knowing what it does and doesn't solve.</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3232" y="420624"/>
            <a:ext cx="10735056" cy="274320"/>
          </a:xfrm>
          <a:prstGeom prst="rect">
            <a:avLst/>
          </a:prstGeom>
          <a:noFill/>
          <a:ln/>
        </p:spPr>
        <p:txBody>
          <a:bodyPr wrap="square" lIns="0" tIns="0" rIns="0" bIns="0" rtlCol="0" anchor="ctr"/>
          <a:lstStyle/>
          <a:p>
            <a:pPr indent="0" marL="0">
              <a:buNone/>
            </a:pPr>
            <a:r>
              <a:rPr lang="en-US" sz="1200" b="1" spc="220" kern="0" dirty="0">
                <a:solidFill>
                  <a:srgbClr val="A26769"/>
                </a:solidFill>
                <a:latin typeface="Calibri" pitchFamily="34" charset="0"/>
                <a:ea typeface="Calibri" pitchFamily="34" charset="-122"/>
                <a:cs typeface="Calibri" pitchFamily="34" charset="-120"/>
              </a:rPr>
              <a:t>WHAT CHANGES</a:t>
            </a:r>
            <a:endParaRPr lang="en-US" sz="1200" dirty="0"/>
          </a:p>
        </p:txBody>
      </p:sp>
      <p:sp>
        <p:nvSpPr>
          <p:cNvPr id="3" name="Text 1"/>
          <p:cNvSpPr/>
          <p:nvPr/>
        </p:nvSpPr>
        <p:spPr>
          <a:xfrm>
            <a:off x="713232" y="768096"/>
            <a:ext cx="10735056" cy="960120"/>
          </a:xfrm>
          <a:prstGeom prst="rect">
            <a:avLst/>
          </a:prstGeom>
          <a:noFill/>
          <a:ln/>
        </p:spPr>
        <p:txBody>
          <a:bodyPr wrap="square" lIns="0" tIns="0" rIns="0" bIns="0" rtlCol="0" anchor="ctr"/>
          <a:lstStyle/>
          <a:p>
            <a:pPr indent="0" marL="0">
              <a:lnSpc>
                <a:spcPts val="4500"/>
              </a:lnSpc>
              <a:buNone/>
            </a:pPr>
            <a:r>
              <a:rPr lang="en-US" sz="3900" b="1" dirty="0">
                <a:solidFill>
                  <a:srgbClr val="2B1620"/>
                </a:solidFill>
                <a:latin typeface="Cambria" pitchFamily="34" charset="0"/>
                <a:ea typeface="Cambria" pitchFamily="34" charset="-122"/>
                <a:cs typeface="Cambria" pitchFamily="34" charset="-120"/>
              </a:rPr>
              <a:t>The first 90 days, honestly</a:t>
            </a:r>
            <a:endParaRPr lang="en-US" sz="3900" dirty="0"/>
          </a:p>
        </p:txBody>
      </p:sp>
      <p:sp>
        <p:nvSpPr>
          <p:cNvPr id="4" name="Shape 2"/>
          <p:cNvSpPr/>
          <p:nvPr/>
        </p:nvSpPr>
        <p:spPr>
          <a:xfrm>
            <a:off x="713232" y="1783080"/>
            <a:ext cx="3493008" cy="1874520"/>
          </a:xfrm>
          <a:prstGeom prst="roundRect">
            <a:avLst>
              <a:gd name="adj" fmla="val 6829"/>
            </a:avLst>
          </a:prstGeom>
          <a:solidFill>
            <a:srgbClr val="F7F2F4"/>
          </a:solidFill>
          <a:ln/>
        </p:spPr>
      </p:sp>
      <p:sp>
        <p:nvSpPr>
          <p:cNvPr id="5" name="Text 3"/>
          <p:cNvSpPr/>
          <p:nvPr/>
        </p:nvSpPr>
        <p:spPr>
          <a:xfrm>
            <a:off x="987552" y="1965960"/>
            <a:ext cx="2926080" cy="256032"/>
          </a:xfrm>
          <a:prstGeom prst="rect">
            <a:avLst/>
          </a:prstGeom>
          <a:noFill/>
          <a:ln/>
        </p:spPr>
        <p:txBody>
          <a:bodyPr wrap="square" lIns="0" tIns="0" rIns="0" bIns="0" rtlCol="0" anchor="ctr"/>
          <a:lstStyle/>
          <a:p>
            <a:pPr indent="0" marL="0">
              <a:buNone/>
            </a:pPr>
            <a:r>
              <a:rPr lang="en-US" sz="1200" b="1" spc="160" kern="0" dirty="0">
                <a:solidFill>
                  <a:srgbClr val="6D2E46"/>
                </a:solidFill>
                <a:latin typeface="Calibri" pitchFamily="34" charset="0"/>
                <a:ea typeface="Calibri" pitchFamily="34" charset="-122"/>
                <a:cs typeface="Calibri" pitchFamily="34" charset="-120"/>
              </a:rPr>
              <a:t>WEEKS 1–2</a:t>
            </a:r>
            <a:endParaRPr lang="en-US" sz="1200" dirty="0"/>
          </a:p>
        </p:txBody>
      </p:sp>
      <p:sp>
        <p:nvSpPr>
          <p:cNvPr id="6" name="Text 4"/>
          <p:cNvSpPr/>
          <p:nvPr/>
        </p:nvSpPr>
        <p:spPr>
          <a:xfrm>
            <a:off x="987552" y="2258568"/>
            <a:ext cx="2926080" cy="347472"/>
          </a:xfrm>
          <a:prstGeom prst="rect">
            <a:avLst/>
          </a:prstGeom>
          <a:noFill/>
          <a:ln/>
        </p:spPr>
        <p:txBody>
          <a:bodyPr wrap="square" lIns="0" tIns="0" rIns="0" bIns="0" rtlCol="0" anchor="ctr"/>
          <a:lstStyle/>
          <a:p>
            <a:pPr indent="0" marL="0">
              <a:buNone/>
            </a:pPr>
            <a:r>
              <a:rPr lang="en-US" sz="2000" b="1" dirty="0">
                <a:solidFill>
                  <a:srgbClr val="2B1620"/>
                </a:solidFill>
                <a:latin typeface="Cambria" pitchFamily="34" charset="0"/>
                <a:ea typeface="Cambria" pitchFamily="34" charset="-122"/>
                <a:cs typeface="Cambria" pitchFamily="34" charset="-120"/>
              </a:rPr>
              <a:t>Decide and rebuild</a:t>
            </a:r>
            <a:endParaRPr lang="en-US" sz="2000" dirty="0"/>
          </a:p>
        </p:txBody>
      </p:sp>
      <p:sp>
        <p:nvSpPr>
          <p:cNvPr id="7" name="Text 5"/>
          <p:cNvSpPr/>
          <p:nvPr/>
        </p:nvSpPr>
        <p:spPr>
          <a:xfrm>
            <a:off x="987552" y="2688336"/>
            <a:ext cx="2926080" cy="868680"/>
          </a:xfrm>
          <a:prstGeom prst="rect">
            <a:avLst/>
          </a:prstGeom>
          <a:noFill/>
          <a:ln/>
        </p:spPr>
        <p:txBody>
          <a:bodyPr wrap="square" lIns="0" tIns="0" rIns="0" bIns="0" rtlCol="0" anchor="ctr"/>
          <a:lstStyle/>
          <a:p>
            <a:pPr marL="342900" indent="-342900">
              <a:lnSpc>
                <a:spcPts val="1700"/>
              </a:lnSpc>
              <a:spcAft>
                <a:spcPts val="400"/>
              </a:spcAft>
              <a:buSzPct val="100000"/>
              <a:buChar char="•"/>
            </a:pPr>
            <a:r>
              <a:rPr lang="en-US" sz="1250" dirty="0">
                <a:solidFill>
                  <a:srgbClr val="2B1620"/>
                </a:solidFill>
                <a:latin typeface="Calibri" pitchFamily="34" charset="0"/>
                <a:ea typeface="Calibri" pitchFamily="34" charset="-122"/>
                <a:cs typeface="Calibri" pitchFamily="34" charset="-120"/>
              </a:rPr>
              <a:t>One audience, one promise</a:t>
            </a:r>
            <a:endParaRPr lang="en-US" sz="1250" dirty="0"/>
          </a:p>
          <a:p>
            <a:pPr marL="342900" indent="-342900">
              <a:lnSpc>
                <a:spcPts val="1700"/>
              </a:lnSpc>
              <a:spcAft>
                <a:spcPts val="400"/>
              </a:spcAft>
              <a:buSzPct val="100000"/>
              <a:buChar char="•"/>
            </a:pPr>
            <a:r>
              <a:rPr lang="en-US" sz="1250" dirty="0">
                <a:solidFill>
                  <a:srgbClr val="2B1620"/>
                </a:solidFill>
                <a:latin typeface="Calibri" pitchFamily="34" charset="0"/>
                <a:ea typeface="Calibri" pitchFamily="34" charset="-122"/>
                <a:cs typeface="Calibri" pitchFamily="34" charset="-120"/>
              </a:rPr>
              <a:t>Your named method</a:t>
            </a:r>
            <a:endParaRPr lang="en-US" sz="1250" dirty="0"/>
          </a:p>
          <a:p>
            <a:pPr marL="342900" indent="-342900">
              <a:lnSpc>
                <a:spcPts val="1700"/>
              </a:lnSpc>
              <a:spcAft>
                <a:spcPts val="400"/>
              </a:spcAft>
              <a:buSzPct val="100000"/>
              <a:buChar char="•"/>
            </a:pPr>
            <a:r>
              <a:rPr lang="en-US" sz="1250" dirty="0">
                <a:solidFill>
                  <a:srgbClr val="2B1620"/>
                </a:solidFill>
                <a:latin typeface="Calibri" pitchFamily="34" charset="0"/>
                <a:ea typeface="Calibri" pitchFamily="34" charset="-122"/>
                <a:cs typeface="Calibri" pitchFamily="34" charset="-120"/>
              </a:rPr>
              <a:t>Bio, pinned posts, highlights</a:t>
            </a:r>
            <a:endParaRPr lang="en-US" sz="1250" dirty="0"/>
          </a:p>
        </p:txBody>
      </p:sp>
      <p:sp>
        <p:nvSpPr>
          <p:cNvPr id="8" name="Shape 6"/>
          <p:cNvSpPr/>
          <p:nvPr/>
        </p:nvSpPr>
        <p:spPr>
          <a:xfrm>
            <a:off x="4389120" y="1783080"/>
            <a:ext cx="3493008" cy="1874520"/>
          </a:xfrm>
          <a:prstGeom prst="roundRect">
            <a:avLst>
              <a:gd name="adj" fmla="val 6829"/>
            </a:avLst>
          </a:prstGeom>
          <a:solidFill>
            <a:srgbClr val="F7F2F4"/>
          </a:solidFill>
          <a:ln/>
        </p:spPr>
      </p:sp>
      <p:sp>
        <p:nvSpPr>
          <p:cNvPr id="9" name="Text 7"/>
          <p:cNvSpPr/>
          <p:nvPr/>
        </p:nvSpPr>
        <p:spPr>
          <a:xfrm>
            <a:off x="4663440" y="1965960"/>
            <a:ext cx="2926080" cy="256032"/>
          </a:xfrm>
          <a:prstGeom prst="rect">
            <a:avLst/>
          </a:prstGeom>
          <a:noFill/>
          <a:ln/>
        </p:spPr>
        <p:txBody>
          <a:bodyPr wrap="square" lIns="0" tIns="0" rIns="0" bIns="0" rtlCol="0" anchor="ctr"/>
          <a:lstStyle/>
          <a:p>
            <a:pPr indent="0" marL="0">
              <a:buNone/>
            </a:pPr>
            <a:r>
              <a:rPr lang="en-US" sz="1200" b="1" spc="160" kern="0" dirty="0">
                <a:solidFill>
                  <a:srgbClr val="6D2E46"/>
                </a:solidFill>
                <a:latin typeface="Calibri" pitchFamily="34" charset="0"/>
                <a:ea typeface="Calibri" pitchFamily="34" charset="-122"/>
                <a:cs typeface="Calibri" pitchFamily="34" charset="-120"/>
              </a:rPr>
              <a:t>WEEKS 3–8</a:t>
            </a:r>
            <a:endParaRPr lang="en-US" sz="1200" dirty="0"/>
          </a:p>
        </p:txBody>
      </p:sp>
      <p:sp>
        <p:nvSpPr>
          <p:cNvPr id="10" name="Text 8"/>
          <p:cNvSpPr/>
          <p:nvPr/>
        </p:nvSpPr>
        <p:spPr>
          <a:xfrm>
            <a:off x="4663440" y="2258568"/>
            <a:ext cx="2926080" cy="347472"/>
          </a:xfrm>
          <a:prstGeom prst="rect">
            <a:avLst/>
          </a:prstGeom>
          <a:noFill/>
          <a:ln/>
        </p:spPr>
        <p:txBody>
          <a:bodyPr wrap="square" lIns="0" tIns="0" rIns="0" bIns="0" rtlCol="0" anchor="ctr"/>
          <a:lstStyle/>
          <a:p>
            <a:pPr indent="0" marL="0">
              <a:buNone/>
            </a:pPr>
            <a:r>
              <a:rPr lang="en-US" sz="2000" b="1" dirty="0">
                <a:solidFill>
                  <a:srgbClr val="2B1620"/>
                </a:solidFill>
                <a:latin typeface="Cambria" pitchFamily="34" charset="0"/>
                <a:ea typeface="Cambria" pitchFamily="34" charset="-122"/>
                <a:cs typeface="Cambria" pitchFamily="34" charset="-120"/>
              </a:rPr>
              <a:t>Volume and voice</a:t>
            </a:r>
            <a:endParaRPr lang="en-US" sz="2000" dirty="0"/>
          </a:p>
        </p:txBody>
      </p:sp>
      <p:sp>
        <p:nvSpPr>
          <p:cNvPr id="11" name="Text 9"/>
          <p:cNvSpPr/>
          <p:nvPr/>
        </p:nvSpPr>
        <p:spPr>
          <a:xfrm>
            <a:off x="4663440" y="2688336"/>
            <a:ext cx="2926080" cy="868680"/>
          </a:xfrm>
          <a:prstGeom prst="rect">
            <a:avLst/>
          </a:prstGeom>
          <a:noFill/>
          <a:ln/>
        </p:spPr>
        <p:txBody>
          <a:bodyPr wrap="square" lIns="0" tIns="0" rIns="0" bIns="0" rtlCol="0" anchor="ctr"/>
          <a:lstStyle/>
          <a:p>
            <a:pPr marL="342900" indent="-342900">
              <a:lnSpc>
                <a:spcPts val="1700"/>
              </a:lnSpc>
              <a:spcAft>
                <a:spcPts val="400"/>
              </a:spcAft>
              <a:buSzPct val="100000"/>
              <a:buChar char="•"/>
            </a:pPr>
            <a:r>
              <a:rPr lang="en-US" sz="1250" dirty="0">
                <a:solidFill>
                  <a:srgbClr val="2B1620"/>
                </a:solidFill>
                <a:latin typeface="Calibri" pitchFamily="34" charset="0"/>
                <a:ea typeface="Calibri" pitchFamily="34" charset="-122"/>
                <a:cs typeface="Calibri" pitchFamily="34" charset="-120"/>
              </a:rPr>
              <a:t>Five posts a week, every week</a:t>
            </a:r>
            <a:endParaRPr lang="en-US" sz="1250" dirty="0"/>
          </a:p>
          <a:p>
            <a:pPr marL="342900" indent="-342900">
              <a:lnSpc>
                <a:spcPts val="1700"/>
              </a:lnSpc>
              <a:spcAft>
                <a:spcPts val="400"/>
              </a:spcAft>
              <a:buSzPct val="100000"/>
              <a:buChar char="•"/>
            </a:pPr>
            <a:r>
              <a:rPr lang="en-US" sz="1250" dirty="0">
                <a:solidFill>
                  <a:srgbClr val="2B1620"/>
                </a:solidFill>
                <a:latin typeface="Calibri" pitchFamily="34" charset="0"/>
                <a:ea typeface="Calibri" pitchFamily="34" charset="-122"/>
                <a:cs typeface="Calibri" pitchFamily="34" charset="-120"/>
              </a:rPr>
              <a:t>You, teaching, on camera</a:t>
            </a:r>
            <a:endParaRPr lang="en-US" sz="1250" dirty="0"/>
          </a:p>
          <a:p>
            <a:pPr marL="342900" indent="-342900">
              <a:lnSpc>
                <a:spcPts val="1700"/>
              </a:lnSpc>
              <a:spcAft>
                <a:spcPts val="400"/>
              </a:spcAft>
              <a:buSzPct val="100000"/>
              <a:buChar char="•"/>
            </a:pPr>
            <a:r>
              <a:rPr lang="en-US" sz="1250" dirty="0">
                <a:solidFill>
                  <a:srgbClr val="2B1620"/>
                </a:solidFill>
                <a:latin typeface="Calibri" pitchFamily="34" charset="0"/>
                <a:ea typeface="Calibri" pitchFamily="34" charset="-122"/>
                <a:cs typeface="Calibri" pitchFamily="34" charset="-120"/>
              </a:rPr>
              <a:t>YouTube from the same shoot</a:t>
            </a:r>
            <a:endParaRPr lang="en-US" sz="1250" dirty="0"/>
          </a:p>
        </p:txBody>
      </p:sp>
      <p:sp>
        <p:nvSpPr>
          <p:cNvPr id="12" name="Shape 10"/>
          <p:cNvSpPr/>
          <p:nvPr/>
        </p:nvSpPr>
        <p:spPr>
          <a:xfrm>
            <a:off x="8065008" y="1783080"/>
            <a:ext cx="3493008" cy="1874520"/>
          </a:xfrm>
          <a:prstGeom prst="roundRect">
            <a:avLst>
              <a:gd name="adj" fmla="val 6829"/>
            </a:avLst>
          </a:prstGeom>
          <a:solidFill>
            <a:srgbClr val="6D2E46"/>
          </a:solidFill>
          <a:ln/>
        </p:spPr>
      </p:sp>
      <p:sp>
        <p:nvSpPr>
          <p:cNvPr id="13" name="Text 11"/>
          <p:cNvSpPr/>
          <p:nvPr/>
        </p:nvSpPr>
        <p:spPr>
          <a:xfrm>
            <a:off x="8339328" y="1965960"/>
            <a:ext cx="2926080" cy="256032"/>
          </a:xfrm>
          <a:prstGeom prst="rect">
            <a:avLst/>
          </a:prstGeom>
          <a:noFill/>
          <a:ln/>
        </p:spPr>
        <p:txBody>
          <a:bodyPr wrap="square" lIns="0" tIns="0" rIns="0" bIns="0" rtlCol="0" anchor="ctr"/>
          <a:lstStyle/>
          <a:p>
            <a:pPr indent="0" marL="0">
              <a:buNone/>
            </a:pPr>
            <a:r>
              <a:rPr lang="en-US" sz="1200" b="1" spc="160" kern="0" dirty="0">
                <a:solidFill>
                  <a:srgbClr val="D9A441"/>
                </a:solidFill>
                <a:latin typeface="Calibri" pitchFamily="34" charset="0"/>
                <a:ea typeface="Calibri" pitchFamily="34" charset="-122"/>
                <a:cs typeface="Calibri" pitchFamily="34" charset="-120"/>
              </a:rPr>
              <a:t>WEEKS 9–12</a:t>
            </a:r>
            <a:endParaRPr lang="en-US" sz="1200" dirty="0"/>
          </a:p>
        </p:txBody>
      </p:sp>
      <p:sp>
        <p:nvSpPr>
          <p:cNvPr id="14" name="Text 12"/>
          <p:cNvSpPr/>
          <p:nvPr/>
        </p:nvSpPr>
        <p:spPr>
          <a:xfrm>
            <a:off x="8339328" y="2258568"/>
            <a:ext cx="2926080" cy="34747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Compound</a:t>
            </a:r>
            <a:endParaRPr lang="en-US" sz="2000" dirty="0"/>
          </a:p>
        </p:txBody>
      </p:sp>
      <p:sp>
        <p:nvSpPr>
          <p:cNvPr id="15" name="Text 13"/>
          <p:cNvSpPr/>
          <p:nvPr/>
        </p:nvSpPr>
        <p:spPr>
          <a:xfrm>
            <a:off x="8339328" y="2688336"/>
            <a:ext cx="2926080" cy="868680"/>
          </a:xfrm>
          <a:prstGeom prst="rect">
            <a:avLst/>
          </a:prstGeom>
          <a:noFill/>
          <a:ln/>
        </p:spPr>
        <p:txBody>
          <a:bodyPr wrap="square" lIns="0" tIns="0" rIns="0" bIns="0" rtlCol="0" anchor="ctr"/>
          <a:lstStyle/>
          <a:p>
            <a:pPr marL="342900" indent="-342900">
              <a:lnSpc>
                <a:spcPts val="1700"/>
              </a:lnSpc>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Double down on what worked</a:t>
            </a:r>
            <a:endParaRPr lang="en-US" sz="1250" dirty="0"/>
          </a:p>
          <a:p>
            <a:pPr marL="342900" indent="-342900">
              <a:lnSpc>
                <a:spcPts val="1700"/>
              </a:lnSpc>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Your first paid workshop</a:t>
            </a:r>
            <a:endParaRPr lang="en-US" sz="1250" dirty="0"/>
          </a:p>
          <a:p>
            <a:pPr marL="342900" indent="-342900">
              <a:lnSpc>
                <a:spcPts val="1700"/>
              </a:lnSpc>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Systems running on their own</a:t>
            </a:r>
            <a:endParaRPr lang="en-US" sz="1250" dirty="0"/>
          </a:p>
        </p:txBody>
      </p:sp>
      <p:sp>
        <p:nvSpPr>
          <p:cNvPr id="16" name="Text 14"/>
          <p:cNvSpPr/>
          <p:nvPr/>
        </p:nvSpPr>
        <p:spPr>
          <a:xfrm>
            <a:off x="713232" y="3977640"/>
            <a:ext cx="10735056" cy="320040"/>
          </a:xfrm>
          <a:prstGeom prst="rect">
            <a:avLst/>
          </a:prstGeom>
          <a:noFill/>
          <a:ln/>
        </p:spPr>
        <p:txBody>
          <a:bodyPr wrap="square" lIns="0" tIns="0" rIns="0" bIns="0" rtlCol="0" anchor="ctr"/>
          <a:lstStyle/>
          <a:p>
            <a:pPr indent="0" marL="0">
              <a:buNone/>
            </a:pPr>
            <a:r>
              <a:rPr lang="en-US" sz="1600" b="1" dirty="0">
                <a:solidFill>
                  <a:srgbClr val="6D2E46"/>
                </a:solidFill>
                <a:latin typeface="Calibri" pitchFamily="34" charset="0"/>
                <a:ea typeface="Calibri" pitchFamily="34" charset="-122"/>
                <a:cs typeface="Calibri" pitchFamily="34" charset="-120"/>
              </a:rPr>
              <a:t>Where you'd realistically be at day 90:</a:t>
            </a:r>
            <a:endParaRPr lang="en-US" sz="1600" dirty="0"/>
          </a:p>
        </p:txBody>
      </p:sp>
      <p:sp>
        <p:nvSpPr>
          <p:cNvPr id="17" name="Shape 15"/>
          <p:cNvSpPr/>
          <p:nvPr/>
        </p:nvSpPr>
        <p:spPr>
          <a:xfrm>
            <a:off x="713232" y="4343400"/>
            <a:ext cx="2532888" cy="1261872"/>
          </a:xfrm>
          <a:prstGeom prst="roundRect">
            <a:avLst>
              <a:gd name="adj" fmla="val 10145"/>
            </a:avLst>
          </a:prstGeom>
          <a:solidFill>
            <a:srgbClr val="3D1B2E"/>
          </a:solidFill>
          <a:ln/>
        </p:spPr>
      </p:sp>
      <p:sp>
        <p:nvSpPr>
          <p:cNvPr id="18" name="Text 16"/>
          <p:cNvSpPr/>
          <p:nvPr/>
        </p:nvSpPr>
        <p:spPr>
          <a:xfrm>
            <a:off x="969264" y="4517136"/>
            <a:ext cx="2011680" cy="457200"/>
          </a:xfrm>
          <a:prstGeom prst="rect">
            <a:avLst/>
          </a:prstGeom>
          <a:noFill/>
          <a:ln/>
        </p:spPr>
        <p:txBody>
          <a:bodyPr wrap="square" lIns="0" tIns="0" rIns="0" bIns="0" rtlCol="0" anchor="ctr"/>
          <a:lstStyle/>
          <a:p>
            <a:pPr indent="0" marL="0">
              <a:buNone/>
            </a:pPr>
            <a:r>
              <a:rPr lang="en-US" sz="3000" b="1" dirty="0">
                <a:solidFill>
                  <a:srgbClr val="D9A441"/>
                </a:solidFill>
                <a:latin typeface="Cambria" pitchFamily="34" charset="0"/>
                <a:ea typeface="Cambria" pitchFamily="34" charset="-122"/>
                <a:cs typeface="Cambria" pitchFamily="34" charset="-120"/>
              </a:rPr>
              <a:t>~65</a:t>
            </a:r>
            <a:endParaRPr lang="en-US" sz="3000" dirty="0"/>
          </a:p>
        </p:txBody>
      </p:sp>
      <p:sp>
        <p:nvSpPr>
          <p:cNvPr id="19" name="Text 17"/>
          <p:cNvSpPr/>
          <p:nvPr/>
        </p:nvSpPr>
        <p:spPr>
          <a:xfrm>
            <a:off x="969264" y="4992624"/>
            <a:ext cx="2103120" cy="548640"/>
          </a:xfrm>
          <a:prstGeom prst="rect">
            <a:avLst/>
          </a:prstGeom>
          <a:noFill/>
          <a:ln/>
        </p:spPr>
        <p:txBody>
          <a:bodyPr wrap="square" lIns="0" tIns="0" rIns="0" bIns="0" rtlCol="0" anchor="ctr"/>
          <a:lstStyle/>
          <a:p>
            <a:pPr indent="0" marL="0">
              <a:lnSpc>
                <a:spcPts val="1600"/>
              </a:lnSpc>
              <a:buNone/>
            </a:pPr>
            <a:r>
              <a:rPr lang="en-US" sz="1200" dirty="0">
                <a:solidFill>
                  <a:srgbClr val="C9AEB8"/>
                </a:solidFill>
                <a:latin typeface="Calibri" pitchFamily="34" charset="0"/>
                <a:ea typeface="Calibri" pitchFamily="34" charset="-122"/>
                <a:cs typeface="Calibri" pitchFamily="34" charset="-120"/>
              </a:rPr>
              <a:t>posts, vs 34 today — your library doubles</a:t>
            </a:r>
            <a:endParaRPr lang="en-US" sz="1200" dirty="0"/>
          </a:p>
        </p:txBody>
      </p:sp>
      <p:sp>
        <p:nvSpPr>
          <p:cNvPr id="20" name="Shape 18"/>
          <p:cNvSpPr/>
          <p:nvPr/>
        </p:nvSpPr>
        <p:spPr>
          <a:xfrm>
            <a:off x="3429000" y="4343400"/>
            <a:ext cx="2532888" cy="1261872"/>
          </a:xfrm>
          <a:prstGeom prst="roundRect">
            <a:avLst>
              <a:gd name="adj" fmla="val 10145"/>
            </a:avLst>
          </a:prstGeom>
          <a:solidFill>
            <a:srgbClr val="3D1B2E"/>
          </a:solidFill>
          <a:ln/>
        </p:spPr>
      </p:sp>
      <p:sp>
        <p:nvSpPr>
          <p:cNvPr id="21" name="Text 19"/>
          <p:cNvSpPr/>
          <p:nvPr/>
        </p:nvSpPr>
        <p:spPr>
          <a:xfrm>
            <a:off x="3685032" y="4517136"/>
            <a:ext cx="2011680" cy="457200"/>
          </a:xfrm>
          <a:prstGeom prst="rect">
            <a:avLst/>
          </a:prstGeom>
          <a:noFill/>
          <a:ln/>
        </p:spPr>
        <p:txBody>
          <a:bodyPr wrap="square" lIns="0" tIns="0" rIns="0" bIns="0" rtlCol="0" anchor="ctr"/>
          <a:lstStyle/>
          <a:p>
            <a:pPr indent="0" marL="0">
              <a:buNone/>
            </a:pPr>
            <a:r>
              <a:rPr lang="en-US" sz="3000" b="1" dirty="0">
                <a:solidFill>
                  <a:srgbClr val="D9A441"/>
                </a:solidFill>
                <a:latin typeface="Cambria" pitchFamily="34" charset="0"/>
                <a:ea typeface="Cambria" pitchFamily="34" charset="-122"/>
                <a:cs typeface="Cambria" pitchFamily="34" charset="-120"/>
              </a:rPr>
              <a:t>500</a:t>
            </a:r>
            <a:endParaRPr lang="en-US" sz="3000" dirty="0"/>
          </a:p>
        </p:txBody>
      </p:sp>
      <p:sp>
        <p:nvSpPr>
          <p:cNvPr id="22" name="Text 20"/>
          <p:cNvSpPr/>
          <p:nvPr/>
        </p:nvSpPr>
        <p:spPr>
          <a:xfrm>
            <a:off x="3685032" y="4992624"/>
            <a:ext cx="2103120" cy="548640"/>
          </a:xfrm>
          <a:prstGeom prst="rect">
            <a:avLst/>
          </a:prstGeom>
          <a:noFill/>
          <a:ln/>
        </p:spPr>
        <p:txBody>
          <a:bodyPr wrap="square" lIns="0" tIns="0" rIns="0" bIns="0" rtlCol="0" anchor="ctr"/>
          <a:lstStyle/>
          <a:p>
            <a:pPr indent="0" marL="0">
              <a:lnSpc>
                <a:spcPts val="1600"/>
              </a:lnSpc>
              <a:buNone/>
            </a:pPr>
            <a:r>
              <a:rPr lang="en-US" sz="1200" dirty="0">
                <a:solidFill>
                  <a:srgbClr val="C9AEB8"/>
                </a:solidFill>
                <a:latin typeface="Calibri" pitchFamily="34" charset="0"/>
                <a:ea typeface="Calibri" pitchFamily="34" charset="-122"/>
                <a:cs typeface="Calibri" pitchFamily="34" charset="-120"/>
              </a:rPr>
              <a:t>people on a WhatsApp list you own</a:t>
            </a:r>
            <a:endParaRPr lang="en-US" sz="1200" dirty="0"/>
          </a:p>
        </p:txBody>
      </p:sp>
      <p:sp>
        <p:nvSpPr>
          <p:cNvPr id="23" name="Shape 21"/>
          <p:cNvSpPr/>
          <p:nvPr/>
        </p:nvSpPr>
        <p:spPr>
          <a:xfrm>
            <a:off x="6144768" y="4343400"/>
            <a:ext cx="2532888" cy="1261872"/>
          </a:xfrm>
          <a:prstGeom prst="roundRect">
            <a:avLst>
              <a:gd name="adj" fmla="val 10145"/>
            </a:avLst>
          </a:prstGeom>
          <a:solidFill>
            <a:srgbClr val="3D1B2E"/>
          </a:solidFill>
          <a:ln/>
        </p:spPr>
      </p:sp>
      <p:sp>
        <p:nvSpPr>
          <p:cNvPr id="24" name="Text 22"/>
          <p:cNvSpPr/>
          <p:nvPr/>
        </p:nvSpPr>
        <p:spPr>
          <a:xfrm>
            <a:off x="6400800" y="4517136"/>
            <a:ext cx="2011680" cy="457200"/>
          </a:xfrm>
          <a:prstGeom prst="rect">
            <a:avLst/>
          </a:prstGeom>
          <a:noFill/>
          <a:ln/>
        </p:spPr>
        <p:txBody>
          <a:bodyPr wrap="square" lIns="0" tIns="0" rIns="0" bIns="0" rtlCol="0" anchor="ctr"/>
          <a:lstStyle/>
          <a:p>
            <a:pPr indent="0" marL="0">
              <a:buNone/>
            </a:pPr>
            <a:r>
              <a:rPr lang="en-US" sz="3000" b="1" dirty="0">
                <a:solidFill>
                  <a:srgbClr val="D9A441"/>
                </a:solidFill>
                <a:latin typeface="Cambria" pitchFamily="34" charset="0"/>
                <a:ea typeface="Cambria" pitchFamily="34" charset="-122"/>
                <a:cs typeface="Cambria" pitchFamily="34" charset="-120"/>
              </a:rPr>
              <a:t>12</a:t>
            </a:r>
            <a:endParaRPr lang="en-US" sz="3000" dirty="0"/>
          </a:p>
        </p:txBody>
      </p:sp>
      <p:sp>
        <p:nvSpPr>
          <p:cNvPr id="25" name="Text 23"/>
          <p:cNvSpPr/>
          <p:nvPr/>
        </p:nvSpPr>
        <p:spPr>
          <a:xfrm>
            <a:off x="6400800" y="4992624"/>
            <a:ext cx="2103120" cy="548640"/>
          </a:xfrm>
          <a:prstGeom prst="rect">
            <a:avLst/>
          </a:prstGeom>
          <a:noFill/>
          <a:ln/>
        </p:spPr>
        <p:txBody>
          <a:bodyPr wrap="square" lIns="0" tIns="0" rIns="0" bIns="0" rtlCol="0" anchor="ctr"/>
          <a:lstStyle/>
          <a:p>
            <a:pPr indent="0" marL="0">
              <a:lnSpc>
                <a:spcPts val="1600"/>
              </a:lnSpc>
              <a:buNone/>
            </a:pPr>
            <a:r>
              <a:rPr lang="en-US" sz="1200" dirty="0">
                <a:solidFill>
                  <a:srgbClr val="C9AEB8"/>
                </a:solidFill>
                <a:latin typeface="Calibri" pitchFamily="34" charset="0"/>
                <a:ea typeface="Calibri" pitchFamily="34" charset="-122"/>
                <a:cs typeface="Calibri" pitchFamily="34" charset="-120"/>
              </a:rPr>
              <a:t>YouTube videos working in search for you</a:t>
            </a:r>
            <a:endParaRPr lang="en-US" sz="1200" dirty="0"/>
          </a:p>
        </p:txBody>
      </p:sp>
      <p:sp>
        <p:nvSpPr>
          <p:cNvPr id="26" name="Shape 24"/>
          <p:cNvSpPr/>
          <p:nvPr/>
        </p:nvSpPr>
        <p:spPr>
          <a:xfrm>
            <a:off x="8860536" y="4343400"/>
            <a:ext cx="2532888" cy="1261872"/>
          </a:xfrm>
          <a:prstGeom prst="roundRect">
            <a:avLst>
              <a:gd name="adj" fmla="val 10145"/>
            </a:avLst>
          </a:prstGeom>
          <a:solidFill>
            <a:srgbClr val="3D1B2E"/>
          </a:solidFill>
          <a:ln/>
        </p:spPr>
      </p:sp>
      <p:sp>
        <p:nvSpPr>
          <p:cNvPr id="27" name="Text 25"/>
          <p:cNvSpPr/>
          <p:nvPr/>
        </p:nvSpPr>
        <p:spPr>
          <a:xfrm>
            <a:off x="9116568" y="4517136"/>
            <a:ext cx="2011680" cy="457200"/>
          </a:xfrm>
          <a:prstGeom prst="rect">
            <a:avLst/>
          </a:prstGeom>
          <a:noFill/>
          <a:ln/>
        </p:spPr>
        <p:txBody>
          <a:bodyPr wrap="square" lIns="0" tIns="0" rIns="0" bIns="0" rtlCol="0" anchor="ctr"/>
          <a:lstStyle/>
          <a:p>
            <a:pPr indent="0" marL="0">
              <a:buNone/>
            </a:pPr>
            <a:r>
              <a:rPr lang="en-US" sz="3000" b="1" dirty="0">
                <a:solidFill>
                  <a:srgbClr val="D9A441"/>
                </a:solidFill>
                <a:latin typeface="Cambria" pitchFamily="34" charset="0"/>
                <a:ea typeface="Cambria" pitchFamily="34" charset="-122"/>
                <a:cs typeface="Cambria" pitchFamily="34" charset="-120"/>
              </a:rPr>
              <a:t>1</a:t>
            </a:r>
            <a:endParaRPr lang="en-US" sz="3000" dirty="0"/>
          </a:p>
        </p:txBody>
      </p:sp>
      <p:sp>
        <p:nvSpPr>
          <p:cNvPr id="28" name="Text 26"/>
          <p:cNvSpPr/>
          <p:nvPr/>
        </p:nvSpPr>
        <p:spPr>
          <a:xfrm>
            <a:off x="9116568" y="4992624"/>
            <a:ext cx="2103120" cy="548640"/>
          </a:xfrm>
          <a:prstGeom prst="rect">
            <a:avLst/>
          </a:prstGeom>
          <a:noFill/>
          <a:ln/>
        </p:spPr>
        <p:txBody>
          <a:bodyPr wrap="square" lIns="0" tIns="0" rIns="0" bIns="0" rtlCol="0" anchor="ctr"/>
          <a:lstStyle/>
          <a:p>
            <a:pPr indent="0" marL="0">
              <a:lnSpc>
                <a:spcPts val="1600"/>
              </a:lnSpc>
              <a:buNone/>
            </a:pPr>
            <a:r>
              <a:rPr lang="en-US" sz="1200" dirty="0">
                <a:solidFill>
                  <a:srgbClr val="C9AEB8"/>
                </a:solidFill>
                <a:latin typeface="Calibri" pitchFamily="34" charset="0"/>
                <a:ea typeface="Calibri" pitchFamily="34" charset="-122"/>
                <a:cs typeface="Calibri" pitchFamily="34" charset="-120"/>
              </a:rPr>
              <a:t>clear brand a stranger gets in five seconds</a:t>
            </a:r>
            <a:endParaRPr lang="en-US" sz="1200" dirty="0"/>
          </a:p>
        </p:txBody>
      </p:sp>
      <p:sp>
        <p:nvSpPr>
          <p:cNvPr id="29" name="Text 27"/>
          <p:cNvSpPr/>
          <p:nvPr/>
        </p:nvSpPr>
        <p:spPr>
          <a:xfrm>
            <a:off x="713232" y="6309360"/>
            <a:ext cx="10735056" cy="320040"/>
          </a:xfrm>
          <a:prstGeom prst="rect">
            <a:avLst/>
          </a:prstGeom>
          <a:noFill/>
          <a:ln/>
        </p:spPr>
        <p:txBody>
          <a:bodyPr wrap="square" lIns="0" tIns="0" rIns="0" bIns="0" rtlCol="0" anchor="ctr"/>
          <a:lstStyle/>
          <a:p>
            <a:pPr indent="0" marL="0">
              <a:buNone/>
            </a:pPr>
            <a:r>
              <a:rPr lang="en-US" sz="1050" i="1" dirty="0">
                <a:solidFill>
                  <a:srgbClr val="7A6068"/>
                </a:solidFill>
                <a:latin typeface="Calibri" pitchFamily="34" charset="0"/>
                <a:ea typeface="Calibri" pitchFamily="34" charset="-122"/>
                <a:cs typeface="Calibri" pitchFamily="34" charset="-120"/>
              </a:rPr>
              <a:t>Katie reached 415K in about a year across 369 posts. Nobody can promise you a follower number — but volume, clarity and consistency are the levers she pulled, and they're the ones we'd pull.</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3232" y="420624"/>
            <a:ext cx="10735056" cy="274320"/>
          </a:xfrm>
          <a:prstGeom prst="rect">
            <a:avLst/>
          </a:prstGeom>
          <a:noFill/>
          <a:ln/>
        </p:spPr>
        <p:txBody>
          <a:bodyPr wrap="square" lIns="0" tIns="0" rIns="0" bIns="0" rtlCol="0" anchor="ctr"/>
          <a:lstStyle/>
          <a:p>
            <a:pPr indent="0" marL="0">
              <a:buNone/>
            </a:pPr>
            <a:r>
              <a:rPr lang="en-US" sz="1200" b="1" spc="220" kern="0" dirty="0">
                <a:solidFill>
                  <a:srgbClr val="A26769"/>
                </a:solidFill>
                <a:latin typeface="Calibri" pitchFamily="34" charset="0"/>
                <a:ea typeface="Calibri" pitchFamily="34" charset="-122"/>
                <a:cs typeface="Calibri" pitchFamily="34" charset="-120"/>
              </a:rPr>
              <a:t>YOUR SIDE OF IT</a:t>
            </a:r>
            <a:endParaRPr lang="en-US" sz="1200" dirty="0"/>
          </a:p>
        </p:txBody>
      </p:sp>
      <p:sp>
        <p:nvSpPr>
          <p:cNvPr id="3" name="Text 1"/>
          <p:cNvSpPr/>
          <p:nvPr/>
        </p:nvSpPr>
        <p:spPr>
          <a:xfrm>
            <a:off x="713232" y="768096"/>
            <a:ext cx="10735056" cy="960120"/>
          </a:xfrm>
          <a:prstGeom prst="rect">
            <a:avLst/>
          </a:prstGeom>
          <a:noFill/>
          <a:ln/>
        </p:spPr>
        <p:txBody>
          <a:bodyPr wrap="square" lIns="0" tIns="0" rIns="0" bIns="0" rtlCol="0" anchor="ctr"/>
          <a:lstStyle/>
          <a:p>
            <a:pPr indent="0" marL="0">
              <a:lnSpc>
                <a:spcPts val="4500"/>
              </a:lnSpc>
              <a:buNone/>
            </a:pPr>
            <a:r>
              <a:rPr lang="en-US" sz="3900" b="1" dirty="0">
                <a:solidFill>
                  <a:srgbClr val="2B1620"/>
                </a:solidFill>
                <a:latin typeface="Cambria" pitchFamily="34" charset="0"/>
                <a:ea typeface="Cambria" pitchFamily="34" charset="-122"/>
                <a:cs typeface="Cambria" pitchFamily="34" charset="-120"/>
              </a:rPr>
              <a:t>What I'd need from you</a:t>
            </a:r>
            <a:endParaRPr lang="en-US" sz="3900" dirty="0"/>
          </a:p>
        </p:txBody>
      </p:sp>
      <p:sp>
        <p:nvSpPr>
          <p:cNvPr id="4" name="Text 2"/>
          <p:cNvSpPr/>
          <p:nvPr/>
        </p:nvSpPr>
        <p:spPr>
          <a:xfrm>
            <a:off x="713232" y="1783080"/>
            <a:ext cx="10424160" cy="548640"/>
          </a:xfrm>
          <a:prstGeom prst="rect">
            <a:avLst/>
          </a:prstGeom>
          <a:noFill/>
          <a:ln/>
        </p:spPr>
        <p:txBody>
          <a:bodyPr wrap="square" lIns="0" tIns="0" rIns="0" bIns="0" rtlCol="0" anchor="ctr"/>
          <a:lstStyle/>
          <a:p>
            <a:pPr indent="0" marL="0">
              <a:lnSpc>
                <a:spcPts val="2400"/>
              </a:lnSpc>
              <a:buNone/>
            </a:pPr>
            <a:r>
              <a:rPr lang="en-US" sz="1700" dirty="0">
                <a:solidFill>
                  <a:srgbClr val="7A6068"/>
                </a:solidFill>
                <a:latin typeface="Calibri" pitchFamily="34" charset="0"/>
                <a:ea typeface="Calibri" pitchFamily="34" charset="-122"/>
                <a:cs typeface="Calibri" pitchFamily="34" charset="-120"/>
              </a:rPr>
              <a:t>Deliberately small. You have two children and a business to build — the point of a partner is that you do less, not more.</a:t>
            </a:r>
            <a:endParaRPr lang="en-US" sz="1700" dirty="0"/>
          </a:p>
        </p:txBody>
      </p:sp>
      <p:sp>
        <p:nvSpPr>
          <p:cNvPr id="5" name="Shape 3"/>
          <p:cNvSpPr/>
          <p:nvPr/>
        </p:nvSpPr>
        <p:spPr>
          <a:xfrm>
            <a:off x="713232" y="2606040"/>
            <a:ext cx="502920" cy="502920"/>
          </a:xfrm>
          <a:prstGeom prst="ellipse">
            <a:avLst/>
          </a:prstGeom>
          <a:solidFill>
            <a:srgbClr val="6D2E46"/>
          </a:solidFill>
          <a:ln/>
        </p:spPr>
      </p:sp>
      <p:sp>
        <p:nvSpPr>
          <p:cNvPr id="6" name="Text 4"/>
          <p:cNvSpPr/>
          <p:nvPr/>
        </p:nvSpPr>
        <p:spPr>
          <a:xfrm>
            <a:off x="713232" y="26060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44752" y="2587752"/>
            <a:ext cx="4663440" cy="320040"/>
          </a:xfrm>
          <a:prstGeom prst="rect">
            <a:avLst/>
          </a:prstGeom>
          <a:noFill/>
          <a:ln/>
        </p:spPr>
        <p:txBody>
          <a:bodyPr wrap="square" lIns="0" tIns="0" rIns="0" bIns="0" rtlCol="0" anchor="ctr"/>
          <a:lstStyle/>
          <a:p>
            <a:pPr indent="0" marL="0">
              <a:buNone/>
            </a:pPr>
            <a:r>
              <a:rPr lang="en-US" sz="1700" b="1" dirty="0">
                <a:solidFill>
                  <a:srgbClr val="2B1620"/>
                </a:solidFill>
                <a:latin typeface="Calibri" pitchFamily="34" charset="0"/>
                <a:ea typeface="Calibri" pitchFamily="34" charset="-122"/>
                <a:cs typeface="Calibri" pitchFamily="34" charset="-120"/>
              </a:rPr>
              <a:t>30 minutes of filming a week</a:t>
            </a:r>
            <a:endParaRPr lang="en-US" sz="1700" dirty="0"/>
          </a:p>
        </p:txBody>
      </p:sp>
      <p:sp>
        <p:nvSpPr>
          <p:cNvPr id="8" name="Text 6"/>
          <p:cNvSpPr/>
          <p:nvPr/>
        </p:nvSpPr>
        <p:spPr>
          <a:xfrm>
            <a:off x="1444752" y="2935224"/>
            <a:ext cx="4663440" cy="640080"/>
          </a:xfrm>
          <a:prstGeom prst="rect">
            <a:avLst/>
          </a:prstGeom>
          <a:noFill/>
          <a:ln/>
        </p:spPr>
        <p:txBody>
          <a:bodyPr wrap="square" lIns="0" tIns="0" rIns="0" bIns="0" rtlCol="0" anchor="ctr"/>
          <a:lstStyle/>
          <a:p>
            <a:pPr indent="0" marL="0">
              <a:lnSpc>
                <a:spcPts val="1900"/>
              </a:lnSpc>
              <a:buNone/>
            </a:pPr>
            <a:r>
              <a:rPr lang="en-US" sz="1350" dirty="0">
                <a:solidFill>
                  <a:srgbClr val="7A6068"/>
                </a:solidFill>
                <a:latin typeface="Calibri" pitchFamily="34" charset="0"/>
                <a:ea typeface="Calibri" pitchFamily="34" charset="-122"/>
                <a:cs typeface="Calibri" pitchFamily="34" charset="-120"/>
              </a:rPr>
              <a:t>On your own phone, at home. We send the shot list and the setup.</a:t>
            </a:r>
            <a:endParaRPr lang="en-US" sz="1350" dirty="0"/>
          </a:p>
        </p:txBody>
      </p:sp>
      <p:sp>
        <p:nvSpPr>
          <p:cNvPr id="9" name="Shape 7"/>
          <p:cNvSpPr/>
          <p:nvPr/>
        </p:nvSpPr>
        <p:spPr>
          <a:xfrm>
            <a:off x="6336792" y="2606040"/>
            <a:ext cx="502920" cy="502920"/>
          </a:xfrm>
          <a:prstGeom prst="ellipse">
            <a:avLst/>
          </a:prstGeom>
          <a:solidFill>
            <a:srgbClr val="6D2E46"/>
          </a:solidFill>
          <a:ln/>
        </p:spPr>
      </p:sp>
      <p:sp>
        <p:nvSpPr>
          <p:cNvPr id="10" name="Text 8"/>
          <p:cNvSpPr/>
          <p:nvPr/>
        </p:nvSpPr>
        <p:spPr>
          <a:xfrm>
            <a:off x="6336792" y="26060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7068312" y="2587752"/>
            <a:ext cx="4663440" cy="320040"/>
          </a:xfrm>
          <a:prstGeom prst="rect">
            <a:avLst/>
          </a:prstGeom>
          <a:noFill/>
          <a:ln/>
        </p:spPr>
        <p:txBody>
          <a:bodyPr wrap="square" lIns="0" tIns="0" rIns="0" bIns="0" rtlCol="0" anchor="ctr"/>
          <a:lstStyle/>
          <a:p>
            <a:pPr indent="0" marL="0">
              <a:buNone/>
            </a:pPr>
            <a:r>
              <a:rPr lang="en-US" sz="1700" b="1" dirty="0">
                <a:solidFill>
                  <a:srgbClr val="2B1620"/>
                </a:solidFill>
                <a:latin typeface="Calibri" pitchFamily="34" charset="0"/>
                <a:ea typeface="Calibri" pitchFamily="34" charset="-122"/>
                <a:cs typeface="Calibri" pitchFamily="34" charset="-120"/>
              </a:rPr>
              <a:t>20 minutes a day in your DMs</a:t>
            </a:r>
            <a:endParaRPr lang="en-US" sz="1700" dirty="0"/>
          </a:p>
        </p:txBody>
      </p:sp>
      <p:sp>
        <p:nvSpPr>
          <p:cNvPr id="12" name="Text 10"/>
          <p:cNvSpPr/>
          <p:nvPr/>
        </p:nvSpPr>
        <p:spPr>
          <a:xfrm>
            <a:off x="7068312" y="2935224"/>
            <a:ext cx="4663440" cy="640080"/>
          </a:xfrm>
          <a:prstGeom prst="rect">
            <a:avLst/>
          </a:prstGeom>
          <a:noFill/>
          <a:ln/>
        </p:spPr>
        <p:txBody>
          <a:bodyPr wrap="square" lIns="0" tIns="0" rIns="0" bIns="0" rtlCol="0" anchor="ctr"/>
          <a:lstStyle/>
          <a:p>
            <a:pPr indent="0" marL="0">
              <a:lnSpc>
                <a:spcPts val="1900"/>
              </a:lnSpc>
              <a:buNone/>
            </a:pPr>
            <a:r>
              <a:rPr lang="en-US" sz="1350" dirty="0">
                <a:solidFill>
                  <a:srgbClr val="7A6068"/>
                </a:solidFill>
                <a:latin typeface="Calibri" pitchFamily="34" charset="0"/>
                <a:ea typeface="Calibri" pitchFamily="34" charset="-122"/>
                <a:cs typeface="Calibri" pitchFamily="34" charset="-120"/>
              </a:rPr>
              <a:t>This one can't be outsourced — people are buying you. We'll draft the rest.</a:t>
            </a:r>
            <a:endParaRPr lang="en-US" sz="1350" dirty="0"/>
          </a:p>
        </p:txBody>
      </p:sp>
      <p:sp>
        <p:nvSpPr>
          <p:cNvPr id="13" name="Shape 11"/>
          <p:cNvSpPr/>
          <p:nvPr/>
        </p:nvSpPr>
        <p:spPr>
          <a:xfrm>
            <a:off x="713232" y="3840480"/>
            <a:ext cx="502920" cy="502920"/>
          </a:xfrm>
          <a:prstGeom prst="ellipse">
            <a:avLst/>
          </a:prstGeom>
          <a:solidFill>
            <a:srgbClr val="6D2E46"/>
          </a:solidFill>
          <a:ln/>
        </p:spPr>
      </p:sp>
      <p:sp>
        <p:nvSpPr>
          <p:cNvPr id="14" name="Text 12"/>
          <p:cNvSpPr/>
          <p:nvPr/>
        </p:nvSpPr>
        <p:spPr>
          <a:xfrm>
            <a:off x="713232" y="38404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444752" y="3822192"/>
            <a:ext cx="4663440" cy="320040"/>
          </a:xfrm>
          <a:prstGeom prst="rect">
            <a:avLst/>
          </a:prstGeom>
          <a:noFill/>
          <a:ln/>
        </p:spPr>
        <p:txBody>
          <a:bodyPr wrap="square" lIns="0" tIns="0" rIns="0" bIns="0" rtlCol="0" anchor="ctr"/>
          <a:lstStyle/>
          <a:p>
            <a:pPr indent="0" marL="0">
              <a:buNone/>
            </a:pPr>
            <a:r>
              <a:rPr lang="en-US" sz="1700" b="1" dirty="0">
                <a:solidFill>
                  <a:srgbClr val="2B1620"/>
                </a:solidFill>
                <a:latin typeface="Calibri" pitchFamily="34" charset="0"/>
                <a:ea typeface="Calibri" pitchFamily="34" charset="-122"/>
                <a:cs typeface="Calibri" pitchFamily="34" charset="-120"/>
              </a:rPr>
              <a:t>Willingness to speak on camera</a:t>
            </a:r>
            <a:endParaRPr lang="en-US" sz="1700" dirty="0"/>
          </a:p>
        </p:txBody>
      </p:sp>
      <p:sp>
        <p:nvSpPr>
          <p:cNvPr id="16" name="Text 14"/>
          <p:cNvSpPr/>
          <p:nvPr/>
        </p:nvSpPr>
        <p:spPr>
          <a:xfrm>
            <a:off x="1444752" y="4169664"/>
            <a:ext cx="4663440" cy="640080"/>
          </a:xfrm>
          <a:prstGeom prst="rect">
            <a:avLst/>
          </a:prstGeom>
          <a:noFill/>
          <a:ln/>
        </p:spPr>
        <p:txBody>
          <a:bodyPr wrap="square" lIns="0" tIns="0" rIns="0" bIns="0" rtlCol="0" anchor="ctr"/>
          <a:lstStyle/>
          <a:p>
            <a:pPr indent="0" marL="0">
              <a:lnSpc>
                <a:spcPts val="1900"/>
              </a:lnSpc>
              <a:buNone/>
            </a:pPr>
            <a:r>
              <a:rPr lang="en-US" sz="1350" dirty="0">
                <a:solidFill>
                  <a:srgbClr val="7A6068"/>
                </a:solidFill>
                <a:latin typeface="Calibri" pitchFamily="34" charset="0"/>
                <a:ea typeface="Calibri" pitchFamily="34" charset="-122"/>
                <a:cs typeface="Calibri" pitchFamily="34" charset="-120"/>
              </a:rPr>
              <a:t>In Hinglish, the way you'd talk to a friend. We'll coach you through month one.</a:t>
            </a:r>
            <a:endParaRPr lang="en-US" sz="1350" dirty="0"/>
          </a:p>
        </p:txBody>
      </p:sp>
      <p:sp>
        <p:nvSpPr>
          <p:cNvPr id="17" name="Shape 15"/>
          <p:cNvSpPr/>
          <p:nvPr/>
        </p:nvSpPr>
        <p:spPr>
          <a:xfrm>
            <a:off x="6336792" y="3840480"/>
            <a:ext cx="502920" cy="502920"/>
          </a:xfrm>
          <a:prstGeom prst="ellipse">
            <a:avLst/>
          </a:prstGeom>
          <a:solidFill>
            <a:srgbClr val="6D2E46"/>
          </a:solidFill>
          <a:ln/>
        </p:spPr>
      </p:sp>
      <p:sp>
        <p:nvSpPr>
          <p:cNvPr id="18" name="Text 16"/>
          <p:cNvSpPr/>
          <p:nvPr/>
        </p:nvSpPr>
        <p:spPr>
          <a:xfrm>
            <a:off x="6336792" y="38404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7068312" y="3822192"/>
            <a:ext cx="4663440" cy="320040"/>
          </a:xfrm>
          <a:prstGeom prst="rect">
            <a:avLst/>
          </a:prstGeom>
          <a:noFill/>
          <a:ln/>
        </p:spPr>
        <p:txBody>
          <a:bodyPr wrap="square" lIns="0" tIns="0" rIns="0" bIns="0" rtlCol="0" anchor="ctr"/>
          <a:lstStyle/>
          <a:p>
            <a:pPr indent="0" marL="0">
              <a:buNone/>
            </a:pPr>
            <a:r>
              <a:rPr lang="en-US" sz="1700" b="1" dirty="0">
                <a:solidFill>
                  <a:srgbClr val="2B1620"/>
                </a:solidFill>
                <a:latin typeface="Calibri" pitchFamily="34" charset="0"/>
                <a:ea typeface="Calibri" pitchFamily="34" charset="-122"/>
                <a:cs typeface="Calibri" pitchFamily="34" charset="-120"/>
              </a:rPr>
              <a:t>Permission to be mid-journey</a:t>
            </a:r>
            <a:endParaRPr lang="en-US" sz="1700" dirty="0"/>
          </a:p>
        </p:txBody>
      </p:sp>
      <p:sp>
        <p:nvSpPr>
          <p:cNvPr id="20" name="Text 18"/>
          <p:cNvSpPr/>
          <p:nvPr/>
        </p:nvSpPr>
        <p:spPr>
          <a:xfrm>
            <a:off x="7068312" y="4169664"/>
            <a:ext cx="4663440" cy="640080"/>
          </a:xfrm>
          <a:prstGeom prst="rect">
            <a:avLst/>
          </a:prstGeom>
          <a:noFill/>
          <a:ln/>
        </p:spPr>
        <p:txBody>
          <a:bodyPr wrap="square" lIns="0" tIns="0" rIns="0" bIns="0" rtlCol="0" anchor="ctr"/>
          <a:lstStyle/>
          <a:p>
            <a:pPr indent="0" marL="0">
              <a:lnSpc>
                <a:spcPts val="1900"/>
              </a:lnSpc>
              <a:buNone/>
            </a:pPr>
            <a:r>
              <a:rPr lang="en-US" sz="1350" dirty="0">
                <a:solidFill>
                  <a:srgbClr val="7A6068"/>
                </a:solidFill>
                <a:latin typeface="Calibri" pitchFamily="34" charset="0"/>
                <a:ea typeface="Calibri" pitchFamily="34" charset="-122"/>
                <a:cs typeface="Calibri" pitchFamily="34" charset="-120"/>
              </a:rPr>
              <a:t>You don't have to have arrived. Katie's power comes from still being on the way.</a:t>
            </a:r>
            <a:endParaRPr lang="en-US" sz="1350" dirty="0"/>
          </a:p>
        </p:txBody>
      </p:sp>
      <p:sp>
        <p:nvSpPr>
          <p:cNvPr id="21" name="Shape 19"/>
          <p:cNvSpPr/>
          <p:nvPr/>
        </p:nvSpPr>
        <p:spPr>
          <a:xfrm>
            <a:off x="713232" y="5257800"/>
            <a:ext cx="10735056" cy="1005840"/>
          </a:xfrm>
          <a:prstGeom prst="roundRect">
            <a:avLst>
              <a:gd name="adj" fmla="val 12727"/>
            </a:avLst>
          </a:prstGeom>
          <a:solidFill>
            <a:srgbClr val="6D2E46"/>
          </a:solidFill>
          <a:ln/>
        </p:spPr>
      </p:sp>
      <p:sp>
        <p:nvSpPr>
          <p:cNvPr id="22" name="Text 20"/>
          <p:cNvSpPr/>
          <p:nvPr/>
        </p:nvSpPr>
        <p:spPr>
          <a:xfrm>
            <a:off x="1170432" y="5257800"/>
            <a:ext cx="9820656" cy="1005840"/>
          </a:xfrm>
          <a:prstGeom prst="rect">
            <a:avLst/>
          </a:prstGeom>
          <a:noFill/>
          <a:ln/>
        </p:spPr>
        <p:txBody>
          <a:bodyPr wrap="square" lIns="0" tIns="0" rIns="0" bIns="0" rtlCol="0" anchor="ctr"/>
          <a:lstStyle/>
          <a:p>
            <a:pPr indent="0" marL="0">
              <a:lnSpc>
                <a:spcPts val="2500"/>
              </a:lnSpc>
              <a:buNone/>
            </a:pPr>
            <a:r>
              <a:rPr lang="en-US" sz="1800" dirty="0">
                <a:solidFill>
                  <a:srgbClr val="FFFFFF"/>
                </a:solidFill>
                <a:latin typeface="Calibri" pitchFamily="34" charset="0"/>
                <a:ea typeface="Calibri" pitchFamily="34" charset="-122"/>
                <a:cs typeface="Calibri" pitchFamily="34" charset="-120"/>
              </a:rPr>
              <a:t>Everything else — shooting, editing, captions, covers, posting, YouTube, the list, the numbers — is mine to carry.</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3D1B2E"/>
        </a:solidFill>
      </p:bgPr>
    </p:bg>
    <p:spTree>
      <p:nvGrpSpPr>
        <p:cNvPr id="1" name=""/>
        <p:cNvGrpSpPr/>
        <p:nvPr/>
      </p:nvGrpSpPr>
      <p:grpSpPr>
        <a:xfrm>
          <a:off x="0" y="0"/>
          <a:ext cx="0" cy="0"/>
          <a:chOff x="0" y="0"/>
          <a:chExt cx="0" cy="0"/>
        </a:xfrm>
      </p:grpSpPr>
      <p:sp>
        <p:nvSpPr>
          <p:cNvPr id="2" name="Shape 0"/>
          <p:cNvSpPr/>
          <p:nvPr/>
        </p:nvSpPr>
        <p:spPr>
          <a:xfrm>
            <a:off x="-2651760" y="5486400"/>
            <a:ext cx="3840480" cy="3840480"/>
          </a:xfrm>
          <a:prstGeom prst="ellipse">
            <a:avLst/>
          </a:prstGeom>
          <a:solidFill>
            <a:srgbClr val="6D2E46"/>
          </a:solidFill>
          <a:ln/>
        </p:spPr>
      </p:sp>
      <p:sp>
        <p:nvSpPr>
          <p:cNvPr id="3" name="Shape 1"/>
          <p:cNvSpPr/>
          <p:nvPr/>
        </p:nvSpPr>
        <p:spPr>
          <a:xfrm>
            <a:off x="10241280" y="-1371600"/>
            <a:ext cx="3657600" cy="3657600"/>
          </a:xfrm>
          <a:prstGeom prst="ellipse">
            <a:avLst/>
          </a:prstGeom>
          <a:solidFill>
            <a:srgbClr val="A26769"/>
          </a:solidFill>
          <a:ln/>
        </p:spPr>
      </p:sp>
      <p:pic>
        <p:nvPicPr>
          <p:cNvPr id="4" name="Image 0" descr="/home/user/Assets/clients/juhi-agarwal-nexther/logo/logo-on-dark.png">    </p:cNvPr>
          <p:cNvPicPr>
            <a:picLocks noChangeAspect="1"/>
          </p:cNvPicPr>
          <p:nvPr/>
        </p:nvPicPr>
        <p:blipFill>
          <a:blip r:embed="rId1"/>
          <a:stretch>
            <a:fillRect/>
          </a:stretch>
        </p:blipFill>
        <p:spPr>
          <a:xfrm>
            <a:off x="713232" y="512064"/>
            <a:ext cx="2743200" cy="649224"/>
          </a:xfrm>
          <a:prstGeom prst="rect">
            <a:avLst/>
          </a:prstGeom>
        </p:spPr>
      </p:pic>
      <p:sp>
        <p:nvSpPr>
          <p:cNvPr id="5" name="Text 2"/>
          <p:cNvSpPr/>
          <p:nvPr/>
        </p:nvSpPr>
        <p:spPr>
          <a:xfrm>
            <a:off x="713232" y="1828800"/>
            <a:ext cx="822960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You're closer than you think</a:t>
            </a:r>
            <a:endParaRPr lang="en-US" sz="4000" dirty="0"/>
          </a:p>
        </p:txBody>
      </p:sp>
      <p:sp>
        <p:nvSpPr>
          <p:cNvPr id="6" name="Text 3"/>
          <p:cNvSpPr/>
          <p:nvPr/>
        </p:nvSpPr>
        <p:spPr>
          <a:xfrm>
            <a:off x="713232" y="2651760"/>
            <a:ext cx="7955280" cy="731520"/>
          </a:xfrm>
          <a:prstGeom prst="rect">
            <a:avLst/>
          </a:prstGeom>
          <a:noFill/>
          <a:ln/>
        </p:spPr>
        <p:txBody>
          <a:bodyPr wrap="square" lIns="0" tIns="0" rIns="0" bIns="0" rtlCol="0" anchor="ctr"/>
          <a:lstStyle/>
          <a:p>
            <a:pPr indent="0" marL="0">
              <a:lnSpc>
                <a:spcPts val="2800"/>
              </a:lnSpc>
              <a:buNone/>
            </a:pPr>
            <a:r>
              <a:rPr lang="en-US" sz="1700" dirty="0">
                <a:solidFill>
                  <a:srgbClr val="C9AEB8"/>
                </a:solidFill>
                <a:latin typeface="Calibri" pitchFamily="34" charset="0"/>
                <a:ea typeface="Calibri" pitchFamily="34" charset="-122"/>
                <a:cs typeface="Calibri" pitchFamily="34" charset="-120"/>
              </a:rPr>
              <a:t>You have the hard parts already — the story, the instinct, the discipline to keep posting, and you're living the exact life your audience is living.</a:t>
            </a:r>
            <a:endParaRPr lang="en-US" sz="1700" dirty="0"/>
          </a:p>
        </p:txBody>
      </p:sp>
      <p:sp>
        <p:nvSpPr>
          <p:cNvPr id="7" name="Text 4"/>
          <p:cNvSpPr/>
          <p:nvPr/>
        </p:nvSpPr>
        <p:spPr>
          <a:xfrm>
            <a:off x="713232" y="3429000"/>
            <a:ext cx="7955280" cy="411480"/>
          </a:xfrm>
          <a:prstGeom prst="rect">
            <a:avLst/>
          </a:prstGeom>
          <a:noFill/>
          <a:ln/>
        </p:spPr>
        <p:txBody>
          <a:bodyPr wrap="square" lIns="0" tIns="0" rIns="0" bIns="0" rtlCol="0" anchor="ctr"/>
          <a:lstStyle/>
          <a:p>
            <a:pPr indent="0" marL="0">
              <a:buNone/>
            </a:pPr>
            <a:r>
              <a:rPr lang="en-US" sz="1700" dirty="0">
                <a:solidFill>
                  <a:srgbClr val="C9AEB8"/>
                </a:solidFill>
                <a:latin typeface="Calibri" pitchFamily="34" charset="0"/>
                <a:ea typeface="Calibri" pitchFamily="34" charset="-122"/>
                <a:cs typeface="Calibri" pitchFamily="34" charset="-120"/>
              </a:rPr>
              <a:t>You've written the line. You've told your followers something is coming.</a:t>
            </a:r>
            <a:endParaRPr lang="en-US" sz="1700" dirty="0"/>
          </a:p>
        </p:txBody>
      </p:sp>
      <p:sp>
        <p:nvSpPr>
          <p:cNvPr id="8" name="Text 5"/>
          <p:cNvSpPr/>
          <p:nvPr/>
        </p:nvSpPr>
        <p:spPr>
          <a:xfrm>
            <a:off x="713232" y="3931920"/>
            <a:ext cx="7955280" cy="822960"/>
          </a:xfrm>
          <a:prstGeom prst="rect">
            <a:avLst/>
          </a:prstGeom>
          <a:noFill/>
          <a:ln/>
        </p:spPr>
        <p:txBody>
          <a:bodyPr wrap="square" lIns="0" tIns="0" rIns="0" bIns="0" rtlCol="0" anchor="ctr"/>
          <a:lstStyle/>
          <a:p>
            <a:pPr indent="0" marL="0">
              <a:lnSpc>
                <a:spcPts val="2800"/>
              </a:lnSpc>
              <a:buNone/>
            </a:pPr>
            <a:r>
              <a:rPr lang="en-US" sz="1700" dirty="0">
                <a:solidFill>
                  <a:srgbClr val="C9AEB8"/>
                </a:solidFill>
                <a:latin typeface="Calibri" pitchFamily="34" charset="0"/>
                <a:ea typeface="Calibri" pitchFamily="34" charset="-122"/>
                <a:cs typeface="Calibri" pitchFamily="34" charset="-120"/>
              </a:rPr>
              <a:t>What's missing is </a:t>
            </a:r>
            <a:pPr indent="0" marL="0">
              <a:lnSpc>
                <a:spcPts val="2800"/>
              </a:lnSpc>
              <a:buNone/>
            </a:pPr>
            <a:r>
              <a:rPr lang="en-US" sz="1700" b="1" dirty="0">
                <a:solidFill>
                  <a:srgbClr val="FFFFFF"/>
                </a:solidFill>
                <a:latin typeface="Calibri" pitchFamily="34" charset="0"/>
                <a:ea typeface="Calibri" pitchFamily="34" charset="-122"/>
                <a:cs typeface="Calibri" pitchFamily="34" charset="-120"/>
              </a:rPr>
              <a:t>one decision</a:t>
            </a:r>
            <a:pPr indent="0" marL="0">
              <a:lnSpc>
                <a:spcPts val="2800"/>
              </a:lnSpc>
              <a:buNone/>
            </a:pPr>
            <a:r>
              <a:rPr lang="en-US" sz="1700" dirty="0">
                <a:solidFill>
                  <a:srgbClr val="C9AEB8"/>
                </a:solidFill>
                <a:latin typeface="Calibri" pitchFamily="34" charset="0"/>
                <a:ea typeface="Calibri" pitchFamily="34" charset="-122"/>
                <a:cs typeface="Calibri" pitchFamily="34" charset="-120"/>
              </a:rPr>
              <a:t>, and someone to carry the weight of making it real every week — so you can go back to being the coach instead of the editor.</a:t>
            </a:r>
            <a:endParaRPr lang="en-US" sz="1700" dirty="0"/>
          </a:p>
        </p:txBody>
      </p:sp>
      <p:sp>
        <p:nvSpPr>
          <p:cNvPr id="9" name="Text 6"/>
          <p:cNvSpPr/>
          <p:nvPr/>
        </p:nvSpPr>
        <p:spPr>
          <a:xfrm>
            <a:off x="713232" y="4983480"/>
            <a:ext cx="8229600"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That second part is what we do.</a:t>
            </a:r>
            <a:endParaRPr lang="en-US" sz="2700" dirty="0"/>
          </a:p>
        </p:txBody>
      </p:sp>
      <p:sp>
        <p:nvSpPr>
          <p:cNvPr id="10" name="Text 7"/>
          <p:cNvSpPr/>
          <p:nvPr/>
        </p:nvSpPr>
        <p:spPr>
          <a:xfrm>
            <a:off x="713232" y="5760720"/>
            <a:ext cx="4206240" cy="274320"/>
          </a:xfrm>
          <a:prstGeom prst="rect">
            <a:avLst/>
          </a:prstGeom>
          <a:noFill/>
          <a:ln/>
        </p:spPr>
        <p:txBody>
          <a:bodyPr wrap="square" lIns="0" tIns="0" rIns="0" bIns="0" rtlCol="0" anchor="ctr"/>
          <a:lstStyle/>
          <a:p>
            <a:pPr indent="0" marL="0">
              <a:buNone/>
            </a:pPr>
            <a:r>
              <a:rPr lang="en-US" sz="1450" dirty="0">
                <a:solidFill>
                  <a:srgbClr val="C9AEB8"/>
                </a:solidFill>
                <a:latin typeface="Calibri" pitchFamily="34" charset="0"/>
                <a:ea typeface="Calibri" pitchFamily="34" charset="-122"/>
                <a:cs typeface="Calibri" pitchFamily="34" charset="-120"/>
              </a:rPr>
              <a:t>Kiran  ·  Production X Creative Studio</a:t>
            </a:r>
            <a:endParaRPr lang="en-US" sz="1450" dirty="0"/>
          </a:p>
        </p:txBody>
      </p:sp>
      <p:sp>
        <p:nvSpPr>
          <p:cNvPr id="11" name="Text 8"/>
          <p:cNvSpPr/>
          <p:nvPr/>
        </p:nvSpPr>
        <p:spPr>
          <a:xfrm>
            <a:off x="5029200" y="5760720"/>
            <a:ext cx="2651760" cy="274320"/>
          </a:xfrm>
          <a:prstGeom prst="rect">
            <a:avLst/>
          </a:prstGeom>
          <a:noFill/>
          <a:ln/>
        </p:spPr>
        <p:txBody>
          <a:bodyPr wrap="square" lIns="0" tIns="0" rIns="0" bIns="0" rtlCol="0" anchor="ctr"/>
          <a:lstStyle/>
          <a:p>
            <a:pPr indent="0" marL="0">
              <a:buNone/>
            </a:pPr>
            <a:r>
              <a:rPr lang="en-US" sz="1450" dirty="0">
                <a:solidFill>
                  <a:srgbClr val="D9A441"/>
                </a:solidFill>
                <a:latin typeface="Calibri" pitchFamily="34" charset="0"/>
                <a:ea typeface="Calibri" pitchFamily="34" charset="-122"/>
                <a:cs typeface="Calibri" pitchFamily="34" charset="-120"/>
              </a:rPr>
              <a:t>kiran@productionx.in</a:t>
            </a:r>
            <a:endParaRPr lang="en-US" sz="1450" dirty="0"/>
          </a:p>
        </p:txBody>
      </p:sp>
      <p:sp>
        <p:nvSpPr>
          <p:cNvPr id="12" name="Text 9"/>
          <p:cNvSpPr/>
          <p:nvPr/>
        </p:nvSpPr>
        <p:spPr>
          <a:xfrm>
            <a:off x="7863840" y="5760720"/>
            <a:ext cx="2560320" cy="274320"/>
          </a:xfrm>
          <a:prstGeom prst="rect">
            <a:avLst/>
          </a:prstGeom>
          <a:noFill/>
          <a:ln/>
        </p:spPr>
        <p:txBody>
          <a:bodyPr wrap="square" lIns="0" tIns="0" rIns="0" bIns="0" rtlCol="0" anchor="ctr"/>
          <a:lstStyle/>
          <a:p>
            <a:pPr indent="0" marL="0">
              <a:buNone/>
            </a:pPr>
            <a:r>
              <a:rPr lang="en-US" sz="1450" dirty="0">
                <a:solidFill>
                  <a:srgbClr val="D9A441"/>
                </a:solidFill>
                <a:latin typeface="Calibri" pitchFamily="34" charset="0"/>
                <a:ea typeface="Calibri" pitchFamily="34" charset="-122"/>
                <a:cs typeface="Calibri" pitchFamily="34" charset="-120"/>
              </a:rPr>
              <a:t>+91 93919 26846</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neXtHer — What I Found</dc:title>
  <dc:subject>PptxGenJS Presentation</dc:subject>
  <dc:creator>Production X Creative Studio</dc:creator>
  <cp:lastModifiedBy>Production X Creative Studio</cp:lastModifiedBy>
  <cp:revision>1</cp:revision>
  <dcterms:created xsi:type="dcterms:W3CDTF">2026-08-09T03:27:42Z</dcterms:created>
  <dcterms:modified xsi:type="dcterms:W3CDTF">2026-08-09T03:27:42Z</dcterms:modified>
</cp:coreProperties>
</file>